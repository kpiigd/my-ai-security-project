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5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6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7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803499488456f" /><Relationship Type="http://schemas.openxmlformats.org/officeDocument/2006/relationships/extended-properties" Target="/docProps/app.xml" Id="Ra55c4efb8a4f452f" /><Relationship Type="http://schemas.openxmlformats.org/officeDocument/2006/relationships/officeDocument" Target="/ppt/presentation.xml" Id="R7efc9926d1d04c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0dfb15ebe4818"/>
  </p:sldMasterIdLst>
  <p:notesMasterIdLst>
    <p:notesMasterId xmlns:r="http://schemas.openxmlformats.org/officeDocument/2006/relationships" r:id="R49ba0c8496e0404b"/>
  </p:notesMasterIdLst>
  <p:sldIdLst>
    <p:sldId xmlns:r="http://schemas.openxmlformats.org/officeDocument/2006/relationships" id="256" r:id="R36ba26d12f7441e3"/>
    <p:sldId xmlns:r="http://schemas.openxmlformats.org/officeDocument/2006/relationships" id="257" r:id="Rf1fd1e14111944a4"/>
    <p:sldId xmlns:r="http://schemas.openxmlformats.org/officeDocument/2006/relationships" id="258" r:id="R51b103178fcb4bb3"/>
    <p:sldId xmlns:r="http://schemas.openxmlformats.org/officeDocument/2006/relationships" id="259" r:id="R747eaf1284df4add"/>
    <p:sldId xmlns:r="http://schemas.openxmlformats.org/officeDocument/2006/relationships" id="260" r:id="R2da316e20fa24214"/>
    <p:sldId xmlns:r="http://schemas.openxmlformats.org/officeDocument/2006/relationships" id="261" r:id="R93ef4e867e824837"/>
    <p:sldId xmlns:r="http://schemas.openxmlformats.org/officeDocument/2006/relationships" id="262" r:id="R96a9900246874c7e"/>
    <p:sldId xmlns:r="http://schemas.openxmlformats.org/officeDocument/2006/relationships" id="263" r:id="R79ad285040444075"/>
    <p:sldId xmlns:r="http://schemas.openxmlformats.org/officeDocument/2006/relationships" id="264" r:id="R189142941d8d4f85"/>
    <p:sldId xmlns:r="http://schemas.openxmlformats.org/officeDocument/2006/relationships" id="265" r:id="Rbe80d1cfa2ea46d9"/>
    <p:sldId xmlns:r="http://schemas.openxmlformats.org/officeDocument/2006/relationships" id="266" r:id="Re24a0f9dc9234b20"/>
    <p:sldId xmlns:r="http://schemas.openxmlformats.org/officeDocument/2006/relationships" id="267" r:id="Rbfbdb0ba8fe64565"/>
    <p:sldId xmlns:r="http://schemas.openxmlformats.org/officeDocument/2006/relationships" id="268" r:id="R7d1dc81b9c60404a"/>
    <p:sldId xmlns:r="http://schemas.openxmlformats.org/officeDocument/2006/relationships" id="269" r:id="Rb7c14a4163354547"/>
    <p:sldId xmlns:r="http://schemas.openxmlformats.org/officeDocument/2006/relationships" id="270" r:id="R4e67e5b983694376"/>
    <p:sldId xmlns:r="http://schemas.openxmlformats.org/officeDocument/2006/relationships" id="271" r:id="Rb0f4cdc7709042ec"/>
    <p:sldId xmlns:r="http://schemas.openxmlformats.org/officeDocument/2006/relationships" id="272" r:id="R992add1034644bbf"/>
    <p:sldId xmlns:r="http://schemas.openxmlformats.org/officeDocument/2006/relationships" id="273" r:id="R0a298e0b402c4859"/>
    <p:sldId xmlns:r="http://schemas.openxmlformats.org/officeDocument/2006/relationships" id="274" r:id="R4aa65b26f0814538"/>
    <p:sldId xmlns:r="http://schemas.openxmlformats.org/officeDocument/2006/relationships" id="275" r:id="R19de0af40e384a71"/>
    <p:sldId xmlns:r="http://schemas.openxmlformats.org/officeDocument/2006/relationships" id="276" r:id="Rc3bd8b1ccddc4a1c"/>
    <p:sldId xmlns:r="http://schemas.openxmlformats.org/officeDocument/2006/relationships" id="277" r:id="R173eaa48110c490f"/>
    <p:sldId xmlns:r="http://schemas.openxmlformats.org/officeDocument/2006/relationships" id="278" r:id="Rda24718c71054613"/>
    <p:sldId xmlns:r="http://schemas.openxmlformats.org/officeDocument/2006/relationships" id="279" r:id="R3bb0845a0b6f4b8f"/>
    <p:sldId xmlns:r="http://schemas.openxmlformats.org/officeDocument/2006/relationships" id="280" r:id="R3bacae8d6adb4f56"/>
    <p:sldId xmlns:r="http://schemas.openxmlformats.org/officeDocument/2006/relationships" id="281" r:id="R98876dee7e8c45bc"/>
    <p:sldId xmlns:r="http://schemas.openxmlformats.org/officeDocument/2006/relationships" id="282" r:id="Ra0bf46acbf144307"/>
    <p:sldId xmlns:r="http://schemas.openxmlformats.org/officeDocument/2006/relationships" id="283" r:id="Rb0d285062d0c4b04"/>
    <p:sldId xmlns:r="http://schemas.openxmlformats.org/officeDocument/2006/relationships" id="284" r:id="Rb3789c37af504734"/>
    <p:sldId xmlns:r="http://schemas.openxmlformats.org/officeDocument/2006/relationships" id="285" r:id="Rb444ed4e83cc4004"/>
    <p:sldId xmlns:r="http://schemas.openxmlformats.org/officeDocument/2006/relationships" id="286" r:id="R696cc1f50f864899"/>
    <p:sldId xmlns:r="http://schemas.openxmlformats.org/officeDocument/2006/relationships" id="287" r:id="R65f7566048384dde"/>
    <p:sldId xmlns:r="http://schemas.openxmlformats.org/officeDocument/2006/relationships" id="288" r:id="Rbef4229cec6e48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0dfb15ebe4818" /><Relationship Type="http://schemas.openxmlformats.org/officeDocument/2006/relationships/theme" Target="/ppt/theme/theme1.xml" Id="R53969d141c884ca8" /><Relationship Type="http://schemas.openxmlformats.org/officeDocument/2006/relationships/notesMaster" Target="/ppt/notesMasters/notesMaster1.xml" Id="R49ba0c8496e0404b" /><Relationship Type="http://schemas.openxmlformats.org/officeDocument/2006/relationships/presProps" Target="/ppt/presProps.xml" Id="R79e4f8919e57434a" /><Relationship Type="http://schemas.openxmlformats.org/officeDocument/2006/relationships/viewProps" Target="/ppt/viewProps.xml" Id="Rd3602453367746f9" /><Relationship Type="http://schemas.openxmlformats.org/officeDocument/2006/relationships/tableStyles" Target="/ppt/tableStyles.xml" Id="R4360cb6c6f7240c7" /><Relationship Type="http://schemas.openxmlformats.org/officeDocument/2006/relationships/slide" Target="/ppt/slides/slide1.xml" Id="R36ba26d12f7441e3" /><Relationship Type="http://schemas.openxmlformats.org/officeDocument/2006/relationships/slide" Target="/ppt/slides/slide2.xml" Id="Rf1fd1e14111944a4" /><Relationship Type="http://schemas.openxmlformats.org/officeDocument/2006/relationships/slide" Target="/ppt/slides/slide3.xml" Id="R51b103178fcb4bb3" /><Relationship Type="http://schemas.openxmlformats.org/officeDocument/2006/relationships/slide" Target="/ppt/slides/slide4.xml" Id="R747eaf1284df4add" /><Relationship Type="http://schemas.openxmlformats.org/officeDocument/2006/relationships/slide" Target="/ppt/slides/slide5.xml" Id="R2da316e20fa24214" /><Relationship Type="http://schemas.openxmlformats.org/officeDocument/2006/relationships/slide" Target="/ppt/slides/slide6.xml" Id="R93ef4e867e824837" /><Relationship Type="http://schemas.openxmlformats.org/officeDocument/2006/relationships/slide" Target="/ppt/slides/slide7.xml" Id="R96a9900246874c7e" /><Relationship Type="http://schemas.openxmlformats.org/officeDocument/2006/relationships/slide" Target="/ppt/slides/slide8.xml" Id="R79ad285040444075" /><Relationship Type="http://schemas.openxmlformats.org/officeDocument/2006/relationships/slide" Target="/ppt/slides/slide9.xml" Id="R189142941d8d4f85" /><Relationship Type="http://schemas.openxmlformats.org/officeDocument/2006/relationships/slide" Target="/ppt/slides/slide10.xml" Id="Rbe80d1cfa2ea46d9" /><Relationship Type="http://schemas.openxmlformats.org/officeDocument/2006/relationships/slide" Target="/ppt/slides/slide11.xml" Id="Re24a0f9dc9234b20" /><Relationship Type="http://schemas.openxmlformats.org/officeDocument/2006/relationships/slide" Target="/ppt/slides/slide12.xml" Id="Rbfbdb0ba8fe64565" /><Relationship Type="http://schemas.openxmlformats.org/officeDocument/2006/relationships/slide" Target="/ppt/slides/slide13.xml" Id="R7d1dc81b9c60404a" /><Relationship Type="http://schemas.openxmlformats.org/officeDocument/2006/relationships/slide" Target="/ppt/slides/slide14.xml" Id="Rb7c14a4163354547" /><Relationship Type="http://schemas.openxmlformats.org/officeDocument/2006/relationships/slide" Target="/ppt/slides/slide15.xml" Id="R4e67e5b983694376" /><Relationship Type="http://schemas.openxmlformats.org/officeDocument/2006/relationships/slide" Target="/ppt/slides/slide16.xml" Id="Rb0f4cdc7709042ec" /><Relationship Type="http://schemas.openxmlformats.org/officeDocument/2006/relationships/slide" Target="/ppt/slides/slide17.xml" Id="R992add1034644bbf" /><Relationship Type="http://schemas.openxmlformats.org/officeDocument/2006/relationships/slide" Target="/ppt/slides/slide18.xml" Id="R0a298e0b402c4859" /><Relationship Type="http://schemas.openxmlformats.org/officeDocument/2006/relationships/slide" Target="/ppt/slides/slide19.xml" Id="R4aa65b26f0814538" /><Relationship Type="http://schemas.openxmlformats.org/officeDocument/2006/relationships/slide" Target="/ppt/slides/slide20.xml" Id="R19de0af40e384a71" /><Relationship Type="http://schemas.openxmlformats.org/officeDocument/2006/relationships/slide" Target="/ppt/slides/slide21.xml" Id="Rc3bd8b1ccddc4a1c" /><Relationship Type="http://schemas.openxmlformats.org/officeDocument/2006/relationships/slide" Target="/ppt/slides/slide22.xml" Id="R173eaa48110c490f" /><Relationship Type="http://schemas.openxmlformats.org/officeDocument/2006/relationships/slide" Target="/ppt/slides/slide23.xml" Id="Rda24718c71054613" /><Relationship Type="http://schemas.openxmlformats.org/officeDocument/2006/relationships/slide" Target="/ppt/slides/slide24.xml" Id="R3bb0845a0b6f4b8f" /><Relationship Type="http://schemas.openxmlformats.org/officeDocument/2006/relationships/slide" Target="/ppt/slides/slide25.xml" Id="R3bacae8d6adb4f56" /><Relationship Type="http://schemas.openxmlformats.org/officeDocument/2006/relationships/slide" Target="/ppt/slides/slide26.xml" Id="R98876dee7e8c45bc" /><Relationship Type="http://schemas.openxmlformats.org/officeDocument/2006/relationships/slide" Target="/ppt/slides/slide27.xml" Id="Ra0bf46acbf144307" /><Relationship Type="http://schemas.openxmlformats.org/officeDocument/2006/relationships/slide" Target="/ppt/slides/slide28.xml" Id="Rb0d285062d0c4b04" /><Relationship Type="http://schemas.openxmlformats.org/officeDocument/2006/relationships/slide" Target="/ppt/slides/slide29.xml" Id="Rb3789c37af504734" /><Relationship Type="http://schemas.openxmlformats.org/officeDocument/2006/relationships/slide" Target="/ppt/slides/slide30.xml" Id="Rb444ed4e83cc4004" /><Relationship Type="http://schemas.openxmlformats.org/officeDocument/2006/relationships/slide" Target="/ppt/slides/slide31.xml" Id="R696cc1f50f864899" /><Relationship Type="http://schemas.openxmlformats.org/officeDocument/2006/relationships/slide" Target="/ppt/slides/slide32.xml" Id="R65f7566048384dde" /><Relationship Type="http://schemas.openxmlformats.org/officeDocument/2006/relationships/slide" Target="/ppt/slides/slide33.xml" Id="Rbef4229cec6e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668c7dc1aa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e052e945f4fa8" /><Relationship Type="http://schemas.openxmlformats.org/officeDocument/2006/relationships/notesMaster" Target="/ppt/notesMasters/notesMaster1.xml" Id="Rd33c76c5f0b5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81d04e7f3d4320" /><Relationship Type="http://schemas.openxmlformats.org/officeDocument/2006/relationships/notesMaster" Target="/ppt/notesMasters/notesMaster1.xml" Id="Rd74466aa83af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36a2e93f4748d4" /><Relationship Type="http://schemas.openxmlformats.org/officeDocument/2006/relationships/notesMaster" Target="/ppt/notesMasters/notesMaster1.xml" Id="R5a93d1e6044a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fb7dc1ab994fd9" /><Relationship Type="http://schemas.openxmlformats.org/officeDocument/2006/relationships/notesMaster" Target="/ppt/notesMasters/notesMaster1.xml" Id="Raca6e70349504c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3adb6312ce4be3" /><Relationship Type="http://schemas.openxmlformats.org/officeDocument/2006/relationships/notesMaster" Target="/ppt/notesMasters/notesMaster1.xml" Id="R021e0aa02f154c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47a98036d3433b" /><Relationship Type="http://schemas.openxmlformats.org/officeDocument/2006/relationships/notesMaster" Target="/ppt/notesMasters/notesMaster1.xml" Id="Rfba91c35b4b8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3d9f8ff1914a4c" /><Relationship Type="http://schemas.openxmlformats.org/officeDocument/2006/relationships/notesMaster" Target="/ppt/notesMasters/notesMaster1.xml" Id="R160071c057e84d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9fe6eb88f842fe" /><Relationship Type="http://schemas.openxmlformats.org/officeDocument/2006/relationships/notesMaster" Target="/ppt/notesMasters/notesMaster1.xml" Id="R44b1465c362a4c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04d332ac947f6" /><Relationship Type="http://schemas.openxmlformats.org/officeDocument/2006/relationships/notesMaster" Target="/ppt/notesMasters/notesMaster1.xml" Id="R5f27dcb8a37943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ea103e21e418c" /><Relationship Type="http://schemas.openxmlformats.org/officeDocument/2006/relationships/notesMaster" Target="/ppt/notesMasters/notesMaster1.xml" Id="Rc62afb5a78dc40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c4398c9214309" /><Relationship Type="http://schemas.openxmlformats.org/officeDocument/2006/relationships/notesMaster" Target="/ppt/notesMasters/notesMaster1.xml" Id="R1a7a39a3cd0748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803427d27f4249" /><Relationship Type="http://schemas.openxmlformats.org/officeDocument/2006/relationships/notesMaster" Target="/ppt/notesMasters/notesMaster1.xml" Id="R3296d2aa47e243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0a1b270aec4fb5" /><Relationship Type="http://schemas.openxmlformats.org/officeDocument/2006/relationships/notesMaster" Target="/ppt/notesMasters/notesMaster1.xml" Id="R64cf7b125b5b45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15a5296ae04c23" /><Relationship Type="http://schemas.openxmlformats.org/officeDocument/2006/relationships/notesMaster" Target="/ppt/notesMasters/notesMaster1.xml" Id="R0fbb6c236e024a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f4501311e14c05" /><Relationship Type="http://schemas.openxmlformats.org/officeDocument/2006/relationships/notesMaster" Target="/ppt/notesMasters/notesMaster1.xml" Id="Rd5ce2e4f170048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ee8e18db5d49a1" /><Relationship Type="http://schemas.openxmlformats.org/officeDocument/2006/relationships/notesMaster" Target="/ppt/notesMasters/notesMaster1.xml" Id="R20908cb6bc514f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971c21b87a414a" /><Relationship Type="http://schemas.openxmlformats.org/officeDocument/2006/relationships/notesMaster" Target="/ppt/notesMasters/notesMaster1.xml" Id="Rc85079fa4bec4f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73dd9054634a53" /><Relationship Type="http://schemas.openxmlformats.org/officeDocument/2006/relationships/notesMaster" Target="/ppt/notesMasters/notesMaster1.xml" Id="R7546e6d5befb4a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baa48ab92f4b60" /><Relationship Type="http://schemas.openxmlformats.org/officeDocument/2006/relationships/notesMaster" Target="/ppt/notesMasters/notesMaster1.xml" Id="Rb6de88a8408a47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bc0c1a46644532" /><Relationship Type="http://schemas.openxmlformats.org/officeDocument/2006/relationships/notesMaster" Target="/ppt/notesMasters/notesMaster1.xml" Id="R65974acedc6b46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373a5228124b3e" /><Relationship Type="http://schemas.openxmlformats.org/officeDocument/2006/relationships/notesMaster" Target="/ppt/notesMasters/notesMaster1.xml" Id="R503b6407d83d44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c2d5748827b4d39" /><Relationship Type="http://schemas.openxmlformats.org/officeDocument/2006/relationships/notesMaster" Target="/ppt/notesMasters/notesMaster1.xml" Id="R61143955254b46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b11dad35f2460e" /><Relationship Type="http://schemas.openxmlformats.org/officeDocument/2006/relationships/notesMaster" Target="/ppt/notesMasters/notesMaster1.xml" Id="Re3feb1ff433a43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6fab66b0164cef" /><Relationship Type="http://schemas.openxmlformats.org/officeDocument/2006/relationships/notesMaster" Target="/ppt/notesMasters/notesMaster1.xml" Id="Rbaf6568af4ef41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79a43045e648f7" /><Relationship Type="http://schemas.openxmlformats.org/officeDocument/2006/relationships/notesMaster" Target="/ppt/notesMasters/notesMaster1.xml" Id="R74c166cdb4c5402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c8ea93fc4c4c3d" /><Relationship Type="http://schemas.openxmlformats.org/officeDocument/2006/relationships/notesMaster" Target="/ppt/notesMasters/notesMaster1.xml" Id="Ra0770ed242ed42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3d813a1faf4abd" /><Relationship Type="http://schemas.openxmlformats.org/officeDocument/2006/relationships/notesMaster" Target="/ppt/notesMasters/notesMaster1.xml" Id="R7a53938e998441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9f87e4cd034748" /><Relationship Type="http://schemas.openxmlformats.org/officeDocument/2006/relationships/notesMaster" Target="/ppt/notesMasters/notesMaster1.xml" Id="R2b606e5db0bd44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601338174a4601" /><Relationship Type="http://schemas.openxmlformats.org/officeDocument/2006/relationships/notesMaster" Target="/ppt/notesMasters/notesMaster1.xml" Id="R76ec5007b86041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1995aa8b5342de" /><Relationship Type="http://schemas.openxmlformats.org/officeDocument/2006/relationships/notesMaster" Target="/ppt/notesMasters/notesMaster1.xml" Id="Rfd12eb1f1a8341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acb460916ef4bf4" /><Relationship Type="http://schemas.openxmlformats.org/officeDocument/2006/relationships/notesMaster" Target="/ppt/notesMasters/notesMaster1.xml" Id="R598554772c964b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52d62ea2474599" /><Relationship Type="http://schemas.openxmlformats.org/officeDocument/2006/relationships/notesMaster" Target="/ppt/notesMasters/notesMaster1.xml" Id="R275e0b75ce8c45d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942f77ffa5349b8" /><Relationship Type="http://schemas.openxmlformats.org/officeDocument/2006/relationships/notesMaster" Target="/ppt/notesMasters/notesMaster1.xml" Id="R0743b4480f21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slide. Present the thesis first: Korean semantic PII is the gap, and L0 is the proposed gateway augmentation layer. Team-internal shorthand was v0, but visible slide terminology is Layer 0 (L0).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set the three messages: KR/EN gap, why L0 exists, and why L0 is practical versus the judge.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 slide. Keep it short and frame the deck as one continuous narrative, not two disconnected mini-presentations.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slide using existing PPT assets from KDPII. The point is not yet the gateway stack; it is that Korean-specific PII starts harder than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 Fei et al., KDPII, IEEE Access (used through the existing project screenshot asset).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existing no-guardrail gateway visual to pivot from the general background into the gateway-specific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keeps the old Bedrock experiment screenshots but rewrites the framing around what the audience should notice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Root-cause slide. Keep only the 10k-backed story in the main deck and move the old exploratory table out of the primary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goal carefully: not a full standalone protection engine, but a Korean augmentation layer in front of the existing stack. Team-internal shorthand was v0; presentation terminology is Layer 0 (L0).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Gateway context slide using the existing dark AI Gateway asset. The narrative point is deployment position, not architecture detail for its own sake.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insertion point explicit. It is more important than showing every gateway 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slide. Emphasize that the research contribution is L0, not the existence of the whole stack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Normalizer slide. Keep the examples simple and concrete; no need to enumerate all 13 steps in the oral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Detector slide. Separate structured regex coverage from dictionary-driven semantic coverage so the audience understands why L0 is targeted to Korean semantic PII.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overview slide. The audience should leave this slide believing the benchmark design, not memorizing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composition slide. Keep the count cards large and make Korean semantic PII stand out as the central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language-gap slide. The audience should immediately see that the real collapse is on Korean semantic PII, not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Hardest misses slide. Use bypass rate so the pain is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Overall 4-way slide. The core comparison is B versus C, not only A versus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Language split slide. The key oral line is that English stays flat across configurations while Korean drives the gains.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Korean semantic head-to-head slide. This is the primary result figure for the midterm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Standalone slide. This is the honesty slide that prevents overclaiming L0 as a full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slide. This is where you explicitly name L0 as a Korean augmentation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McNemar slide. Keep only B vs C; do not dilute the narrative with every pairwise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C:\Users\andyw\Desktop\My-AI-Security-Project\PII\results\phase1\phase1_mcnemar.json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slide. This is where you justify the dictionary-heavy design of L0.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Latency/cost slide. Ambiguous per-config dollar cards were removed; the main slide keeps only directly grounded latency and smart-cascade cost-saving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  <a:p xmlns:a="http://schemas.openxmlformats.org/drawingml/2006/main"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 cascade slide. The core message is identical detection with much fewer judge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Robustness slide. The point is that L0's advantage is not an artifact of one dataset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False-positive slide. The main deck keeps only directly grounded numbers: 2% over 50 clean Korean docs, with 1 false-positive document. The earlier 26% exploratory figure stays out of the main deck until its source is reattached.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C:\Users\andyw\Desktop\My-AI-Security-Project\PII\results\phase1\phase1_fp_test.json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Midterm framing slide. Show progress and remaining scope without weakening the already-proven result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Midterm framing slide. Show progress and remaining scope without weakening the already-proven result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Normalizer slide. Keep the examples simple and concrete; no need to enumerate all 13 steps in the oral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Midterm framing slide. Show progress and remaining scope without weakening the already-proven result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slide. Keep the close concise and metric-backed, then move to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c4d051c8040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5D015B-53AD-4FB7-BD39-7F7EC8223F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7AF8B7-89CE-42C6-894E-86EDDB09570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f27ca85d2a4247" /><Relationship Type="http://schemas.openxmlformats.org/officeDocument/2006/relationships/slideLayout" Target="/ppt/slideLayouts/slideLayout2.xml" Id="Rfdadf79b345246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B1AC1F-1B67-47CD-97E6-8F99CA3CE17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df79b345246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6b101ffe3e4ac8" /><Relationship Type="http://schemas.openxmlformats.org/officeDocument/2006/relationships/notesSlide" Target="/ppt/notesSlides/notesSlide1.xml" Id="R049978615ead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21b4d3cb448d7" /><Relationship Type="http://schemas.openxmlformats.org/officeDocument/2006/relationships/notesSlide" Target="/ppt/notesSlides/notesSlide2.xml" Id="R022be2562342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e1f5ae9b264a90" /><Relationship Type="http://schemas.openxmlformats.org/officeDocument/2006/relationships/notesSlide" Target="/ppt/notesSlides/notesSlide3.xml" Id="Rd44854888f174e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bed728ec34576" /><Relationship Type="http://schemas.openxmlformats.org/officeDocument/2006/relationships/image" Target="/ppt/media/image.png" Id="R1447bc86f92649a1" /><Relationship Type="http://schemas.openxmlformats.org/officeDocument/2006/relationships/notesSlide" Target="/ppt/notesSlides/notesSlide4.xml" Id="Re90ae7e4b8b448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b7fea5c5f645a2" /><Relationship Type="http://schemas.openxmlformats.org/officeDocument/2006/relationships/image" Target="/ppt/media/image2.png" Id="R1ab27540c90c4c09" /><Relationship Type="http://schemas.openxmlformats.org/officeDocument/2006/relationships/notesSlide" Target="/ppt/notesSlides/notesSlide5.xml" Id="R1c3dfa7078b444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bf8db73ccb4643" /><Relationship Type="http://schemas.openxmlformats.org/officeDocument/2006/relationships/image" Target="/ppt/media/image3.png" Id="Ref6fcef40580454f" /><Relationship Type="http://schemas.openxmlformats.org/officeDocument/2006/relationships/image" Target="/ppt/media/image4.png" Id="R112fd54bf8064bd2" /><Relationship Type="http://schemas.openxmlformats.org/officeDocument/2006/relationships/notesSlide" Target="/ppt/notesSlides/notesSlide6.xml" Id="R6c27b18e633743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6f7951bb64b69" /><Relationship Type="http://schemas.openxmlformats.org/officeDocument/2006/relationships/notesSlide" Target="/ppt/notesSlides/notesSlide7.xml" Id="R5e581ce9aa09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389458b14b45b0" /><Relationship Type="http://schemas.openxmlformats.org/officeDocument/2006/relationships/notesSlide" Target="/ppt/notesSlides/notesSlide8.xml" Id="R8b8cce7c172445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e1f1f64af4b75" /><Relationship Type="http://schemas.openxmlformats.org/officeDocument/2006/relationships/image" Target="/ppt/media/image5.png" Id="R9c2eb5a3142d42a0" /><Relationship Type="http://schemas.openxmlformats.org/officeDocument/2006/relationships/notesSlide" Target="/ppt/notesSlides/notesSlide9.xml" Id="Re0b9578b8a1f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f62a21afe482e" /><Relationship Type="http://schemas.openxmlformats.org/officeDocument/2006/relationships/notesSlide" Target="/ppt/notesSlides/notesSlide10.xml" Id="R93728bc39ce445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aa3ba37d6409d" /><Relationship Type="http://schemas.openxmlformats.org/officeDocument/2006/relationships/notesSlide" Target="/ppt/notesSlides/notesSlide11.xml" Id="Ref1c6f7677e04b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905c8337a4448" /><Relationship Type="http://schemas.openxmlformats.org/officeDocument/2006/relationships/notesSlide" Target="/ppt/notesSlides/notesSlide12.xml" Id="Rb6cd35f64d204b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6a9bcc682499a" /><Relationship Type="http://schemas.openxmlformats.org/officeDocument/2006/relationships/notesSlide" Target="/ppt/notesSlides/notesSlide13.xml" Id="R99a6acb02a0f41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6802ff1ef4ad5" /><Relationship Type="http://schemas.openxmlformats.org/officeDocument/2006/relationships/notesSlide" Target="/ppt/notesSlides/notesSlide14.xml" Id="Rf525f2e8b6214a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dcbf0dbd30417f" /><Relationship Type="http://schemas.openxmlformats.org/officeDocument/2006/relationships/notesSlide" Target="/ppt/notesSlides/notesSlide15.xml" Id="Rc7f2abf31d6e4b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711e6c0aa4d22" /><Relationship Type="http://schemas.openxmlformats.org/officeDocument/2006/relationships/chart" Target="/ppt/slides/charts/chart1.xml" Id="Rae305e6388b543b5" /><Relationship Type="http://schemas.openxmlformats.org/officeDocument/2006/relationships/notesSlide" Target="/ppt/notesSlides/notesSlide16.xml" Id="R8c1e0776dd184f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29bf9fa144994" /><Relationship Type="http://schemas.openxmlformats.org/officeDocument/2006/relationships/chart" Target="/ppt/slides/charts/chart2.xml" Id="R01f8b17ea0a24ece" /><Relationship Type="http://schemas.openxmlformats.org/officeDocument/2006/relationships/notesSlide" Target="/ppt/notesSlides/notesSlide17.xml" Id="Rba94cdfacac043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c9d511cf64283" /><Relationship Type="http://schemas.openxmlformats.org/officeDocument/2006/relationships/chart" Target="/ppt/slides/charts/chart3.xml" Id="R0caaf7c57d1f4535" /><Relationship Type="http://schemas.openxmlformats.org/officeDocument/2006/relationships/notesSlide" Target="/ppt/notesSlides/notesSlide18.xml" Id="Rf988ba18bda349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c5183a511410a" /><Relationship Type="http://schemas.openxmlformats.org/officeDocument/2006/relationships/chart" Target="/ppt/slides/charts/chart4.xml" Id="R4426f3e9623043ac" /><Relationship Type="http://schemas.openxmlformats.org/officeDocument/2006/relationships/notesSlide" Target="/ppt/notesSlides/notesSlide19.xml" Id="Raf39f4f05b9a49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4c66acf62486c" /><Relationship Type="http://schemas.openxmlformats.org/officeDocument/2006/relationships/chart" Target="/ppt/slides/charts/chart5.xml" Id="R90a69ccee8eb40b0" /><Relationship Type="http://schemas.openxmlformats.org/officeDocument/2006/relationships/notesSlide" Target="/ppt/notesSlides/notesSlide20.xml" Id="R2cc060b267ea4e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849518c40d4b99" /><Relationship Type="http://schemas.openxmlformats.org/officeDocument/2006/relationships/notesSlide" Target="/ppt/notesSlides/notesSlide21.xml" Id="R88a81151dab745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84de202a749ef" /><Relationship Type="http://schemas.openxmlformats.org/officeDocument/2006/relationships/notesSlide" Target="/ppt/notesSlides/notesSlide22.xml" Id="Rf1ff9067be4b46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e8c2574fd94aeb" /><Relationship Type="http://schemas.openxmlformats.org/officeDocument/2006/relationships/chart" Target="/ppt/slides/charts/chart6.xml" Id="R59344191807643f6" /><Relationship Type="http://schemas.openxmlformats.org/officeDocument/2006/relationships/notesSlide" Target="/ppt/notesSlides/notesSlide23.xml" Id="Rf32e54c1247c4a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c746cde6304da7" /><Relationship Type="http://schemas.openxmlformats.org/officeDocument/2006/relationships/chart" Target="/ppt/slides/charts/chart7.xml" Id="Rd663ad8ea99e408a" /><Relationship Type="http://schemas.openxmlformats.org/officeDocument/2006/relationships/notesSlide" Target="/ppt/notesSlides/notesSlide24.xml" Id="Rb6126b76040f48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ec3de9f196404d" /><Relationship Type="http://schemas.openxmlformats.org/officeDocument/2006/relationships/notesSlide" Target="/ppt/notesSlides/notesSlide25.xml" Id="R44f464cc6a904b7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89259ac0e4c9f" /><Relationship Type="http://schemas.openxmlformats.org/officeDocument/2006/relationships/notesSlide" Target="/ppt/notesSlides/notesSlide26.xml" Id="R10201c8243e840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1943308de425e" /><Relationship Type="http://schemas.openxmlformats.org/officeDocument/2006/relationships/chart" Target="/ppt/slides/charts/chart8.xml" Id="R1bba014e19b84a33" /><Relationship Type="http://schemas.openxmlformats.org/officeDocument/2006/relationships/notesSlide" Target="/ppt/notesSlides/notesSlide27.xml" Id="Rb1142aa4047b44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8d22553154baa" /><Relationship Type="http://schemas.openxmlformats.org/officeDocument/2006/relationships/notesSlide" Target="/ppt/notesSlides/notesSlide28.xml" Id="R56f25078a1ef419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4f0568ad614677" /><Relationship Type="http://schemas.openxmlformats.org/officeDocument/2006/relationships/notesSlide" Target="/ppt/notesSlides/notesSlide29.xml" Id="Ra120bf3927da44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70eb542534b52" /><Relationship Type="http://schemas.openxmlformats.org/officeDocument/2006/relationships/image" Target="/ppt/media/image6.png" Id="Rf3ea39cb0da04ada" /><Relationship Type="http://schemas.openxmlformats.org/officeDocument/2006/relationships/notesSlide" Target="/ppt/notesSlides/notesSlide30.xml" Id="Rdede07e20ebf48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634d5915c45ad" /><Relationship Type="http://schemas.openxmlformats.org/officeDocument/2006/relationships/notesSlide" Target="/ppt/notesSlides/notesSlide31.xml" Id="Rdc3867c2c2244ec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1e70ec2434faf" /><Relationship Type="http://schemas.openxmlformats.org/officeDocument/2006/relationships/notesSlide" Target="/ppt/notesSlides/notesSlide32.xml" Id="R2fc508b7fbab42f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002961dde4af8" /><Relationship Type="http://schemas.openxmlformats.org/officeDocument/2006/relationships/notesSlide" Target="/ppt/notesSlides/notesSlide33.xml" Id="Ra627404a9969409d" /></Relationships>
</file>

<file path=ppt/slides/charts/chart1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영어</c:v>
          </c:tx>
          <c:spPr>
            <a:solidFill xmlns:a="http://schemas.openxmlformats.org/drawingml/2006/main">
              <a:srgbClr val="2E6AE6"/>
            </a:solidFill>
            <a:ln xmlns:a="http://schemas.openxmlformats.org/drawingml/2006/main" w="9525">
              <a:solidFill>
                <a:srgbClr val="2E6AE6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99.37</c:v>
              </c:pt>
            </c:numLit>
          </c:val>
        </c:ser>
        <c:ser>
          <c:idx val="1"/>
          <c:order val="1"/>
          <c:tx>
            <c:v>한국어</c:v>
          </c:tx>
          <c:spPr>
            <a:solidFill xmlns:a="http://schemas.openxmlformats.org/drawingml/2006/main">
              <a:srgbClr val="F28C28"/>
            </a:solidFill>
            <a:ln xmlns:a="http://schemas.openxmlformats.org/drawingml/2006/main" w="9525">
              <a:solidFill>
                <a:srgbClr val="F28C28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69.86</c:v>
              </c:pt>
            </c:numLit>
          </c:val>
        </c:ser>
        <c:ser>
          <c:idx val="2"/>
          <c:order val="2"/>
          <c:tx>
            <c:v>한국어 의미형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49.62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Real bypass rate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6"/>
              <c:pt idx="0">
                <c:v>session</c:v>
              </c:pt>
              <c:pt idx="1">
                <c:v>court</c:v>
              </c:pt>
              <c:pt idx="2">
                <c:v>allergy</c:v>
              </c:pt>
              <c:pt idx="3">
                <c:v>company</c:v>
              </c:pt>
              <c:pt idx="4">
                <c:v>job_title</c:v>
              </c:pt>
              <c:pt idx="5">
                <c:v>course_grade</c:v>
              </c:pt>
            </c:strLit>
          </c:cat>
          <c:val>
            <c:numLit>
              <c:formatCode/>
              <c:ptCount val="6"/>
              <c:pt idx="0">
                <c:v>95.89</c:v>
              </c:pt>
              <c:pt idx="1">
                <c:v>92.75</c:v>
              </c:pt>
              <c:pt idx="2">
                <c:v>92.31</c:v>
              </c:pt>
              <c:pt idx="3">
                <c:v>85.71</c:v>
              </c:pt>
              <c:pt idx="4">
                <c:v>82.35</c:v>
              </c:pt>
              <c:pt idx="5">
                <c:v>80.95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80.15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90.96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94.32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97.23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69.86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86.46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91.62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96.08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49.62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87.4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96.39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98.85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B only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/>
              <c:ptCount val="1"/>
              <c:pt idx="0">
                <c:v>291</c:v>
              </c:pt>
            </c:numLit>
          </c:val>
        </c:ser>
        <c:ser>
          <c:idx val="1"/>
          <c:order val="1"/>
          <c:tx>
            <c:v>C only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/>
              <c:ptCount val="1"/>
              <c:pt idx="0">
                <c:v>627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7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한국어 의미형 TRUE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4"/>
              <c:pt idx="0">
                <c:v>Baseline</c:v>
              </c:pt>
              <c:pt idx="1">
                <c:v>+정규화</c:v>
              </c:pt>
              <c:pt idx="2">
                <c:v>+사전</c:v>
              </c:pt>
              <c:pt idx="3">
                <c:v>+전체</c:v>
              </c:pt>
            </c:strLit>
          </c:cat>
          <c:val>
            <c:numLit>
              <c:formatCode/>
              <c:ptCount val="4"/>
              <c:pt idx="0">
                <c:v>49.62</c:v>
              </c:pt>
              <c:pt idx="1">
                <c:v>49.92</c:v>
              </c:pt>
              <c:pt idx="2">
                <c:v>87.71</c:v>
              </c:pt>
              <c:pt idx="3">
                <c:v>89.17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8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2"/>
              <c:pt idx="0">
                <c:v>v1 한국어 의미형</c:v>
              </c:pt>
              <c:pt idx="1">
                <c:v>v4 한국어 의미형</c:v>
              </c:pt>
            </c:strLit>
          </c:cat>
          <c:val>
            <c:numLit>
              <c:formatCode/>
              <c:ptCount val="2"/>
              <c:pt idx="0">
                <c:v>87.4</c:v>
              </c:pt>
              <c:pt idx="1">
                <c:v>84.76</c:v>
              </c:pt>
            </c:numLit>
          </c:val>
        </c:ser>
        <c:ser>
          <c:idx val="1"/>
          <c:order val="1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2"/>
              <c:pt idx="0">
                <c:v>v1 한국어 의미형</c:v>
              </c:pt>
              <c:pt idx="1">
                <c:v>v4 한국어 의미형</c:v>
              </c:pt>
            </c:strLit>
          </c:cat>
          <c:val>
            <c:numLit>
              <c:formatCode/>
              <c:ptCount val="2"/>
              <c:pt idx="0">
                <c:v>96.39</c:v>
              </c:pt>
              <c:pt idx="1">
                <c:v>95.41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C778B-6E51-40EE-A4C4-C56EE728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DFD5C-8146-45AC-BA96-C903866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9863-0B72-493C-A478-58EF877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DEA84-FEF7-4A8B-A30E-5B61D79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2F34D-DCA5-470E-A871-8D75A00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8102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BC95-EA73-4A5F-A5F1-424B6C1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373F-3EFE-4BF6-967F-8BC8CD8B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A66A"/>
                </a:solidFill>
              </a:defRPr>
            </a:pPr>
            <a:r>
              <a:rPr sz="900" b="1">
                <a:solidFill>
                  <a:srgbClr val="22A66A"/>
                </a:solidFill>
              </a:rPr>
              <a:t>MIDTERM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4B1B-EF3F-4BB4-9721-A76FF105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763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한국어 LLM 게이트웨이에서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계층형 PII 가드레일의 한계와 Layer 0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16689-67FB-4010-B04B-56FC97F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영어 중심 가드레일의 한국어 공백을 Layer 0 (L0)가 메운다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E542-6CEE-42AF-9E81-999A111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59287-469E-43F7-87AE-823B61C1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영어는 이미 잘 막지만, 한국어 텍스트형 PII는 기존 스택에서 크게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무너진다.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EEE1E-752E-47FE-85DD-B3E9520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62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6E039-329B-4B67-8920-CEC99F9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102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먼저 정규화하고, 한국어 의미형 PII를 사전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중심으로 보강한다.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DD96F-52F9-4F67-B15C-00E86EFB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72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F69A1-E803-4F79-A789-9831B98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204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결과적으로 LLM Judge보다 더 빠르고 싸면서 한국어 의미형에서 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높은 탐지율을 보였다.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622A3-7A3F-4526-A068-2C9FDB4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2026.04  |  CCIT 통합전공 캡스톤 중간발표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6FB35-0799-4DD9-B3C2-A1844D4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4724400" cy="52959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74EA6-A44D-4D05-BC6D-06DF309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322DF-7E9B-4FBE-89B0-4BA951B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B8E0D-FA29-470F-A116-8A1AE49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1925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870BE-485E-40CB-ABC4-3D8E668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288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23F5A-7656-4709-909A-1158985B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19250"/>
            <a:ext cx="857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57569-DEF7-4509-8E1F-3E389CC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288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L1~L3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A449A-3875-43D8-B87B-116B7E3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58716-16EB-4DFC-9EDD-16C7EF85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KR 의미형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1AF38-0A17-4C43-8680-A02E457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04C1F-CBB3-42B2-8EA9-9D3C6887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 judge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AD3C9-20E7-4E5F-8143-798B4A5F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86100"/>
            <a:ext cx="857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11ADC-A8E0-40DE-B752-85621BE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956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외부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C1BAA-CF2B-4EF7-B156-B8536FD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452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C3A45-8E9B-4BE4-B20B-72861EE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1452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D7100-1F97-4ACE-9739-23EF17B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A0EC77-9792-44E7-AEFC-226D12E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8137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35E88-B43C-4B8E-9839-99C3F53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19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0D5DD"/>
                </a:solidFill>
              </a:defRPr>
            </a:pPr>
            <a:r>
              <a:rPr sz="900" b="1">
                <a:solidFill>
                  <a:srgbClr val="D0D5DD"/>
                </a:solidFill>
              </a:rPr>
              <a:t>핵심 숫자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6A764-FAAB-42F0-AFDA-849A9661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12573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AFDD4-4283-47B1-8037-EFA3426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2F09F-F7B8-465C-A77C-D2E422E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96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54B20-CDEF-4AED-B868-2120756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816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CEF05-315E-459D-999D-A1999A9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13906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887B78-1779-4E81-A972-CC2CC29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B2E44-12C0-486A-8966-32AFE85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85A48B-2664-4857-82BC-915808A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의미형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BFE70-3A2D-4BA9-AFE9-AF5D047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86300"/>
            <a:ext cx="12001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E1D169-63D3-446F-8697-CE42398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863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78F231-CE1E-4A83-AF2D-FFFAF63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96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BE54CB-9A66-40B5-9808-B32DA12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81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L0+기존스택</a:t>
            </a:r>
          </a:p>
        </p:txBody>
      </p:sp>
    </p:spTree>
    <p:extLst>
      <p:ext uri="{BB962C8B-B14F-4D97-AF65-F5344CB8AC3E}">
        <p14:creationId xmlns:p14="http://schemas.microsoft.com/office/powerpoint/2010/main" val="66234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94BF-5EB3-4F94-99EF-B769BEAD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6A2B8-BDBF-4853-B75E-13A8ADF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D9A2F-8E55-48BE-B16D-60108C3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E9AF1-C30A-4A26-BD93-C647EC5F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4C100-0B59-4FD5-87F3-355DAB0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44C3E-FD56-470C-8C83-1EA15C6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0967F-FDFD-4DA4-A1B1-E1587A4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35A5F-3CE1-47A6-A483-0A7FA88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 장 요약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581EA-E1FF-4741-8249-89F504F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발표 전체 결론을 먼저 보여주는 슬라이드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D5000-0A81-42B6-9BB7-E0356F1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464C-2389-4556-A687-6B8A4767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E2C2-A45F-461C-979C-4156ED69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막지만, 한국어 텍스트형 PII는 기존 가드레일에서 큰 공백이 남는다.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793D2-DB81-4C3E-8DD2-5C45E66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767D4-565D-440C-993F-AC4A90A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7E2C4-665D-41F7-8096-109A2A3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DD444-CE9A-45C8-8ADD-053507D7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 TRUE 탐지율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38C66-E7A1-4678-A14C-50B7BCA7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기준선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3A4C5-A65C-4A38-827D-1200C4C5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E4D10-288C-4C2F-BDB8-60D3CF0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AB84B-2806-482D-8DBF-C8F51E80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E59C0-A0DD-4D83-8D96-71FB3F2A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의미형 TRUE 탐지율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0A399-1CF3-4313-8F20-7BC680A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기준선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D9BF8-CF70-412A-8E76-5EE813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2457C-3C6D-4806-8452-2B4400D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E9682-9057-47A3-975D-5E26DFE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25028-DF37-4A06-BDA8-1F964EC0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L0 적용 후 의미형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62A3E-2906-4988-A28C-A88EA1F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 = L0 + 기존 스택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BB211-8ECF-4CA4-A5F3-3871877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87781-B904-4F56-B58D-0B530E8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859474-925E-476C-B8E6-F27BFD2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영어는 기준선만으로 99.37%를 기록했지만, 한국어 의미형 PII는 49.62%에 머물렀다.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1877F-599B-4691-8150-A73AB5C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68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5A31E-C886-42CD-AFDC-292E5625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159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Layer 0를 기존 스택 앞단에 붙이면 한국어 의미형이 96.39%까지 올라가 LLM Judge보다 높았다.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9B093-D95E-43F8-BBCF-8B87BDD3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4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88684F-292F-48A7-A680-E917117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7878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그리고 p99 지연 830ms, L4 호출 94.32% 절감으로 Judge 대비 더 실용적인 운영 구성이 가능했다.</a:t>
            </a:r>
          </a:p>
        </p:txBody>
      </p:sp>
    </p:spTree>
    <p:extLst>
      <p:ext uri="{BB962C8B-B14F-4D97-AF65-F5344CB8AC3E}">
        <p14:creationId xmlns:p14="http://schemas.microsoft.com/office/powerpoint/2010/main" val="1801539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9CC00-B973-4A5D-9336-1F8028A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D61E-F56F-4B53-B587-7A229D8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6520-5218-48B2-AC39-3B4684F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53429-3454-4FE5-A52A-AF01465C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7909-F0E8-4D0D-8DD9-D1C96D1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EEE17-6177-451D-801D-7F2A6B6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54FF-F45F-4D2B-9155-74D4DED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2DE6-9443-4AD1-B3A4-DAF445C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목차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6407E-C704-4B99-AA92-A608C35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문제에서 운영성까지 한 흐름으로 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AD4EC-935F-44BC-BD55-47E2C49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25A3A-0AA6-4C71-82CD-DAA0396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830D-144C-47D7-8B70-601ED31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DA61D-29AD-4698-8678-C987AB4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05CCC-46DF-41CE-947D-E390A0D6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문제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7714E-B1B3-45D4-8818-3A8C05F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한국어가 영어보다 더 취약한가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2FA40-6983-4BD3-89D6-752FD24E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FDAA6-FE40-40B9-89F4-807A7F77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C00D7-9FDE-4B68-80AF-CDEEA45B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448A2-F86A-4358-9EC6-070E3C6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B863C-902D-43BC-B73B-3284C843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FAC80-79F6-4625-805B-C68FAD2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Layer 0를 게이트웨이에 넣었는가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2DEEA-B683-4FD4-957C-51FDF88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45B90-DA35-4A2F-A7AB-025F82A2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4639A-5D18-4DFF-969A-D4A8E33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7E504-1DD9-4E30-854B-7D794A37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6E80C-8BC7-479C-8EA3-539DE93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평가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6B38E-E424-4C63-B0B9-5954AEC1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이 결과를 믿을 수 있는가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980F3-854A-4176-8577-4EADC03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96C13-F36A-4E2D-A90F-BD290FB1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85326-EEF8-4C68-ACEC-AECCA7A6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8E0E83-BD8B-407B-A7D3-C9A5E921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36E02-4A63-43D5-BA34-0473B59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00AA4-9859-4BA4-9900-DEAC18B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4-way 비교와 한국어 의미형 핵심 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7E63E-908D-4DED-A5A9-AC84479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8E21B9-51BE-4A2D-A621-BF3F8CF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5A4E6-3B97-4EDB-9ED5-626390E0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C8837-F153-4221-AF09-F830740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5FE7E9-9D78-44FB-A922-11D3C1B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운영성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2F703-5700-43C9-8FE4-F54AB16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지연, 비용, cascade, FP, robustness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128B4-62A2-4979-8E9B-5CC1B63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42A55-3FBC-4B6A-AC3E-0DD31C3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4BFF10-42A6-4F7B-9A98-CF321B89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3DDCA8-AAB8-4A8D-8E68-DF966047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F95D15-1F85-4185-B61E-DA92FA8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중간발표 정리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BE4333-B8B9-4786-8F00-3F6F4A6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29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현재까지 증명한 것과 남은 과제</a:t>
            </a:r>
          </a:p>
        </p:txBody>
      </p:sp>
    </p:spTree>
    <p:extLst>
      <p:ext uri="{BB962C8B-B14F-4D97-AF65-F5344CB8AC3E}">
        <p14:creationId xmlns:p14="http://schemas.microsoft.com/office/powerpoint/2010/main" val="994130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D5E7-1C53-4EA0-80AD-60712ED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06EBE-4A0E-4FF2-AAF4-7D1A3BC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37C0-0DA4-41FA-B68C-EF23A4F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53A9-BA32-4907-8A72-4BAF767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E0F37-4F9E-4B67-BF47-7A64A1A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4CA2C-1C09-4FA2-B6C0-A87C62F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AD23-11A3-451A-9B0B-F0D9181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558B-99CC-4143-992C-EDA2725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프로젝트 시작 배경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1F32-B5E5-4466-8330-0FFE86D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문제의 출발점은 한국어 PII 자체의 난도였다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4B065-B52B-4A9D-9235-6C6E7F2B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1436D-41DA-4581-9071-79DE42B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D301C-FDE9-467E-9679-F1A155F1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PII는 모델이 원래부터 어려워하는 영역이었고, 그 위에 영어 기반 가드레일이 다시 얹혀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22F9B-24AF-42AD-B006-C9D2726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2672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36058-88EE-4BDA-BB4E-826A36B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C742-138F-4C43-9270-1BD05EE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KDPII는 한국어 대화형 PII 비식별화를 정면으로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다룬 공개 연구다.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52C6F-9181-4C20-9192-234360FD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611AE-6B2B-42B2-964E-EC7B1CC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943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해당 연구는 영어 범용 PII보다 한국어 특화 PII에서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성능이 유의하게 낮음을 보여준다.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86ECD-EA60-4EAA-96BA-E16A53A5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76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53261-3923-4AED-AA1E-54F6E8A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236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즉, 한국어 LLM 보안 문제는 애초에 더 어려운 데이터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분포에서 시작한다.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BA777-65DB-43EE-B969-2B5472F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논문 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35331-02EA-4FAE-93D0-131B55A1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44054"/>
                </a:solidFill>
              </a:defRPr>
            </a:pPr>
            <a:r>
              <a:rPr sz="900" b="0">
                <a:solidFill>
                  <a:srgbClr val="344054"/>
                </a:solidFill>
              </a:rPr>
              <a:t>IEEE Access, KDPII (기존 PPT 자산 재활용)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77D37-355E-4CA9-BE4B-A88D085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6191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BD3C8-803D-4ACB-832F-CBC38E09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86400"/>
            <a:ext cx="619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8826A-F710-4048-8367-958223F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86425"/>
            <a:ext cx="567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KDPII: 주요 언어모델은 범용 PII보다 한국어 특화 PII 인식에서 더 낮은 성능을 보였다.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7bc86f92649a1"/>
          <a:stretch xmlns:a="http://schemas.openxmlformats.org/drawingml/2006/main"/>
        </p:blipFill>
        <p:spPr>
          <a:xfrm xmlns:a="http://schemas.openxmlformats.org/drawingml/2006/main">
            <a:off x="5448300" y="2447479"/>
            <a:ext cx="5886450" cy="20963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04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39849-0E9D-4506-8554-5DA7DFD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1880D-1698-4CD9-8C5A-767A24F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CC278-3A47-48D4-9FF4-D67B2F1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8346B-69E9-4FD6-B3D0-63A5CA0F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6B715-1C7D-4B99-B7FA-2CC5798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E71F-7BA6-4781-829F-9D6BB51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DA61-833D-46A0-B5A5-7640056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D2F3E-34F4-432D-B209-8E57CB1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그렇다면 가드레일은 어떨까?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68C13-4293-4A95-91C6-33537A5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모델이 못 잡는다면, 게이트웨이 앞단 방어가 먼저 작동해야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D7AEF-D400-4B57-8F5D-FD74ED8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1D9A1-2BF8-44A8-B445-998FB242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8656C-4ADF-4AEE-A97D-D02FF6F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모델이 못 잡으면 게이트웨이 앞단이 막아야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42D50-DD8B-4F0E-82DB-5BB4BB2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095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29814-9003-4207-A416-2FED4F4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57CDF-D4ED-4C6E-8E51-68793FF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기업 환경에서는 사용자 입력이 외부 LLM으로 가기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전에 게이트웨이를 통과한다.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71D50-46DA-402C-8EEE-2937831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84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D8923-EBB5-4F72-A231-027E09D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323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PII 보호 문제는 모델 성능뿐 아니라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 방어 구조의 문제다.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78678-9C28-4CD6-B1DC-7A01646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1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B02B-C033-4732-AD0E-4C088F8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616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발표는 기존 가드레일 조합이 한국어에서 실제로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얼마나 비는지부터 확인한다.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1E735-4B8C-42A0-B92F-8688158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63436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27540c90c4c09"/>
          <a:stretch xmlns:a="http://schemas.openxmlformats.org/drawingml/2006/main"/>
        </p:blipFill>
        <p:spPr>
          <a:xfrm xmlns:a="http://schemas.openxmlformats.org/drawingml/2006/main">
            <a:off x="5864131" y="2171700"/>
            <a:ext cx="4902388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64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D804-1530-44D8-B46A-1323578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C1F29-5B2A-413F-9A8A-37DCD7A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519EF-5053-4835-870F-6A729C9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FB77A-166A-4E9D-89F8-95D84795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67483-DB1F-4DE4-A781-A7F3DFA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0165D-63D6-4044-BB15-D6B6439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467D6-F7F4-41FA-84EE-604DD71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AE55E-1174-4FA6-ABE6-5282491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베드록 가드레일 실험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1CE50-0871-4D55-A87D-6E9A5D2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정량보다 먼저, 직관적으로 한국어 텍스트형 PII를 놓치는 사례를 보여준다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92E9E-59CC-447F-86C5-5DD1947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E74D8-0B07-437C-8838-B7542A38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F056E-68D3-444F-AD72-218890E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462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이름은 가렸지만 주민번호는 그대로 남았다.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06F70-09DB-4C63-B2DF-FD41B1F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32094-0168-4D8C-AD27-4123A81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0F38-B91B-489C-AA0E-A76DCC0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C1B8D-B2C7-4A83-8EE7-CACDD296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776BF-A70F-4ABA-B130-A513F2CE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4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72ED8-A2AD-4876-B3ED-354D8986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01ECC-E59E-4B6F-9DEF-F418ABF9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이름은 마스킹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620DC-AC53-48E1-91F6-D8A3057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480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하지만 주민번호는 그대로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8F680-44BA-4A47-AEEE-F21CB16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14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96C75-DBAC-4D21-930A-94032227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65259-ABE2-4847-B92E-7563AD62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57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의미형 PII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1032F-846D-4C56-84F0-D84BA75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24550"/>
            <a:ext cx="480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숫자형·정규식형보다 더 취약한 영역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fcef40580454f"/>
          <a:stretch xmlns:a="http://schemas.openxmlformats.org/drawingml/2006/main"/>
        </p:blipFill>
        <p:spPr>
          <a:xfrm xmlns:a="http://schemas.openxmlformats.org/drawingml/2006/main">
            <a:off x="6534150" y="3017114"/>
            <a:ext cx="4819650" cy="1547671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fd54bf8064bd2"/>
          <a:stretch xmlns:a="http://schemas.openxmlformats.org/drawingml/2006/main"/>
        </p:blipFill>
        <p:spPr>
          <a:xfrm xmlns:a="http://schemas.openxmlformats.org/drawingml/2006/main">
            <a:off x="838200" y="2457467"/>
            <a:ext cx="4819650" cy="26669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71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0F221-1511-47FB-BF91-B7FA700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6BE0E-26BA-4880-8021-E50B339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2C5F8-9AB7-412D-A385-9FAEE00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48F6C-7014-4289-A34E-E6CCA1C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07693-097D-4930-8440-AE170F3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9DAA8-BDAB-4BCB-AF75-0DA0259B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F3E76-5E37-4DC2-9F9E-38D4096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B63C6-0ADF-4BC6-9ACB-67CB47B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원인: 대부분 가드레일은 영어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81510-B0C1-48DF-AF1B-4D824FA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문제의 핵심은 한국어 전체보다 한국어 의미형 PII 탐지 공백이다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C9A92-464C-4F7F-9E1C-47B3C2E8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F89E0-7502-4992-AC55-D580229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18371-EC6B-4FC7-9934-AAFD921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 중심 탐지, 한국어 숫자형 편중, 의미형 PII 탐지 공백이 겹친다.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1F8FD-5F69-4AC6-B63E-D27E096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9909-E492-4058-B470-D5CC203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31BB-5F39-4366-BFCE-6BEA0FE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영어 중심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601E7-7633-4480-A9CB-A6CB8BD3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기준선은 영어에서 99.37% TRUE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탐지율을 기록한다.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44700-1C8F-4591-9CFC-5C0FC8E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F5833-FC12-4DAB-B58A-A140627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66BF7-3861-419E-B7F1-8BD8011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한국어 숫자형 위주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9B21F-F6DC-40B7-B20C-CE978ADB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스택은 주민번호·사업자번호 같은 체크섬·형식형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PII에서 상대적으로 강하다.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EA165-B73A-4E10-A1DB-B431731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3C297-2AF8-4620-A40C-A99E2B8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836B1-C2C6-4FB9-836E-A40D4BA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의미형 PII 탐지 공백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ED8E7-7A52-40EC-98EB-8C14B737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의미형 slice에서는 기준선 TRUE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탐지율이 49.62%까지 떨어진다.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A6B72-5A08-424B-8EF8-8C56FBF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82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A6DF3-576F-4AD5-8922-5119C35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발표 해석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ADEE3-5C34-4AC3-8DA3-7B2BB84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D27B0-6A4A-4A0E-9CB4-E8EA57B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초기 소규모 탐색 표는 본문에서 빼고, 메인 논리는 10k 벤치마크 기준으로만 전개한다.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A66F7-C752-4905-B583-2AD1675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7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066ED-97C4-48F4-824C-E84D479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256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이후 결과는 '한국어 전체'보다 '한국어 의미형 PII'를 중심으로 읽어야 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3A113-03CC-4829-A511-B683117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5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66B26-39BE-4880-BFAD-9F0F926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022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모델이 놓치는 입력은 게이트웨이 앞단의 Layer 0에서 먼저 보강한다.</a:t>
            </a:r>
          </a:p>
        </p:txBody>
      </p:sp>
    </p:spTree>
    <p:extLst>
      <p:ext uri="{BB962C8B-B14F-4D97-AF65-F5344CB8AC3E}">
        <p14:creationId xmlns:p14="http://schemas.microsoft.com/office/powerpoint/2010/main" val="1538253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E853-9AF3-42C5-A876-E8B4FF14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D8F08-2470-4761-931B-FBDE416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6AC0-5A7C-4CB5-A1C5-52EF07A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51F8-BA44-4346-B384-B196DB5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DF7F1-036F-4D33-BD4D-772BDC0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7B890-BCC4-4AC0-831C-8AF7539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E3B4F-9EC5-4A67-9333-60B0F98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EC8D-5837-4A25-ACA0-161E3CB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연구 질문과 프로젝트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1791B-524A-4971-93D3-470B5594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이번 발표에서는 목표를 '한국어 PII 보강 계층'으로 정직하게 정의한다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BF424-0938-4473-B3E6-399E91E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EFD72-6936-4272-B5E7-C673C8A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771AD-5304-4CBB-B304-5F341E0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보호 엔진 전체가 아니라 기존 스택 앞단의 한국어 보강 계층이 목표다.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A07E7-D5EF-4583-A23D-69B5DDA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2387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81F5A-F9EB-4599-97F6-88A9C7E3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RQ1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D8904-B004-45BD-9930-1D9DFF8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왜 기존 가드레일은 영어 대비 한국어, 특히 한국어 의미형에서 크게 약한가?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BCD72-C1EA-4282-BA12-7060A16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언어 차이 자체인지, 혹은 한국어 의미형 PII라는 어려운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slice 때문인지 분리해서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AFD39-8B80-47DB-9546-5E15C4D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A66A"/>
                </a:solidFill>
              </a:defRPr>
            </a:pPr>
            <a:r>
              <a:rPr sz="975" b="1">
                <a:solidFill>
                  <a:srgbClr val="22A66A"/>
                </a:solidFill>
              </a:rPr>
              <a:t>RQ2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087E5-2153-4CBA-A408-4EF5E008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LLM Judge 대신 Layer 0가 더 싸고 빠르게 같은 공백을 메울 수 있는가?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8A4B1-477E-490C-8CB3-EC54318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 비교뿐 아니라 지연, 비용, 스마트 캐스케이드까지 포함해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실용성을 평가한다.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47E47-57E7-4909-87A7-28F52A4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2006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5D542-5F97-4440-9D5E-61890E6E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프로젝트 목표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CD4CE-7A27-44B6-A757-07F0C43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한국어 PII 보강 계층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Layer 0 (L0)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5F797-538A-4F66-B66F-78280111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기존 L1~L3 스택을 유지한 채, 그 앞단에서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한국어 입력을 먼저 정규화·탐지해 한국어 의미형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PII 탐지 공백을 메우는 계층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600F2-C9DE-4A3B-A337-19E37352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DD068-1452-4CD1-8337-221C87F6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360B8-A236-46F2-B005-12CC989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53025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발표 표기: L0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8DEE6-10AF-42A6-B4A6-5384320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9D37B-9D9A-470A-A8BB-4C7EB0F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065B8B-6DD1-49FC-A284-7DB4EB0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기존 스택 유지</a:t>
            </a:r>
          </a:p>
        </p:txBody>
      </p:sp>
    </p:spTree>
    <p:extLst>
      <p:ext uri="{BB962C8B-B14F-4D97-AF65-F5344CB8AC3E}">
        <p14:creationId xmlns:p14="http://schemas.microsoft.com/office/powerpoint/2010/main" val="269715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4669-1950-48D4-9F3F-1CB1473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50FB0-2CC7-4F6B-97A9-C75C291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43A29-39CA-4D78-AF48-5A2A9CB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4719B-F39B-4690-A992-48BAC66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E1CC8-529E-4F74-96DE-7A2FCD6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0E7DB-58DE-44A4-9188-265E0F6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77A86-9402-470D-85A0-6961976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79A2C-838A-4AC2-95C0-AF6C9B0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AI Gateway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64BA6-1C61-43B1-8B0A-0ECC910C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 연구는 모델 자체가 아니라 LLM 게이트웨이에서의 방어 배치 문제다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80D71-7F64-4021-B1CE-B220594E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03A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83FD-361D-40B7-A264-99E2B77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535F1-29F3-4104-878E-A80808C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입력과 출력이 오가는 교차점이기 때문에, L0는 게이트웨이에 붙는 것이 맞다.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0A99C-7DAF-4E6A-9941-54EFBBB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7E468-0AE8-4A26-BBF1-FA72E1C0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548E2-4EB1-45BC-A2C7-0B01459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게이트웨이는 사용자 입력과 외부 LLM 사이를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통제하는 계층이다.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66707-5453-433D-BBAB-D810A07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56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18CE0-75B4-41E7-8875-E511065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038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지점에서 라우팅, 로깅, 인증, 입력/출력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가드레일이 함께 작동한다.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176B2-D20D-4CBD-8405-6BF341C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6D39B-70DC-4FA5-A804-578438DE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2331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입력 보호 문제를 해결하려면 모델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내부가 아니라 게이트웨이 전처리 계층이 핵심이다.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650CE-9DB7-4769-904D-07FF747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64770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eb5a3142d42a0"/>
          <a:stretch xmlns:a="http://schemas.openxmlformats.org/drawingml/2006/main"/>
        </p:blipFill>
        <p:spPr>
          <a:xfrm xmlns:a="http://schemas.openxmlformats.org/drawingml/2006/main">
            <a:off x="5881394" y="2152650"/>
            <a:ext cx="477261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54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D967-4D72-420F-ACAD-0314EC8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D60C-B581-4ADE-8CE2-79396E6E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1FD9A-9B49-4103-A975-426188F7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F7850-DF5E-4CDE-BF1A-86C220A5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CAE4B-A1DE-4F05-A44A-5A472A8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BAFD5-6060-4534-AEA6-4B19845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929C-E3B6-4F2B-ACB7-4D5A155C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CD31-C0FB-4806-91DC-2DCC022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데이터 흐름과 삽입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7369E-7D99-4A2F-87E1-DB4020B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Layer 0는 외부 LLM 호출 전에 한국어 입력을 먼저 복원하고 탐지한다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45F9-9EF3-424C-9917-65EC5A7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AF76-3D05-4E97-9FA2-190F4B3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9F438-7988-443C-8FDB-7713D1F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삽입 위치는 pre-call 앞단이다. 여기서 한국어 입력을 복원하지 않으면 뒤 레이어는 그대로 놓친다.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91F5F-6DCD-4356-8D2C-58C0DE4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A1741-52A9-47FC-A7AC-CE8DD390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810AB-44A6-45FF-B67B-48FAEEE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C27A2-7A37-4327-A0B1-B4CADC5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4FD92-72D4-4457-B55A-5107F90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2F61F-19C4-4F6E-AED8-5F3EBFA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Presidio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88F6B-5339-45E8-8C3B-7115125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F8951-FF58-4FF1-8A20-5682E45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D7DF7-2D8D-4D24-BEB1-75F7C1F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58AFD-C804-403E-A5F1-37CDE61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Lakera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D8968-B4C3-4958-A5C3-84E2D9CC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A3834-20EF-47DF-953E-E65D9DF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외부 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F9653-40A7-4B5C-9CDC-75BD4A0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E7419-365B-4F17-8EE9-4A52505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응답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5CDB8-2E34-41E5-9A35-985DF0B2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D90FDE-B2B9-4568-A90D-2ED7184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A9F94-55E2-4B47-B2AD-7BDB1C2D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65A79-1037-4A99-9BA4-FF74D3A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E2280-7D98-45A8-B71D-ABA3FB6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19857-BF76-43B2-92C4-7801145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74A5D-978A-4694-8725-2203C45D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1619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D07E7-FAE5-48A8-9DC4-E51B779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92D20"/>
                </a:solidFill>
              </a:defRPr>
            </a:pPr>
            <a:r>
              <a:rPr sz="900" b="1">
                <a:solidFill>
                  <a:srgbClr val="D92D20"/>
                </a:solidFill>
              </a:rPr>
              <a:t>이번 연구의 추가 계층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DED79-604C-4621-A1FB-9B3D95D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10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D85CB-12F7-4A35-8640-36F48A9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500EA9-EC65-4615-A8AC-F0EE1B3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정규화해 공격 표면을 복원한다.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A08633-9D3F-4F62-90B5-5C67CE7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87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A5414-B95E-43B7-94D0-F84165C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2351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 다음 L1~L3는 기존 운영 스택을 그대로 유지한다.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A9EC08-798B-4354-BEBB-51797C2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64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2F6605-F178-4155-9A88-C8351203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5117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필요한 경우에만 L4 judge를 smart cascade로 호출할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392215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2A3C3-4DD5-4FD7-A77A-07C6F7E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7179B-AEC6-44E5-9A29-D8795CF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CFE6-65CF-4950-9B41-E3B6680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07AE6-6A11-4105-8B73-AA0B58DF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B467-82B9-4724-B0D2-F40BB6B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4587C-436A-46C2-A0C5-A604BCD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8626-A5BD-44FB-8D9A-6DDEC7D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72C61-6E86-4F5D-84DF-08BA1F1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5계층 방어 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A9A74-05CF-4135-B2D0-D4F5BAE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L0만 새로 제안하고, 나머지는 기존 운영 가드레일을 그대로 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B2C53-FA6C-4099-8E09-A14D8139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AAA17-EFB8-45ED-AB3E-782FF2D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E79C-C9F8-440C-89F8-8004BEF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기존 스택을 대체하는 것이 아니라, 한국어 공백을 앞단에서 보강하는 것이다.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DABBE-EA0D-4919-B5D8-9E5E787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7FAE8-3A1A-42A8-8F68-CE651129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4A9DE-FC3F-4E03-811F-00825A1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2A66A"/>
                </a:solidFill>
              </a:defRPr>
            </a:pPr>
            <a:r>
              <a:rPr sz="2250" b="1">
                <a:solidFill>
                  <a:srgbClr val="22A66A"/>
                </a:solidFill>
              </a:rPr>
              <a:t>L0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4C0C1-849F-4C2B-B710-8D5F0D9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한국어 정규화 + 키워드 사전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F47A3-0273-4B54-A007-E3AC2A9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ACA12-DE32-46E3-A615-CBB16C8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54B24-87A7-4C49-8BAB-16B9C723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pre-call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10614-6E95-426B-9995-BF8A8706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이번 연구의 핵심 기여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83326-1514-43CB-ADA3-FC8C609E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6D63D-F3F1-403A-9829-300CECAE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55B2F-4369-476F-90D2-B8B4402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9CC86-8611-4A16-9B52-1227B41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Presidio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regex + 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F8A68-C654-42D0-9BD9-0FFE9C72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952A0-E50C-4837-B815-9A5A6E4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D301D-DBB2-4C72-8A55-8F7A65A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FDF49-C8EA-4D97-A49D-CFB9EFD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4249F-2A56-4A38-BD12-99C3756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A4A85-C317-4051-964E-16121C4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9D98A-07C9-4598-A2CC-4872FCF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A1FF5-DCD5-4A2C-81F4-42C51F2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Bedrock Guardrails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E82F1-697A-465C-B617-9147353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E22AA-6394-451D-B285-67E2202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70A742-81E1-421F-B416-05CBA664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during-call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E05B6-F9EC-4559-B30E-9D361462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98933-5F81-4489-A333-63BCCC1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581F1-DE1F-4ED6-968E-95534D28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C0880-2A82-4BD8-A0C0-FD74278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37186E-3FFD-4EDD-8D09-89EE2BB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Lakera Guard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30B717-CAE1-4F72-BFDC-3E0B3FE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D8C903-2660-4C2E-BD90-55FB578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5444B5-ABEE-42D4-A2BC-D3301B3B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1606E7-A63A-4B86-A570-9813B8B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C59A1-1AFA-4615-911A-16AE373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C29753-F7EB-44F7-AE15-BADE678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14CBC3-0D10-4F2B-BB45-0B54733F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03A8E"/>
                </a:solidFill>
              </a:defRPr>
            </a:pPr>
            <a:r>
              <a:rPr sz="2250" b="1">
                <a:solidFill>
                  <a:srgbClr val="203A8E"/>
                </a:solidFill>
              </a:rPr>
              <a:t>L4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B008F-106F-43B6-8BD3-1B1EDF1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GPT-4o-mini judge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728785-85C7-4433-A9D1-51609629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DAE3B5-6ABE-480B-B3E1-A9A5818D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F5F108-7EFA-4D48-9512-F8D1B66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post-call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7352B5-097A-4BD4-8BBD-EBBB4D25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ED6435-65A4-4D14-8BAD-E5C1269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E4A4ED-0D06-4F86-9435-8CF14D8C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71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LLM 응답</a:t>
            </a:r>
          </a:p>
        </p:txBody>
      </p:sp>
    </p:spTree>
    <p:extLst>
      <p:ext uri="{BB962C8B-B14F-4D97-AF65-F5344CB8AC3E}">
        <p14:creationId xmlns:p14="http://schemas.microsoft.com/office/powerpoint/2010/main" val="21182902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FB238-BEF1-4AC8-88AC-C4E1EB8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AB9F-E0D4-452F-89A4-8705DA0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3078-9D69-44FC-A0B1-ED1E38A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04B-9017-482D-917E-B1383D5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D40B0-B2CF-4822-BBA3-62887B5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54DEF-C354-49DF-864D-D839DAD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67E82-FA7D-40C9-A5BE-4C33A55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6FDBF-D586-4426-99C0-F8701B7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1: 정규화 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B2D27-CB81-47B7-A6A9-8B6084B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정규화의 목적은 한국어 입력에 숨겨진 공격 표면을 다시 복원하는 것이다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307B-DC91-442E-8DD8-2A4361C2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56EE6-0227-44B2-8F6E-69B8E68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42B0-72F3-4248-8A1B-83F692C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86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정규화는 성능의 중심이 아니라, 사전 매칭이 작동하도록 공격 표면을 복구하는 역할이다.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F7A70-3308-49AC-AFA0-DE9A51EB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006B0-B475-4A5B-83B2-C098CB5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398D-EF75-4FCD-9F2E-FA571E6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자모 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5802-601C-432D-ABAB-6A46513F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ㅎㅏㄴㄱㅡㄹ → 한글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ADCCA-0AB8-4CCD-B8C1-F423C41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AAEA7-E9A0-4164-9FE6-A9BD17FF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07A1-6A33-4D8F-845B-D5992CA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ZWSP 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1C385-14EC-4295-A9B6-30D93D5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주민​번호 → 주민번호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BF9ED-63E4-4479-B055-0B60A6D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0D2E5-E19C-4C68-957A-1FFFAFD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27B72-47BF-4EAF-A78B-E1BF982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Fullwidth 복원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49C04-F8A6-493B-BE68-E64CE448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１２３４ → 1234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6BAA6-9165-4D38-88FB-5306F6AA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3DE1C-8DFE-42AA-A838-5CBF057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CF6D-9564-4D3A-A183-7C5C1883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숫자-한글 변환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61E80-3526-48E0-8479-7C31A27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공이공칠일사 → 020714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58EE3-615D-43FF-95CC-09296A7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6E679-13C0-4B59-9D8A-E2F594E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AC50D-B39C-4580-9C7A-AF424F3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Homoglyph 치환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344C7-1CB0-4601-B957-4758604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O0 / I1 혼용 정리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1AA64-72A5-4897-9770-D9480EF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706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0D6AC-51FE-467B-B8DB-AD6746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FA7630-BA78-4AF9-AE07-EA7CBAB6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13단계 정규화 중 발표에서는 대표 5개만 보여준다.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7BA1E-59B9-465F-BC46-7321FBA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6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57399-9231-4C15-A5E9-ECB9727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7116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핵심은 사람이 읽는 한국어와 시스템이 매칭하는 문자열을 다시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21119424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CF56-9A48-481D-91DF-56CEA70B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4B2A8-E665-44D7-AB82-AF79EC4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CE6F-D13C-4DC9-8761-14E496C8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D785-CFBE-4D66-B645-81E4BD9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CF8A-48AD-46DE-8B95-BEA121A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EEBE-E498-4E93-BAE6-B646E72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13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31DB-3B06-4686-AA85-F5393D3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0C539-C1BA-4830-B304-2252B77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2: 탐지기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845AA-6BE2-4F2A-A8B2-851D9F3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정규식보다 키워드 사전이 실제 개선의 중심이다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7C0C-F4FD-4FF6-80AF-87593CD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E27E8-BD3C-4D44-90D1-73BF0A3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A7914-2AA5-4CCB-8EDF-54C91CAD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성능 상승의 대부분은 키워드 사전에서 나온다.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9BF9E-B889-422B-804B-3EB9D8D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067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1292-13A8-42EE-98D7-FAF07B8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5067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B0867-FA42-430F-BAB9-FB00476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정규식 / 구조형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C8C52-6972-4569-8DDC-D4F3A2A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7CCB3-89D2-4CD4-B8C9-67158CE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session token, JWT, court case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E7464-AF28-49E4-A260-B71B895B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06F0-B3A1-4419-8FAE-6B97F829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GPS 좌표, AWS key, SSH key, MAC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0CA5D-9BD2-4B09-B79C-6364E2FE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33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1631A-8D77-4FC7-B04C-7F62347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808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medical record number, employee 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F013A-2103-4015-B353-8DE3F7A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1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DBA40-AAAF-44DE-9D88-9A72D81D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622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차량번호, 보험증권번호, 거래번호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192A1-210A-4A5B-B6C1-82A3374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키워드 사전 / 의미형 탐지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EA119-E7CE-4AAC-9FDB-700C1CD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CCFAE-EAFB-4C81-95F7-8E6BD6B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allergy, diagnosis, prescription,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surgery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DD5D1-8357-4E27-B36B-71460E0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09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D9F3A-53D8-4512-AB34-306E8303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568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family, marital, religion,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nationality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F360D-869F-4B62-A116-6C39C5F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4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1B37D-1142-4D0D-93CB-75E4CB8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956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company, department, job title,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school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4A484-ED55-4D6B-9B8E-C76BD03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586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BD187-061E-4A3B-A998-2A1F7F92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34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의료·법적·조직 맥락의 한국어 텍스트형 PII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80290-4E75-4E7C-AFE4-EA9F107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15678-2E98-4DAA-8185-1DF16A1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B34103-6665-4398-AACF-A29B52A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674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ECE8F-BE1A-4FA9-90CF-53849E3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3410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켜도 KR semantic이 크게 상승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A4D6F-A74F-4E1F-9C97-D84DA65E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96574-BB4C-427D-96CB-2ACC6BD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D4EC8-1086-411C-8A96-890181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674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3E06CF-AC75-4EB8-9F00-BE847F7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341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단독</a:t>
            </a:r>
          </a:p>
        </p:txBody>
      </p:sp>
    </p:spTree>
    <p:extLst>
      <p:ext uri="{BB962C8B-B14F-4D97-AF65-F5344CB8AC3E}">
        <p14:creationId xmlns:p14="http://schemas.microsoft.com/office/powerpoint/2010/main" val="208352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EFE4D-D134-4C44-8662-89F1E5D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A637-D8BD-495B-9BFD-CA0C9D84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EA864-CE14-4EC6-9AF5-E1EC7B0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BB2A3-0062-4454-9D97-DC4D85C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00E8-0747-449C-A927-21E7B0CF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3AE7-ADA5-41F3-B2D8-4A7D3818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14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FD3D8-7790-432C-99F9-2D1A721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9726F-A235-4B77-B2BF-4A68D6E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평가 방법 개요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5B288-A23E-4497-9922-CBA2C3D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왜 이 결과를 믿을 수 있는지 세 가지 원칙으로만 정리한다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BE8A-8E01-4819-93D0-F39804A6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03A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82898-BF13-4754-93B9-CB58AD3D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165A3-8ADD-4494-914C-F713234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유효성 우선, 실제 API 호출, 그리고 TRUE/FALSE/BYPASS 분리다.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83DE0-C94B-4C60-BDC2-F1303200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18C62-C70E-4982-8CAF-B7E8D44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EED35-99EC-4447-B476-97D7A6D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유효성 우선 fuzzer v4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8A481-A02B-440E-A584-1033055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형태만 그럴듯한 payload가 아니라 실제로 동작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가능한 한국어 PII 입력을 우선 생성했다.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18DCD-0C78-4FF5-874B-3B9FED44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E9B4-09DE-47F4-90E7-9714C61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D43A5-4145-494F-916E-227927D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실제 API 호출 벤치마크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0F1B5-EBF7-41C8-8852-EFE774BE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모든 케이스를 LiteLLM Gateway와 외부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guardrail / judge 호출로 직접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측정했다.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F988F-F2B4-4334-A9DF-59F712C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2B48A-8A1D-4F92-938C-1A68C3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40F77-7965-4E82-95D1-C138AC7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TRUE / FALSE / BYPASS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6169E-B884-498F-BA54-11A4D53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출력 문구가 아니라 실제 무해화 여부를 기준으로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결과를 분리했다.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2BDCE-03BB-4D6C-B42D-AA34CA9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577F1-3639-48A3-920F-1CE1186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AB4B9-AA79-4ABD-83FB-3736883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10,000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5C613-95AD-4ECE-BBB4-20F026E7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동일 payload 4-way 비교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D15E2-6D78-4E19-B34D-CADD0A3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B71A5-C77D-41AA-B42F-FA64083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D74C7-35AC-466F-AFED-0F4F94F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91개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6DC12-6779-444B-9D93-11B77F6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PII 유형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4BE237-769C-425E-B2D1-21CE53B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97CBC-3BDC-4166-9426-9C5E624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47EB9-0EEE-4C6D-B2E8-59D9040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TRUE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97243-AAEA-4861-9099-CB5F4DA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실제 무해화 기준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4E48A-D65B-4EF6-93EC-1E055A03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95BB32-2D2A-4C5E-A4AB-F608296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FE5441-B644-4029-B0FF-EDEFAE4C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v4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FADA9F-3386-4530-A170-A74E885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유효성 우선 벤치마크</a:t>
            </a:r>
          </a:p>
        </p:txBody>
      </p:sp>
    </p:spTree>
    <p:extLst>
      <p:ext uri="{BB962C8B-B14F-4D97-AF65-F5344CB8AC3E}">
        <p14:creationId xmlns:p14="http://schemas.microsoft.com/office/powerpoint/2010/main" val="9914702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B8414-36CE-4FED-9CEC-7CD48EC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9062-9578-4836-A264-AB3A5A2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19BF0-24C6-4593-8B73-340EE33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994C4-D783-4BF8-887B-2B4195B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C9D9-A235-4A3A-BD39-55A116E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B482C-7105-4AA1-B52A-E99BACF5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1838E-A92C-4515-B1B3-EE0092A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532E-7C98-4564-AC81-9E7C1B9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벤치마크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9F958-AA81-4541-A37A-43D9C83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10k 계층 표본에서 영어·한국어·유효성 그룹 분포를 고정했다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5CAEE-8959-4639-A59E-4E2CF4B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874B-A863-4AFA-8BA2-7FA0313A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54EEA-C21D-415A-8AD8-14EBC9E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481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발표의 핵심 slice는 한국어 의미형 1,302건이다.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C00A-433E-4B86-8B14-2149435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8FBC5-99E6-41A5-957E-B0EB0D3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7FAAC-E86D-49F0-A8A2-08143094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2,603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C5FBB-A1AD-4A15-9F3B-74FB048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 체크섬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082A4-9713-4671-BD34-E1B2F0A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FE223-9734-4170-A9C9-289F5C5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E0EA2-0FA2-4DB2-ABB7-024104B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74B06-6E5C-48D0-8319-37F9596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 형식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3901C-97C0-427F-903D-DFBADF7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9E199-9077-4FFF-B0D8-C97F5FA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616FA-AE47-4D90-B112-7C61FDF7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BAD75-0B55-4C48-ADB1-4637A10E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체크섬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DA3D9-6B87-4D77-A33A-93C66E2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1DFFC-BEE7-4152-99A4-726D11D1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E103E-8A77-4DCF-AD28-AF67B0D6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4,689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CCC80-9FE0-4ECB-9251-2209474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형식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A955A-19D4-4DF1-81E9-5276B18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CC9EB-D4E8-454A-A9CB-A90C7DD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92D43-09D7-4DB0-A636-C18BE6B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1,302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7EB59-BC36-4D68-A2A8-B8C6E09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의미형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9B30EC-C622-415E-BEB3-61137D7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744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71284-6D11-4B47-A819-5F63DE72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0C9A8-ED34-41F8-873F-D9DB7E5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10,000건 중 영어는 3,487건, 한국어는 6,513건이다.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0AFE5-5172-4F2F-ADA3-98B26B0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6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4953C-7B24-4977-AA08-89D36CF0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156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그중 한국어 의미형 1,302건이 발표의 메인 타깃이며 취약성이 가장 강하게 드러나는 구간이다.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8E3051-ACC5-433D-B884-347542A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4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49AE6-7B72-44EB-9F43-B82C163E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922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모든 4-way 구성은 동일한 payload를 공유한다.</a:t>
            </a:r>
          </a:p>
        </p:txBody>
      </p:sp>
    </p:spTree>
    <p:extLst>
      <p:ext uri="{BB962C8B-B14F-4D97-AF65-F5344CB8AC3E}">
        <p14:creationId xmlns:p14="http://schemas.microsoft.com/office/powerpoint/2010/main" val="1371768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6B66D-1B52-496A-88E4-A76058AA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3F413-B7E5-44AA-A379-9D5794F4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BD4C5-8DCF-4801-9367-BC44D9F6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8701-E9BB-4D1F-ACF6-FEC9BF4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09580-20A4-4462-9DFE-34E172C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A4B2F-AB3C-4B59-81A4-4337A04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16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F5C91-297A-4108-B8F2-4FD45078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E39EE-D1E6-4F38-8202-DC04DF2A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핵심 문제 데이터: 영어 vs 한국어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A071D-C085-453D-8F21-89205AF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기준선 A만 놓고 보면 영어와 한국어 사이의 격차가 바로 보인다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35CAD-3ED4-4735-ABFB-6D133E6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153A7-A36F-4E86-BA08-1EA374E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779F8-139F-4C04-B533-4C65096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잘 막지만 한국어 의미형 PII는 절반 수준까지 떨어진다.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926B-27ED-4650-8303-EC3609A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A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38274-E2E8-4AC2-A98E-498FC3AD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F0E6A-69F6-44E6-B129-D9BF5E95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영어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CDB4D-8DB9-442D-A561-5A83D80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4DF18-6ADB-4D83-BD44-1F0C78D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48F44-54CD-4343-A252-42726BBD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한국어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5033F-5102-4E5A-8C77-8F40B9AD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0F88C-AD46-441D-941E-E1A4E5B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01696-BB9F-474E-BEA1-442B59F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한국어 의미형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37C7C-B41C-4F13-8343-05D397D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6858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914400" y="2724150"/>
          <a:ext xmlns:a="http://schemas.openxmlformats.org/drawingml/2006/main" cx="64389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305e6388b543b5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A663E-F4CA-42F2-9098-424DA53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CDB5A-1E6C-4DD1-8001-A59CA578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2B5D7-B940-4C3D-9959-21A21DA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-29.51%p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66FF4-A1EF-48D6-8866-4D8CB44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vs 영어 격차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AE7D3-0812-440A-8DCA-A407AEF2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F825E-A819-4283-AB34-0369586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789DF-27E6-4D6A-B038-F917CD4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-49.75%p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E2571-7E01-411D-8191-62B40A7F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의미형 vs 영어 격차</a:t>
            </a:r>
          </a:p>
        </p:txBody>
      </p:sp>
    </p:spTree>
    <p:extLst>
      <p:ext uri="{BB962C8B-B14F-4D97-AF65-F5344CB8AC3E}">
        <p14:creationId xmlns:p14="http://schemas.microsoft.com/office/powerpoint/2010/main" val="7320551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ECFD-93A6-46FD-B7D6-862DD64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7C547-EABC-4B42-8143-08E17087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CEBA7-EB9E-4986-AEC9-476602B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332C-9618-4DE2-BEA6-65F6E4E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FA6B1-7535-4FD5-ACD3-79EF17D2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744E-C5C5-4CB2-A1F2-4D29F9D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17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3828F-5D31-47EB-A7B7-166DF39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798B-9F96-45BB-B420-E19357E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무엇을 특히 놓치는가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3E7E8-F124-4290-8388-302F4FD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Baseline이 특히 취약한 PII 유형은 대부분 한국어 텍스트형 PII다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889A-5256-4B96-984F-E2F37C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BA285-053F-4A00-BAFF-4CB3407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92D7-07EE-493D-9B05-A4ADA05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session, court, allergy, company, job_title에서 실패율이 극단적으로 높다.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2286E-7B30-467D-8F02-27B59D4B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79819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33450" y="2667000"/>
          <a:ext xmlns:a="http://schemas.openxmlformats.org/drawingml/2006/main" cx="75247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f8b17ea0a24ece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3248B-1604-455C-B3FA-8C01166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457450" cy="3524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ECE16-9A27-4992-9BA2-5B70F18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6B897-A84B-4851-8D00-A50F5FB9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7D7F9-D0B7-4BE8-A115-D706787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7145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막대는 baseline A의 real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bypass rate(%)다.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07470-6853-4831-A8F6-0A61B12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509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FA3F8-4E8E-49CE-8C98-700295B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55670"/>
            <a:ext cx="17145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높을수록 기존 스택이 놓치는 비율이 크다.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AA326-4E5F-4925-A7A8-34F497A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76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0A250-82F7-4938-9894-96F762F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2380"/>
            <a:ext cx="17145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상위 유형 대부분이 한국어 의미형 또는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문맥형 PII다.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4D847-6CB2-4BB3-B3EA-44108A00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8E213-032E-4A68-85C1-B74B8D8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D9A76-7ABE-45C5-9C5E-F6928CC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339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95.89%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EA2C0-B203-4FA9-A7C5-8786B5C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session bypass</a:t>
            </a:r>
          </a:p>
        </p:txBody>
      </p:sp>
    </p:spTree>
    <p:extLst>
      <p:ext uri="{BB962C8B-B14F-4D97-AF65-F5344CB8AC3E}">
        <p14:creationId xmlns:p14="http://schemas.microsoft.com/office/powerpoint/2010/main" val="12086122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42074-3EB0-447D-B593-3CE02202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4416-1DD4-4C33-8305-306BA9C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3E3D1-4076-4146-82CE-7CE77FA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2DB44-7E9B-4B85-BA85-464C969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33AB-2842-459F-AB5C-9F66794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10443-AD95-4112-87A8-0E68FAD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18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2E68B-1E8B-4D69-B1A7-1BE6CF5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107C7-73A1-4429-A306-6DDB75C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전체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FD16D-9C68-4A05-96B6-BC91389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 포함 구성이 LLM Judge 포함 기준선보다 높다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1355C-1A7A-4C66-B2D4-0E1459E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CBA55-A68B-4F00-9318-CA78A28F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4B2EA-2594-464D-A8FB-A4972E0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전체 10k 기준에서도 C(+L0)가 B(+Judge)보다 높다.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4900D-8B0D-49F2-B90D-EF5B2A0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5386D-B066-40D2-AE4B-6545449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979A8-CFC2-43DF-B64C-276FC5B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03081-26AD-405D-8982-2ED030A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43EBD-913C-4AAF-A6D7-3653FDC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82CE9-A9F4-4688-A967-6B3545D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E0118-0961-46FC-9557-76F1649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CA5DA-2F0F-4C11-A138-341FFCB1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59B76-D953-4DD3-9A1C-48F6812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26D0D-169E-4448-8FF9-B6F5006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2CB69-F38F-4860-B233-BCB13D2B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096A2-8CF1-48E8-9746-0E6E346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BDAD1-E3F7-45ED-93A2-A0A3EF9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81300"/>
          <a:ext xmlns:a="http://schemas.openxmlformats.org/drawingml/2006/main" cx="67818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aaf7c57d1f4535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CB5811-392C-4D58-9B83-111CC85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CAAFCE-7D06-4EBD-9EF8-FB00E30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07F5F-FA19-4330-9288-95EA32F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015A4-CD63-463B-BB1F-811EA10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기존 스택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B9C59-A906-486F-9B14-87D0583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B56F1-4847-4D8B-8F9D-325A6F3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7E39B-11D5-4DA4-B7E2-8129F79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+3.36%p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0CDF9B-2CEC-4873-8A97-199543A9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C가 B보다 높음</a:t>
            </a:r>
          </a:p>
        </p:txBody>
      </p:sp>
    </p:spTree>
    <p:extLst>
      <p:ext uri="{BB962C8B-B14F-4D97-AF65-F5344CB8AC3E}">
        <p14:creationId xmlns:p14="http://schemas.microsoft.com/office/powerpoint/2010/main" val="2005605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50CFF-EA94-4DB4-A3C9-D239838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0629-9D2E-4E7E-924F-D56F584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AC67-A294-433D-AC95-AD26A5B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36588-F776-4ECF-AF9E-53FC7BB8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69983-9F40-47BE-8A3F-DE5CDEF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16502-615E-4281-9161-AA4BEDA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19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81617-DF0F-4B28-A2C6-A4F73FE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8AB2B-B183-44AC-9CF5-DB9C5AF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한국어/영어 분리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3EBC5-5DA6-4B4A-A60B-F149D54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개선의 대부분은 영어가 아니라 한국어에서 나온다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47248-5037-4EC3-82C4-5290D36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4C4CD-CB4B-4E3A-B11B-700E3C0D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2B4C9-C21A-48C3-B032-FA16F4A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포화 상태고, 한국어가 실제 개선 구간이다.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34F7F-0D23-46DF-B300-8BABAF91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DDF61-6847-4126-8D2C-F280A82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A20EB-CFFE-4184-B0C4-D11002E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FA60A-69A2-4B78-B527-F614B74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FB2B9-97E1-4B3F-9DB7-4A88E2F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ED79C-949A-4456-B066-1FD0FC2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21B03-AE7A-44B1-9F94-F75CB7A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2641F-C1BD-42FE-BCCD-95EBBAA8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B2E67-4B17-45EC-B73C-F4108AD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0FAFB-A096-4069-B8EE-26E6418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A29A1-936F-4029-B4A1-E38F986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FB7A4-2927-457C-833F-F2CF44D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311CC-FBFB-4A6C-80C6-4FD7343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8096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24150"/>
          <a:ext xmlns:a="http://schemas.openxmlformats.org/drawingml/2006/main" cx="763905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6f3e9623043ac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E6D8-F57A-47B4-AD5A-0C997E8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0C8292-FE28-41A5-BAD7-747141F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E0E25-5801-465F-ADB5-A79F7271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AF791-D5BF-4052-AA0E-321C647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영어는 이미 포화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9AE62-4314-4805-AF4B-D1EA9A4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A0239-8BA5-459A-AB29-01FF3B5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F67FC-F686-4F83-A5B6-9DD9CA47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96.08%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4FBDA-0F83-485E-ABDB-FCAC2FC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전체 스택</a:t>
            </a:r>
          </a:p>
        </p:txBody>
      </p:sp>
    </p:spTree>
    <p:extLst>
      <p:ext uri="{BB962C8B-B14F-4D97-AF65-F5344CB8AC3E}">
        <p14:creationId xmlns:p14="http://schemas.microsoft.com/office/powerpoint/2010/main" val="319832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81DB-ECDE-4196-807F-4FABD81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3250-2BA4-431E-ACF6-269C81A9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0BA66-1E5B-454B-A4BC-0FF1299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AB398-8932-4006-A4BF-D76DAF56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AD5A-BC1E-462F-9A25-E4DB1F3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E0F4-53DD-445C-B6EC-B6272BAB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94C60-2773-46B2-AD16-5496CE12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2C667-B392-4488-8E9C-42D125B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한국어 의미형 정면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6833D-0B9A-4A56-A3BE-AE11A766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 발표의 핵심 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DD9F4-1CF4-4C70-B164-038B47CA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31F39-9A52-445D-BD3F-E4A4433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10106-E79D-474F-9C80-FCFF7EB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L0가 GPT-4o-mini Judge를 한국어 의미형에서 +8.99%p 능가한다.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F120-561C-469E-9045-90433E2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3E5D-8CFB-4DBB-843D-5531C4C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6E8D1-C95B-4B6E-B203-3DC8779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DA4BA-DF35-4713-9197-927526A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C37DF-8047-44EC-BD58-2F222E89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1FFA6-5321-4B14-9A4E-83B2BA3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A166D-5497-46C6-9C2D-5C3174F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79A7C-94D5-456B-A42B-8D0A2C7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191CF-2D5B-4666-BE52-738C4B1B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313E1-04DF-4ABA-AF34-17DBA7A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CD862-6C7D-47D1-8D54-66F617B8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502C9-C364-47B5-87CD-53969E6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C53DD-CD88-4D1F-8D04-090BA31B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81300"/>
          <a:ext xmlns:a="http://schemas.openxmlformats.org/drawingml/2006/main" cx="67818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a69ccee8eb40b0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8F2AE-DDC0-4A8D-9788-8DEE8B8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60511-2C41-4EE0-8AFF-B68920E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8B484-6944-4EA6-9BC2-CCEC75F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2BD58-B326-46E3-9A1A-0563F6A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기존 스택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33C64-E3E4-4B89-815E-AF456D4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568FD-BB14-4225-A75D-91CEC0B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5E81B-98AA-4BB5-A365-1287478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C4304-0249-4467-A9E2-16C7964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C가 B보다 높음</a:t>
            </a:r>
          </a:p>
        </p:txBody>
      </p:sp>
    </p:spTree>
    <p:extLst>
      <p:ext uri="{BB962C8B-B14F-4D97-AF65-F5344CB8AC3E}">
        <p14:creationId xmlns:p14="http://schemas.microsoft.com/office/powerpoint/2010/main" val="20312337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564B6-1A92-49D3-A4F1-A4B22A5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2E055-88AD-43AD-B2B5-006B2FF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C3E51-A882-4695-BE96-6979CDD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45DE7-0B17-4367-B572-F33C120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A950-152B-46A1-BC83-6B64D27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B0CDD-AFDA-4D7B-B20E-101E2314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21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5353-893C-477A-A6DA-B39BEE0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4DA3C-9A85-44A3-8241-378FB6F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A8ECC-A2ED-4CE9-B7A0-BF89EE6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단독 수치를 따로 보여줘야 보강 계층이라는 해석이 정직해진다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75861-8C44-4E7B-BB6F-BDC77E9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0B927-2A5F-4EB1-96D1-CAEAB01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8395E-87B4-4F49-8401-5FE7301C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53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L0는 단독 엔진이 아니라 한국어 보강 계층으로 보는 것이 맞다.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B517B-9D59-4BDC-AC58-D34CAD9B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EB65F-3890-4022-8CAD-E12846A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C23BE-4CDD-4F79-9DAA-D71447F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30.96%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90583-E1CD-42AC-9DEA-BF5DFA9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전체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FA1DF-1979-4CDE-B25C-85CE4C4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4656D-05CF-4553-8BF4-9A8A282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07AFC-E6A7-4732-B87A-D3CFB68B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47.54%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9219C-0ABF-4348-8FBE-AAC12A6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FE50B-6509-4B38-8065-3B308DA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066DF-38D2-4F66-BFA3-04C85E7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792A6-4AC1-4321-A91B-AF5123F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80.65%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76AD8-BD72-48F5-9038-9047BB43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의미형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C8F1A-CF93-46E3-899C-B88358D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DF51F-2A56-4897-A5AA-9A5875C9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A837E-7B68-48E8-8FB4-F5E8121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0.00%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DA032-339A-4F0F-852A-A488CCE9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F39EE-F86F-49E2-A163-D23AF57C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267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9F99B-1073-4D3F-8381-77F458F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B71D2-8F88-4123-844D-C9359D40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한국어 의미형만 놓고 보면 80.65%로 강한 편이다.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0CE23-B3DB-4D69-AD3A-61605329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82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E0CA3-0379-4D28-976E-F91DCC3C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3301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하지만 영어 0.00%, 전체 30.96%이기 때문에 전체 보호 엔진으로 말하면 과장이다.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0F4EC-ADC7-4463-A78B-79AEC963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49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275136-04F0-4CA8-8BBF-C00DF2A5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7972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L0의 정체성은 '한국어 보강 계층'이 가장 정확하다.</a:t>
            </a:r>
          </a:p>
        </p:txBody>
      </p:sp>
    </p:spTree>
    <p:extLst>
      <p:ext uri="{BB962C8B-B14F-4D97-AF65-F5344CB8AC3E}">
        <p14:creationId xmlns:p14="http://schemas.microsoft.com/office/powerpoint/2010/main" val="9966178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2189D-23EB-47F9-8721-75F612C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1C7B1-CF6B-4930-AA6C-5D907AA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A869-647E-4C62-8D76-4ABFE97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AEF1D-A89A-40C0-BF99-62DF967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FDB22-B284-431D-AEC2-9BEE159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287FD-A39F-4A31-B131-14CCDA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22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B53B-FCE8-48B0-89BD-3959059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08CAC-8DCD-4129-8282-1DEF3DD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성능의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22D00-C838-4CFB-BC5E-AFE4DB7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무엇을 잘하고 무엇을 의도적으로 하지 않는지 분리한다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3BFB4-44AD-4529-8CBB-F7C8041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3BA7-544A-4264-A309-275EE73C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08F35-22FA-41F7-82B5-11BD222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77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L0의 강점과 한계를 같이 보여줘야 발표 논리가 정직해진다.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1D96E-5153-4E26-80E3-ACB0F3D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713DB-AEE2-421D-922D-4CCE7F6E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9A7B4-2EC1-438F-ADD0-096E25B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잘하는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8F2AC-3E49-4743-8C64-18F9DCA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의미형 80.65% 한국어 의미형 PII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보강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9E8F3-5818-4577-93B8-00FB851F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A3B2B-CB50-418B-9C1C-9333035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77FD-35C5-40BE-8ED1-C451C5D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의도적으로 안 하는 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6EA2F-12C1-409A-B10C-183DD79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영어 0.00% 영어는 기존 스택에 맡김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09949-AD96-4CE3-A912-C9D07220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7E208-E115-4060-B295-B372560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6F951-FACC-451F-AACD-D60D295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약한 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CC2A6-D130-4E5C-94BA-ED16F3FA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checksum 18.58% 체크섬형은 기존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스택이 더 강함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3A6CE-DF49-4685-9169-88687996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4419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8707C-086D-4505-8B40-52FE4A4F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441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36916-5553-4FB9-BA90-7D956F1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보호 엔진이 아니라 한국어 보강 계층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8D795-931F-41F1-8903-3368F61B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407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발표 해석</a:t>
            </a:r>
          </a:p>
        </p:txBody>
      </p:sp>
    </p:spTree>
    <p:extLst>
      <p:ext uri="{BB962C8B-B14F-4D97-AF65-F5344CB8AC3E}">
        <p14:creationId xmlns:p14="http://schemas.microsoft.com/office/powerpoint/2010/main" val="8095615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67F53-6EA5-42C5-9433-59ECD92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AFB9-F53D-49FC-9CE7-CF61953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BA5B6-FF46-4313-B6A7-71D24FA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9B840-E5F0-4167-A77C-5158EE5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22FCB-9A70-4EFF-8982-3710A99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FD82-7E78-4047-8F76-C7C59715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23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11E2-F294-4A6D-8BD6-8E90D06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F0DE0-E4B9-4262-961F-06417DF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통계 검정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AF97-248F-4E4B-BE4E-FA9AF927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숫자 차이가 우연이 아니라는 점을 B vs C 한 장으로 정리한다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1D777-E491-4148-B629-CDF17602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477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4D259-50C4-4B7F-BAF1-190C817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13D0F-0B23-4169-A16A-BF44739B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15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B(+judge)보다 C(+L0)만 맞힌 케이스가 훨씬 더 많다.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DB780-993E-46DD-9E81-D7E4D8E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6572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90600" y="2762250"/>
          <a:ext xmlns:a="http://schemas.openxmlformats.org/drawingml/2006/main" cx="60007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344191807643f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4C361-5332-43DD-9331-ED0C829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36766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C330B-9FCA-40FF-835E-D592011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67DDA-FA2C-4DA1-B490-FCAA0DD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66B9D-6C08-4380-9032-1DF332F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291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D24B6-76F3-422C-9099-44A6CE62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B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B10E1-C473-4F0D-803B-39758A6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2EB08-9798-46FB-A477-AB5B8AD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42375-79B6-4258-82F6-47034E79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627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FB4F3-0712-4C3E-94A0-E586497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C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D9268-5228-4402-8AD1-4519705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302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A547D-83A7-4D09-BB90-270DEA32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2E80F-F79F-4611-B797-6297EB1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336건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B2BB3-D5A8-4BF1-BB6D-7FBB498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F62DD-9F82-4C4E-B925-94E77D9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302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 &lt; 2.04e-28</a:t>
            </a:r>
          </a:p>
        </p:txBody>
      </p:sp>
    </p:spTree>
    <p:extLst>
      <p:ext uri="{BB962C8B-B14F-4D97-AF65-F5344CB8AC3E}">
        <p14:creationId xmlns:p14="http://schemas.microsoft.com/office/powerpoint/2010/main" val="6170015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6FC6-9461-4130-9AA7-950CA70A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0FC52-BA41-46EC-B06F-A4DDF1F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A46B2-CEC1-492A-A0F0-6B37EA8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598A1-E86E-4825-B575-BD87C30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E3B86-EB34-47A0-BD26-210922A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26404-5B8D-4CD0-863C-821807C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24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F919F-35CD-4392-8FDC-E8CD7D1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983DF-6961-425D-8ED7-D42B343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구성 요소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182F-248F-4147-857C-9B07048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효과의 대부분이 정규화보다 사전에서 나온다는 점을 분리해 보여준다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FA986-2210-4E88-A745-5598E31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8486A-791A-42EB-A0D1-21B97193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5BD41-8992-467E-88AA-3F019AE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의미형 개선의 약 96%가 사전에서 발생했다.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533A7-C491-4C10-A8C2-022A65FB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67437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3ad8ea99e408a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3EC83-C3C5-4407-88BC-0E1AFEC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43569-B191-4092-B2B8-3D20C30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0E74-4324-4251-AF97-49135B6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CD19C-05BF-4AA6-BCA2-C4BBC35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적용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2D5F8-70CA-46B8-97D8-C55A135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460E9-EFB0-4B2E-8DFD-9C25013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13C9E-6675-4F38-9B3F-4D3D5B1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5486A-0A68-4F17-9612-034A857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적용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822AD-F0C1-43A1-9E7E-2DDD002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597D5-2058-4DD9-9820-8629F22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D71D1-ADE7-4074-AF10-E7337A3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+1.14%p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8695F-D41D-4D28-89C3-7533EAC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시너지</a:t>
            </a:r>
          </a:p>
        </p:txBody>
      </p:sp>
    </p:spTree>
    <p:extLst>
      <p:ext uri="{BB962C8B-B14F-4D97-AF65-F5344CB8AC3E}">
        <p14:creationId xmlns:p14="http://schemas.microsoft.com/office/powerpoint/2010/main" val="19937289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05CDD-BA85-40B5-A386-25D9CC75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4142C-95FA-4AE9-B102-BD3BABB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98E95-20F0-4BDC-BE91-B5E33F04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1C97C-0AED-484B-B8D2-1E90369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35B8D-E144-418D-ADA1-4D2A555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682F-7BA9-4C31-AEA7-D75092E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25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DF2F9-487A-495C-829C-6242593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6F44F-9A1A-4779-9237-13EB062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지연과 운영 비용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AC16-424A-4361-A0B0-09399C4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L0는 Judge보다 빠르고, Judge 호출 자체를 크게 줄일 수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FDBE4-74D0-404A-AF98-66557370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F8FC5-4271-4C7C-BEAA-8F2393D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C3157-0013-4CD2-9F90-2703CA3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C(+L0)는 B(+Judge)보다 훨씬 빠르고, Smart Cascade와 결합하면 운영 부담도 낮아진다.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031BD-8B9A-438A-8826-E65CC99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9911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77896-B3BB-4F44-9B9A-E7D8856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p99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CF305-15C4-4360-A83E-3705DE38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019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7F380-E314-46F8-8C9F-99DF0D2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141F0-B03C-4EB0-8744-B27051C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4,819ms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048D9-F957-4529-8FF4-B28BFCDA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3623A-5444-4C37-8E5C-2EF2D22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019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482EB-728F-4587-A60E-446E51E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05189-76DC-4DD5-83AC-463BD26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830ms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2572-409E-457B-90C0-17DDFA12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588EF-5577-404B-81BA-6A9E535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2019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323A1-CA65-45FD-8822-372D0C9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9C79E-C3DB-4002-8A1F-9986A5B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135ms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FD195-D1AA-43F7-82E7-EB4FAA2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L0 단독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226F3-266E-4F22-86AA-808A803A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2197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C33CA-4FFB-495F-AA88-9FF515B2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1만 건 요청 기준 운영비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2EE70-867A-4A45-B28F-50E0E79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F3315-77DC-4492-B18B-C60E690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D2ED67-2F90-4388-9DCF-C7AB226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D9421-20F1-4AAA-95E2-31314EF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784F1-EBDA-4080-8F1A-6B592C41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17DBA8-EBC1-46A2-92BC-36831EC3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8BFF36-EEED-4FF9-8836-ED63416B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$1.27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DB80E-76AF-4F1D-A671-BF9097C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1만 건 기준 추정 절감액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9C277-257C-4DD0-8BAE-57DA373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8319AB-E91F-43AD-BF8D-70BDA26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62330F-5753-4CB7-B980-D5EBFE4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3B0FE6-E4E6-48C4-8A03-8797092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최종 TRUE 유지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A6B708-0CD0-4AE5-A774-780E581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443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동일 Judge 호출 가정 기준 추정치</a:t>
            </a:r>
          </a:p>
        </p:txBody>
      </p:sp>
    </p:spTree>
    <p:extLst>
      <p:ext uri="{BB962C8B-B14F-4D97-AF65-F5344CB8AC3E}">
        <p14:creationId xmlns:p14="http://schemas.microsoft.com/office/powerpoint/2010/main" val="2560178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5DAF5-6B83-47E7-8AC6-2E4CB23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83500-A3A6-442F-81B1-36DB009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5979A-81E0-439A-AA6D-433FFCC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90960-9372-4A23-A9FD-E02C9322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A917E-0E80-4E81-BF7E-5C10C3AC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5B0B7-99E5-43FC-92C4-22A8BD8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26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F87E8-D17D-4AF4-9771-11218628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0EAD9-E8D3-45E0-8114-0852D380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스마트 캐스케이드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80A21-A747-4000-8006-5D2D7E1D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L4 Judge를 필요한 경우에만 호출해 비용과 지연을 줄인다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C6D55-70C9-48CF-9898-EE96EF9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00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39F03-AACA-4ED4-BB45-6B571B7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350F5-FEB3-4DE5-B442-06194B8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67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10,000건 중 568건에만 Judge를 호출해도 최종 TRUE rate는 그대로 유지된다.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23BFB-1DE0-49E8-8BB0-D3C2825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971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11DEE-028F-46E8-B155-7A078A7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50452-4ECF-4186-9687-92E030E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전체 케이스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D98B6-7D2E-493F-9BCC-C156BD0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382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FE9AA-109C-427E-A96A-CCC4743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7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9,432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FFBE6-07A6-4B02-9636-2513A79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L0~L3에서 neutralized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7DD21-2736-40F9-A807-7F83B543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34CAB-841E-4859-A491-68327C21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FAC98-8A20-441A-8E60-8F871907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 Judge 호출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34F4F-8AE4-48FB-BC07-3F1633F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827A2-9EC6-49FC-B187-34C42E7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72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F7A37-95EA-4450-AD9B-93FECEA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673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L4가 추가 회수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61B97-9899-42BC-A8EE-AA936C6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67249-69DE-4628-9B72-B818FEB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5DBE5-A7C2-4253-987C-F0C5222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28345-E987-4A1D-9CFE-8579A9A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E8512-6EBD-4A1A-88D1-7786600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61970-67EA-4CA6-B732-88AD3A0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22886-72AB-471A-AAAE-FD633AC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5AAB0-02B1-4729-A8CF-3782DBB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최종 TRUE 유지</a:t>
            </a:r>
          </a:p>
        </p:txBody>
      </p:sp>
    </p:spTree>
    <p:extLst>
      <p:ext uri="{BB962C8B-B14F-4D97-AF65-F5344CB8AC3E}">
        <p14:creationId xmlns:p14="http://schemas.microsoft.com/office/powerpoint/2010/main" val="9102491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6769-CE86-4FD4-B085-EF6DB589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D9DB-D480-4025-9867-06B44202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8250D-B437-4253-BBF9-8A6D268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34716-F529-47CE-83BD-F2D194C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9EFA9-E4B5-4CFA-AC27-3714962A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91B5C-2C30-4E82-BA2F-896AF46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CC0C-EA3D-479B-9D2A-0E53A17F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B63B5-9CFC-4B57-ABC2-A4C7C56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강건성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B427F-362B-4B23-8586-F37C7E4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데이터를 더 어렵게 바꿔도 L0 우위는 유지된다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0EB2D-460C-4D9A-ADBD-7828FB4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BB66-6298-4AAE-8C18-143303F7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97EC-522E-4EC1-8B45-8B192E9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의미형에서 B-C 격차가 +8.99%p에서 +10.65%p로 오히려 커졌다.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7C83D-B414-4D5E-B61E-A8FD7B1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33450" y="2724150"/>
          <a:ext xmlns:a="http://schemas.openxmlformats.org/drawingml/2006/main" cx="67818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ba014e19b84a33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240D-29C7-4AEE-A6EC-7487C3D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44247-7FD6-4139-9C82-53B961D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5A41B-A722-44BE-9C24-EDDF7D3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8F52F-580A-46C1-A282-76E9A4E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v1 격차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FA6DF-3C86-430A-93B0-7EF5ADEF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A959D-D6CC-48C3-AE20-A9AD8585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7B3CF-7715-4600-A35E-8C10410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+10.65%p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D617B-35DF-4336-98E4-7657605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격차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D9ACC-9E1A-43A6-9595-3372B45E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C020F-1F0C-45CF-8783-BFDBB5D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B9CFE-725F-41CA-8F0D-3E5B185B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94.99%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FEF81-7937-44B4-B190-23A74CF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전체 C</a:t>
            </a:r>
          </a:p>
        </p:txBody>
      </p:sp>
    </p:spTree>
    <p:extLst>
      <p:ext uri="{BB962C8B-B14F-4D97-AF65-F5344CB8AC3E}">
        <p14:creationId xmlns:p14="http://schemas.microsoft.com/office/powerpoint/2010/main" val="820913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B803-0CDE-4B11-81AB-4F115BC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26759-849E-4EAB-84C6-BFC74F1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CA2A-0A56-4957-9774-F0B5060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0A871-D761-44E2-91B3-974DA02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B2B97-A984-4D05-9FB2-B8E7C89F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971F1-EB30-4147-965B-DD352FA6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28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EDAE8-179C-4491-A8AD-37C81E8E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C1DBA-770D-49C3-B1A2-4AF7E59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오탐과 운영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A0DAA-2CC5-47DF-90A0-7D24827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운영 가능성을 말하려면 정상 문서에서의 오탐부터 보여줘야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A5422-EA9B-4C5C-A602-863B0BC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79B8-ED19-41BB-B6FB-33B1FE4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59F4C-FC11-4541-892B-AE7A211B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01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정상 한국어 문서 50건 기준 FP는 2%였다.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215AB-B0A2-4E91-AB7E-C74C076A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D0AD1-C56C-4298-AF1D-78A1D650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06A9C-F64C-4F93-8AF8-A913860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02469-8F28-4EE1-B383-B77460D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FP 비율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41E4B-8335-47B7-A977-0D3E4488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0F6B8-AABF-4269-B577-2506039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471AD-F5BB-4549-8EAE-050A770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C5832-EF51-44AA-8D45-82206C7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정상 한국어 문서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BF769-B40D-4010-938E-83DB8EA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69D52-0CB7-47E6-8557-AF1CA12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98FBC-4FB6-408F-B9B5-780D3D9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0C87-F32A-4C43-BB01-3D5A73A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오탐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96386-AE31-4A8D-A39E-48753DF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0229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347C9-2630-4060-A54A-25868D47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해석 포인트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43945-0F5E-4D19-B0FB-1F8171F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BD705-B8CC-4690-BDAD-063D5C48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5631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현재 저장된 결과는 정상 한국어 문서 50건 중 1개 문서에서만 오탐을 기록했다.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3F8A8-57EE-4314-871D-20EEAD11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6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456F7-2AFC-4DEA-9915-A2889A40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71160"/>
            <a:ext cx="95631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오탐 유형은 부서명 계열이었고, 운영 규칙 보정 대상으로 해석할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8814366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7498-EBD2-4700-810A-2606C6A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6435-A5A2-42FD-B5D8-16C74CF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A4EBD-2DEC-4E24-B95C-307418E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08D68-8232-4530-8B84-54297D6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A73E5-8E8B-41F2-B67A-FCCFE57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CC83-398F-4746-B8C7-D71E675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9CDF-9194-4405-96E1-C9C1543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BB0EB-B881-41AE-BE4A-FFFD70C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중간발표 시점의 성과와 남은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BC8DF-3C3D-456E-B39C-34F81D2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이미 증명한 것과 최종발표 전 보강할 것을 분리한다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E963-C6AD-43F8-BAD2-E43864A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1E997-FFB4-4FC5-9C29-F5FE493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95F1-EBC2-4192-81F1-24C5986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901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중간발표에서는 이미 증명한 부분을 선명하게 말하고, 남은 과제는 과장 없이 적는 것이 중요하다.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7371-1E27-4CA8-B351-6C68F29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DCF2-D178-4195-A9E3-940EBE4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73A8F-927D-469F-B08D-A5A7791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이미 증명한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884F2-F512-479E-B58E-E530312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4F2F7-4D30-481E-8AC3-47B5AB5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vs 영어 성능 격차를 10k benchmark로 확인했다.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A1816-E479-46C6-AF17-404CE63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E2171-B9ED-407B-AB93-4EB1F47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의미형에서 L0가 Judge보다 높다는 점을 증명했다.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BBD9F-3465-47D0-8154-0AF6E61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23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724F7-5913-4CD1-A046-CA1F0AB9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713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McNemar로 B vs C 차이가 통계적으로 유의함을 보였다.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9563C-08A3-4204-B06E-5B0135F3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9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34B9C-55E9-4D09-8D49-4EFE114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432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latency, cost, smart cascade, FP로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운영성도 제시했다.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5BB8F-9816-49F2-98EC-952B4B47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최종발표 전 보강할 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3007C-44A7-497B-A8C9-27A52FF4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4117D-928D-444D-947A-8B9039D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output-side leakage 평가 추가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E252C-CF1E-4DC9-9AB5-8112C03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F0B0E-80ED-4672-9F85-6564DBF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prompt injection 결합 시나리오 확대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A510E-D5F3-4541-A3D0-67C45F71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023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F822C-FD0F-4849-8324-6702E44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713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신규 PII 유형과 외부 baseline 비교 보강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FCAD9-12A0-4A09-B4EB-69DB8FD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D77FE-7788-4798-89B0-6A84534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5880-B161-4651-A120-7E086F0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완료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C5421-6452-47D8-83E2-2615FAE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핵심 가설 검증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9C89F-704C-42D3-A39C-646DDF5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5280F-1B14-4C57-92A1-A5E8BC9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EE7E1-8664-4E49-818A-2983248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최종발표 과제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C88D2-1349-4185-B037-F571895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확장 검증</a:t>
            </a:r>
          </a:p>
        </p:txBody>
      </p:sp>
    </p:spTree>
    <p:extLst>
      <p:ext uri="{BB962C8B-B14F-4D97-AF65-F5344CB8AC3E}">
        <p14:creationId xmlns:p14="http://schemas.microsoft.com/office/powerpoint/2010/main" val="6419914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7498-EBD2-4700-810A-2606C6A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6435-A5A2-42FD-B5D8-16C74CF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A4EBD-2DEC-4E24-B95C-307418E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08D68-8232-4530-8B84-54297D6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A73E5-8E8B-41F2-B67A-FCCFE57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CC83-398F-4746-B8C7-D71E675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9CDF-9194-4405-96E1-C9C1543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BB0EB-B881-41AE-BE4A-FFFD70C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민감한 PII와 비민감 정보의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BC8DF-3C3D-456E-B39C-34F81D2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필드별 마스킹을 넘어 문맥형 정책으로 민감도를 나눠야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E963-C6AD-43F8-BAD2-E43864A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1E997-FFB4-4FC5-9C29-F5FE493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95F1-EBC2-4192-81F1-24C5986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901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처방전 예시는 어떤 필드가 우선 차단 대상이고, 어떤 정보가 문맥 기반 판정을 필요로 하는지 보여준다.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7371-1E27-4CA8-B351-6C68F29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DCF2-D178-4195-A9E3-940EBE4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FCAD9-12A0-4A09-B4EB-69DB8FD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D77FE-7788-4798-89B0-6A84534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5880-B161-4651-A120-7E086F0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직접 식별자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C5421-6452-47D8-83E2-2615FAE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우선 차단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9C89F-704C-42D3-A39C-646DDF5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5280F-1B14-4C57-92A1-A5E8BC9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EE7E1-8664-4E49-818A-2983248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문맥형 정보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C88D2-1349-4185-B037-F571895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조건부 판정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35D555-C4EC-482C-8DBD-C722FA6E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실제 예시: 처방전 마스킹 비교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109A8-4C26-412A-9519-0A53ABE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476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a39cb0da04ada"/>
          <a:stretch xmlns:a="http://schemas.openxmlformats.org/drawingml/2006/main"/>
        </p:blipFill>
        <p:spPr>
          <a:xfrm xmlns:a="http://schemas.openxmlformats.org/drawingml/2006/main">
            <a:off x="1512358" y="3048000"/>
            <a:ext cx="3318933" cy="18669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90F765-E751-4185-894C-868D78CA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성명과 DOB는 차단됐지만 질환명과 약품 정보는 그대로 남아 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4B046-B1D7-41DD-9EE4-F86F2CF8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경계 판단 기준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5A1728-D20C-49EC-8BC8-1309C53D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143D91-892B-4D32-BEB3-800FC64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성명, DOB, 연락처, 주민번호처럼 재식별이 직접 가능한 항목은 우선 차단한다.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20A798-9CD0-4CC8-8826-9B334A1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3C3212-D1EE-4D99-B71A-636C26C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766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질환명, 처방약, 진료 맥락은 단독 정보일 때와 식별자 결합 시의 민감도가 다르다.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068086-0720-4ED1-80E3-35D4C76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248C30-3855-49AA-B4A0-0220912A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따라서 한국어 보호 정책은 정적 목록보다 문맥형 분류 규칙을 함께 가져가야 한다.</a:t>
            </a:r>
          </a:p>
        </p:txBody>
      </p:sp>
    </p:spTree>
    <p:extLst>
      <p:ext uri="{BB962C8B-B14F-4D97-AF65-F5344CB8AC3E}">
        <p14:creationId xmlns:p14="http://schemas.microsoft.com/office/powerpoint/2010/main" val="6419914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FB238-BEF1-4AC8-88AC-C4E1EB8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AB9F-E0D4-452F-89A4-8705DA0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3078-9D69-44FC-A0B1-ED1E38A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04B-9017-482D-917E-B1383D5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D40B0-B2CF-4822-BBA3-62887B5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54DEF-C354-49DF-864D-D839DAD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31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67E82-FA7D-40C9-A5BE-4C33A55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6FDBF-D586-4426-99C0-F8701B7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보완 검증 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B2D27-CB81-47B7-A6A9-8B6084B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외부 서비스 조합으로 한국어 PII 누락 구간을 교차 검증한다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307B-DC91-442E-8DD8-2A4361C2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56EE6-0227-44B2-8F6E-69B8E68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42B0-72F3-4248-8A1B-83F692C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86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Presidio와 Azure AI Language를 조합해 누락과 과탐을 분리해서 보는 외부 검증 흐름을 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F7A70-3308-49AC-AFA0-DE9A51EB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006B0-B475-4A5B-83B2-C098CB5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398D-EF75-4FCD-9F2E-FA571E6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1차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5802-601C-432D-ABAB-6A46513F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Presidio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regex + 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ADCCA-0AB8-4CCD-B8C1-F423C41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AAEA7-E9A0-4164-9FE6-A9BD17FF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07A1-6A33-4D8F-845B-D5992CA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2차 의미 보강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1C385-14EC-4295-A9B6-30D93D5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Azure AI Language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 Redaction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BF9ED-63E4-4479-B055-0B60A6D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0D2E5-E19C-4C68-957A-1FFFAFD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27B72-47BF-4EAF-A78B-E1BF982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3차 정책 매핑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49C04-F8A6-493B-BE68-E64CE448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민감/비민감 경계와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마스킹 기준 일치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6BAA6-9165-4D38-88FB-5306F6AA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3DE1C-8DFE-42AA-A838-5CBF057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CF6D-9564-4D3A-A183-7C5C1883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4차 결과 비교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61E80-3526-48E0-8479-7C31A27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원문과 redacted 결과를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케이스 단위로 검수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58EE3-615D-43FF-95CC-09296A7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6E679-13C0-4B59-9D8A-E2F594E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AC50D-B39C-4580-9C7A-AF424F3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5차 로그 축적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344C7-1CB0-4601-B957-4758604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실패 케이스를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사전·규칙으로 환류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1AA64-72A5-4897-9770-D9480EF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706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0D6AC-51FE-467B-B8DB-AD6746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FA7630-BA78-4AF9-AE07-EA7CBAB6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외부 서비스 조합으로 baseline을 교차 검증하면 과탐과 누락을 분리해서 볼 수 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7BA1E-59B9-465F-BC46-7321FBA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6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57399-9231-4C15-A5E9-ECB9727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7116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특히 한국어 semantic PII는 단일 엔진보다 파이프라인형 검증이 운영상 더 안정적이다.</a:t>
            </a:r>
          </a:p>
        </p:txBody>
      </p:sp>
    </p:spTree>
    <p:extLst>
      <p:ext uri="{BB962C8B-B14F-4D97-AF65-F5344CB8AC3E}">
        <p14:creationId xmlns:p14="http://schemas.microsoft.com/office/powerpoint/2010/main" val="21119424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7498-EBD2-4700-810A-2606C6A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6435-A5A2-42FD-B5D8-16C74CF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A4EBD-2DEC-4E24-B95C-307418E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08D68-8232-4530-8B84-54297D6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A73E5-8E8B-41F2-B67A-FCCFE57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CC83-398F-4746-B8C7-D71E675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32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9CDF-9194-4405-96E1-C9C1543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BB0EB-B881-41AE-BE4A-FFFD70C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남은 과제: 한국어 PII 보호 엔진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BC8DF-3C3D-456E-B39C-34F81D2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중간발표 이후에는 규칙을 다듬고, 최종발표에서는 엔진 수준 설계까지 확장한다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E963-C6AD-43F8-BAD2-E43864A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1E997-FFB4-4FC5-9C29-F5FE493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95F1-EBC2-4192-81F1-24C5986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901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중간발표 이후에는 한국어 semantic coverage를 넓히고, 최종발표에서는 보호 엔진 관점까지 설계를 확장한다.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7371-1E27-4CA8-B351-6C68F29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DCF2-D178-4195-A9E3-940EBE4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FCAD9-12A0-4A09-B4EB-69DB8FD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D77FE-7788-4798-89B0-6A84534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5880-B161-4651-A120-7E086F0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이후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C5421-6452-47D8-83E2-2615FAE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정책 정교화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9C89F-704C-42D3-A39C-646DDF5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5280F-1B14-4C57-92A1-A5E8BC9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EE7E1-8664-4E49-818A-2983248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 목표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C88D2-1349-4185-B037-F571895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한국어 보호 엔진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40B019-7FB4-489D-B402-67A43724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단기 보완 과제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840D1-8A4E-4413-BF5D-1B3794A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58195B-F205-4D45-8F3C-6477391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한국어 semantic PII taxonomy를 더 촘촘하게 확장한다.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473365-8D54-4BE1-84EF-54B4CA8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27782-F76E-44A9-A128-4C1548C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의료·행정·조직 문서별 규칙을 분리해 도메인 적합도를 높인다.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468D99-7E9A-494B-A48B-44C5ACF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A5C24-0652-4C60-B986-27919AF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context-aware 조건으로 false positive를 더 줄인다.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3322E-0840-4B9A-91F7-71961D8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3E5B3E-208F-4851-93B9-18F2FE8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새 유형과 실패 케이스를 benchmark에 지속적으로 반영한다.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FDBEC4-28EC-48A9-A5F6-B51899C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엔진 고도화 목표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027CC8-9BD5-47C1-BEB2-BAB30EA5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0C8944-AF5D-4BA3-A163-E46FF8ED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규칙 기반 Layer 0와 모델 기반 판단을 결합한 hybrid 보호 엔진 구조를 정리한다.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7256F7-7D31-48EF-888F-4BEB207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4E8D72-A2CA-4117-ACAB-5FD757B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output-side leakage까지 포함한 end-to-end 평가를 추가한다.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045DC3-32E4-4503-9922-B763AFB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EB423D-6345-4E21-B0CE-24C5D962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외부 baseline과 정량 비교한 뒤 최종발표용 아키텍처를 고정한다.</a:t>
            </a:r>
          </a:p>
        </p:txBody>
      </p:sp>
    </p:spTree>
    <p:extLst>
      <p:ext uri="{BB962C8B-B14F-4D97-AF65-F5344CB8AC3E}">
        <p14:creationId xmlns:p14="http://schemas.microsoft.com/office/powerpoint/2010/main" val="6419914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7D78-16A3-46CA-93AF-D606696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6802C-1403-4687-9365-DC2D52B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90D5-AA73-46F2-9361-0BBAA12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33 / 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163D-2AD7-4EAB-BAD0-88B67F2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A8F2-B41B-4115-9992-3DE6906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결론 및 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E23AF-1ACA-4B14-90E2-46BE910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C41F5-49BE-4804-8BEE-41016FE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DF58-5769-41EB-912C-5A3A85E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4F95A-6712-4F57-A57C-5C1034A0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영어는 잘 막지만 한국어 텍스트형 PII는 공백이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CC21F-AEED-408E-B8E8-298CDDC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 0가 그 공백을 메운다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6962-71FA-427E-B66B-0A06D5E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그리고 LLM Judge보다 더 싸고 빠르며 한국어 의미형에서 더 잘 잡는다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98468-1682-419E-BCCE-0615993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93B41-DD31-4D90-BAE6-C71031A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2C03D-D07C-4FF4-8018-1B07FA3A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35CC8-2935-4B57-B3E0-52D7301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영어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483EB-5453-455A-B9E1-779955A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73727-84B8-4708-82B1-4EA5C7A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772C1-71EA-42B8-A10A-4994102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4751C-49A0-4458-9E3A-D0A4606A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한국어 의미형 기준선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93079-FB46-4717-9804-95641C8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76574-BEC3-42B5-BF8C-5EBDC6D6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620A6-00D2-4B4C-BD45-B2461075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30D51-3B2F-4862-8AD0-93A96C2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 적용 후 의미형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355E4-DD44-4E84-A2FB-1DBD7566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245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8A2B3"/>
                </a:solidFill>
              </a:defRPr>
            </a:pPr>
            <a:r>
              <a:rPr sz="1350" b="1">
                <a:solidFill>
                  <a:srgbClr val="98A2B3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3575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2026-04-24T10:24:26.6370000Z</dcterms:created>
  <dcterms:modified xsi:type="dcterms:W3CDTF">2026-04-24T10:24:26.6370000Z</dcterms:modified>
</coreProperties>
</file>