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6.xml" ContentType="application/vnd.openxmlformats-officedocument.drawingml.chart+xml"/>
  <Override PartName="/ppt/notesSlides/notesSlide24.xml" ContentType="application/vnd.openxmlformats-officedocument.presentationml.notesSlide+xml"/>
  <Override PartName="/ppt/charts/chart7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8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5" r:id="rId3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4" d="100"/>
          <a:sy n="74" d="100"/>
        </p:scale>
        <p:origin x="101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English</c:v>
          </c:tx>
          <c:spPr>
            <a:solidFill>
              <a:srgbClr val="2E6AE6"/>
            </a:solidFill>
            <a:ln w="9525">
              <a:solidFill>
                <a:srgbClr val="2E6AE6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99.37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E6AE6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2C0-4E62-9963-08D993309ABB}"/>
            </c:ext>
          </c:extLst>
        </c:ser>
        <c:ser>
          <c:idx val="1"/>
          <c:order val="1"/>
          <c:tx>
            <c:v>Korean</c:v>
          </c:tx>
          <c:spPr>
            <a:solidFill>
              <a:srgbClr val="F28C28"/>
            </a:solidFill>
            <a:ln w="9525">
              <a:solidFill>
                <a:srgbClr val="F28C28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69.86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F28C28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2C0-4E62-9963-08D993309ABB}"/>
            </c:ext>
          </c:extLst>
        </c:ser>
        <c:ser>
          <c:idx val="2"/>
          <c:order val="2"/>
          <c:tx>
            <c:v>KR semantic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TRUE detection</c:v>
              </c:pt>
            </c:strLit>
          </c:cat>
          <c:val>
            <c:numLit>
              <c:formatCode>General</c:formatCode>
              <c:ptCount val="1"/>
              <c:pt idx="0">
                <c:v>49.62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2C0-4E62-9963-08D993309A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Real bypass rate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session</c:v>
              </c:pt>
              <c:pt idx="1">
                <c:v>court</c:v>
              </c:pt>
              <c:pt idx="2">
                <c:v>allergy</c:v>
              </c:pt>
              <c:pt idx="3">
                <c:v>company</c:v>
              </c:pt>
              <c:pt idx="4">
                <c:v>job_title</c:v>
              </c:pt>
              <c:pt idx="5">
                <c:v>course_grade</c:v>
              </c:pt>
            </c:strLit>
          </c:cat>
          <c:val>
            <c:numLit>
              <c:formatCode>General</c:formatCode>
              <c:ptCount val="6"/>
              <c:pt idx="0">
                <c:v>95.89</c:v>
              </c:pt>
              <c:pt idx="1">
                <c:v>92.75</c:v>
              </c:pt>
              <c:pt idx="2">
                <c:v>92.31</c:v>
              </c:pt>
              <c:pt idx="3">
                <c:v>85.71</c:v>
              </c:pt>
              <c:pt idx="4">
                <c:v>82.35</c:v>
              </c:pt>
              <c:pt idx="5">
                <c:v>80.95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292-86C6-B6175F243C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80.150000000000006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87D-4AA4-8F01-86E967203328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90.96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87D-4AA4-8F01-86E967203328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94.32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87D-4AA4-8F01-86E967203328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10k benchmark</c:v>
              </c:pt>
            </c:strLit>
          </c:cat>
          <c:val>
            <c:numLit>
              <c:formatCode>General</c:formatCode>
              <c:ptCount val="1"/>
              <c:pt idx="0">
                <c:v>97.23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87D-4AA4-8F01-86E9672033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69.86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172-4984-9085-01CAF1FAF065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86.46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172-4984-9085-01CAF1FAF065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91.62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172-4984-9085-01CAF1FAF065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English</c:v>
              </c:pt>
              <c:pt idx="1">
                <c:v>Korean</c:v>
              </c:pt>
            </c:strLit>
          </c:cat>
          <c:val>
            <c:numLit>
              <c:formatCode>General</c:formatCode>
              <c:ptCount val="2"/>
              <c:pt idx="0">
                <c:v>99.37</c:v>
              </c:pt>
              <c:pt idx="1">
                <c:v>96.08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172-4984-9085-01CAF1FAF0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 Baseline</c:v>
          </c:tx>
          <c:spPr>
            <a:solidFill>
              <a:srgbClr val="8A9099"/>
            </a:solidFill>
            <a:ln w="9525">
              <a:solidFill>
                <a:srgbClr val="8A9099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49.62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909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016-4BCF-A316-6441350219CC}"/>
            </c:ext>
          </c:extLst>
        </c:ser>
        <c:ser>
          <c:idx val="1"/>
          <c:order val="1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87.4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016-4BCF-A316-6441350219CC}"/>
            </c:ext>
          </c:extLst>
        </c:ser>
        <c:ser>
          <c:idx val="2"/>
          <c:order val="2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96.39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16-4BCF-A316-6441350219CC}"/>
            </c:ext>
          </c:extLst>
        </c:ser>
        <c:ser>
          <c:idx val="3"/>
          <c:order val="3"/>
          <c:tx>
            <c:v>D Full</c:v>
          </c:tx>
          <c:spPr>
            <a:solidFill>
              <a:srgbClr val="0F172A"/>
            </a:solidFill>
            <a:ln w="9525">
              <a:solidFill>
                <a:srgbClr val="0F172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KR semantic</c:v>
              </c:pt>
            </c:strLit>
          </c:cat>
          <c:val>
            <c:numLit>
              <c:formatCode>General</c:formatCode>
              <c:ptCount val="1"/>
              <c:pt idx="0">
                <c:v>98.85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F172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016-4BCF-A316-6441350219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 only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>General</c:formatCode>
              <c:ptCount val="1"/>
              <c:pt idx="0">
                <c:v>291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9F9-4138-8B68-6DBCE3D411BB}"/>
            </c:ext>
          </c:extLst>
        </c:ser>
        <c:ser>
          <c:idx val="1"/>
          <c:order val="1"/>
          <c:tx>
            <c:v>C only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>General</c:formatCode>
              <c:ptCount val="1"/>
              <c:pt idx="0">
                <c:v>627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9F9-4138-8B68-6DBCE3D411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KR semantic TRUE</c:v>
          </c:tx>
          <c:spPr>
            <a:solidFill>
              <a:srgbClr val="D92D20"/>
            </a:solidFill>
            <a:ln w="9525">
              <a:solidFill>
                <a:srgbClr val="D92D20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+Norm only</c:v>
              </c:pt>
              <c:pt idx="2">
                <c:v>+Dict only</c:v>
              </c:pt>
              <c:pt idx="3">
                <c:v>+Full</c:v>
              </c:pt>
            </c:strLit>
          </c:cat>
          <c:val>
            <c:numLit>
              <c:formatCode>General</c:formatCode>
              <c:ptCount val="4"/>
              <c:pt idx="0">
                <c:v>49.62</c:v>
              </c:pt>
              <c:pt idx="1">
                <c:v>49.92</c:v>
              </c:pt>
              <c:pt idx="2">
                <c:v>87.71</c:v>
              </c:pt>
              <c:pt idx="3">
                <c:v>89.17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D92D20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CA4-443C-9222-794FED16B2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overlay val="0"/>
      <c:txPr>
        <a:bodyPr anchorCtr="1"/>
        <a:lstStyle/>
        <a:p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 + judge</c:v>
          </c:tx>
          <c:spPr>
            <a:solidFill>
              <a:srgbClr val="203A8E"/>
            </a:solidFill>
            <a:ln w="9525">
              <a:solidFill>
                <a:srgbClr val="203A8E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v1 KR semantic</c:v>
              </c:pt>
              <c:pt idx="1">
                <c:v>v4 KR semantic</c:v>
              </c:pt>
            </c:strLit>
          </c:cat>
          <c:val>
            <c:numLit>
              <c:formatCode>General</c:formatCode>
              <c:ptCount val="2"/>
              <c:pt idx="0">
                <c:v>87.4</c:v>
              </c:pt>
              <c:pt idx="1">
                <c:v>84.76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3A8E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B9-4D0F-931F-8113187FD828}"/>
            </c:ext>
          </c:extLst>
        </c:ser>
        <c:ser>
          <c:idx val="1"/>
          <c:order val="1"/>
          <c:tx>
            <c:v>C + L0</c:v>
          </c:tx>
          <c:spPr>
            <a:solidFill>
              <a:srgbClr val="22A66A"/>
            </a:solidFill>
            <a:ln w="9525">
              <a:solidFill>
                <a:srgbClr val="22A66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10182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v1 KR semantic</c:v>
              </c:pt>
              <c:pt idx="1">
                <c:v>v4 KR semantic</c:v>
              </c:pt>
            </c:strLit>
          </c:cat>
          <c:val>
            <c:numLit>
              <c:formatCode>General</c:formatCode>
              <c:ptCount val="2"/>
              <c:pt idx="0">
                <c:v>96.39</c:v>
              </c:pt>
              <c:pt idx="1">
                <c:v>95.41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2A66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1B9-4D0F-931F-8113187FD8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slide. Present the thesis first: Korean semantic PII is the gap, and L0 is the proposed gateway augmentation layer.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set the three messages: KR/EN gap, why L0 exists, and why L0 is practical versus the judge.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C:\Users\andyw\Desktop\My-AI-Security-Project\PII\results\phase1\phase1_latency_precise.json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slide. Keep it short and frame the deck as one continuous narrative, not two disconnected mini-presentations.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Background slide using existing PPT assets from KDPII. The point is not yet the gateway stack; it is that Korean-specific PII starts harder than English.</a:t>
            </a:r>
          </a:p>
          <a:p>
            <a:endParaRPr/>
          </a:p>
          <a:p>
            <a:r>
              <a:t>[Sources]</a:t>
            </a:r>
          </a:p>
          <a:p>
            <a:r>
              <a:t>- Li Fei et al., KDPII, IEEE Access (used through the existing project screenshot asset).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existing no-guardrail gateway visual to pivot from the general background into the gateway-specific question.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keeps the old Bedrock experiment screenshots but rewrites the framing around what the audience should notice immediately.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Root-cause slide. One old 1k-sample table is kept as a contextual inset, but the main message is rewritten around the current 10k results.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Define the goal carefully: not a full standalone protection engine, but a Korean augmentation layer in front of the existing stack.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Gateway context slide using the existing dark AI Gateway asset. The narrative point is deployment position, not architecture detail for its own sake.</a:t>
            </a:r>
          </a:p>
          <a:p>
            <a:endParaRPr/>
          </a:p>
          <a:p>
            <a:r>
              <a:t>[Sources]</a:t>
            </a:r>
          </a:p>
          <a:p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makes the insertion point explicit. It is more important than showing every gateway subsystem.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 slide. Emphasize that the research contribution is L0, not the existence of the whole stack itself.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Normalizer slide. Keep the examples simple and concrete; no need to enumerate all 13 steps in the oral talk.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Detector slide. Separate structured regex coverage from dictionary-driven semantic coverage so the audience understands why L0 is targeted to Korean semantic PII.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overview slide. The audience should leave this slide believing the benchmark design, not memorizing implementation details.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Benchmark composition slide. Keep the count cards large and make KR semantic stand out as the central slice.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main language-gap slide. The audience should immediately see that the real collapse is on Korean semantic PII, not English.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Hardest misses slide. Use bypass rate so the pain is obvious.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Overall 4-way slide. The core comparison is B versus C, not only A versus D.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Language split slide. The key oral line is that English stays flat across configurations while Korean drives the gains.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KR semantic head-to-head slide. This is the primary result figure for the midterm talk.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Standalone slide. This is the honesty slide that prevents overclaiming L0 as a full engine.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Interpretation slide. This is where you explicitly name L0 as an augmentation layer.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C:\Users\andyw\Desktop\My-AI-Security-Project\PII\results\phase1\phase1_l0_standalone.json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McNemar slide. Keep only B vs C; do not dilute the narrative with every pairwise test.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C:\Users\andyw\Desktop\My-AI-Security-Project\PII\results\phase1\phase1_mcnemar.json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Ablation slide. This is where you justify the dictionary-heavy design of L0.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Latency/cost slide. This is a practical-decision slide, not just a performance slide.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C:\Users\andyw\Desktop\My-AI-Security-Project\PII\results\phase1\phase1_latency_precise.json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Smart cascade slide. The core message is identical detection with much fewer judge calls.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C:\Users\andyw\Desktop\My-AI-Security-Project\PII\results\phase3\phase3_l4_smart_skip.json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Robustness slide. The point is that L0's advantage is not an artifact of one dataset snapshot.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C:\Users\andyw\Desktop\My-AI-Security-Project\PII\results\phase2\phase2_v4_final_4way.json</a:t>
            </a:r>
          </a:p>
          <a:p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False-positive slide. Keep it operational: enough evidence to say the system is not unusably noisy.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C:\Users\andyw\Desktop\My-AI-Security-Project\PII\results\phase1\phase1_fp_test.json</a:t>
            </a:r>
          </a:p>
          <a:p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Midterm framing slide. Show progress and remaining scope without weakening the already-proven result story.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33ED-5C94-D526-2A3E-5A67C9D5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D6E91-3E08-493F-C392-E883CD828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CE8AF-5006-B228-0048-B42B36D8F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Midterm framing slide. Show progress and remaining scope without weakening the already-proven result story.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AB786-2C17-E280-8D50-8EA36F3548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86679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29EFC-C209-46C6-5493-D82D04F2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B642D-0C31-5BB6-D29A-325288506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D4108-5EA9-85FB-BE36-E45F8F76F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Midterm framing slide. Show progress and remaining scope without weakening the already-proven result story.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C:\Users\andyw\Desktop\My-AI-Security-Project\paper\capstone_main_v1.md</a:t>
            </a:r>
          </a:p>
          <a:p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6CF9E-58A8-3B6B-54B4-C7F6485D9F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0805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slide. Keep the close concise and metric-backed, then move to questions.</a:t>
            </a:r>
          </a:p>
          <a:p>
            <a:endParaRPr/>
          </a:p>
          <a:p>
            <a:r>
              <a:t>[Sources]</a:t>
            </a:r>
          </a:p>
          <a:p>
            <a:r>
              <a:t>- C:\Users\andyw\Desktop\My-AI-Security-Project\PII\results\summaries\run_e_final_summary.json</a:t>
            </a:r>
          </a:p>
          <a:p>
            <a:r>
              <a:t>- C:\Users\andyw\Desktop\My-AI-Security-Project\PII\results\phase1\phase1_latency_precise.json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D82762-B747-4D49-8415-D4D7AA01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ECC35BD-E849-455E-BB8C-EC44613B6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2109487-8AC0-4D5C-B597-6C035CD7F5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400D0E7-3A6E-4B3C-BA52-35589A57E3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45A53-CB0D-4F5E-B1C4-1BF2DBD46E1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399C5C-16F4-4396-87B2-6E15FCF5A1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84151FD-BF18-439D-8623-44832D23DD7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2F7F0F9-B8E7-492E-A54C-9F6F75393BE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927087D-ECBD-4336-A1B8-A0EE06EA72C1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CABB3E-A853-43B1-8CA2-CD379564A0F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581025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C9AA77-24BB-4FA7-B108-DB759F17031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95250" cy="52959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22E75E-6ACF-4035-A036-9BD72F547C09}"/>
              </a:ext>
            </a:extLst>
          </p:cNvPr>
          <p:cNvSpPr>
            <a:spLocks noGrp="1"/>
          </p:cNvSpPr>
          <p:nvPr/>
        </p:nvSpPr>
        <p:spPr>
          <a:xfrm>
            <a:off x="857250" y="9334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A66A"/>
                </a:solidFill>
              </a:defRPr>
            </a:pPr>
            <a:r>
              <a:rPr sz="900" b="1">
                <a:solidFill>
                  <a:srgbClr val="22A66A"/>
                </a:solidFill>
              </a:rPr>
              <a:t>MIDTERM PRESENTATION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59F081-F606-4C1E-9DA3-8833FE693BDE}"/>
              </a:ext>
            </a:extLst>
          </p:cNvPr>
          <p:cNvSpPr>
            <a:spLocks noGrp="1"/>
          </p:cNvSpPr>
          <p:nvPr/>
        </p:nvSpPr>
        <p:spPr>
          <a:xfrm>
            <a:off x="876300" y="1276350"/>
            <a:ext cx="4953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한국어 LLM 게이트웨이에서</a:t>
            </a:r>
          </a:p>
          <a:p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계층형 PII 가드레일의 한계와 Layer 0 설계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85E095-A257-47E1-8463-4D5FA3FA6455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495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영어 중심 가드레일의 한국어 공백을 Layer 0 (L0, 팀 내부 v0 표기)가 메운다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9CA8748-9020-4804-AB90-A20FDA675AED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F68777-07C5-4BDE-B27F-7C0037022078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영어는 이미 잘 막지만, 한국어 텍스트형 PII는 기존 스택에서 크게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무너진다.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AE07D77-16BB-41BC-A5C2-1E8E8F16B332}"/>
              </a:ext>
            </a:extLst>
          </p:cNvPr>
          <p:cNvSpPr>
            <a:spLocks noGrp="1"/>
          </p:cNvSpPr>
          <p:nvPr/>
        </p:nvSpPr>
        <p:spPr>
          <a:xfrm>
            <a:off x="914400" y="444627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5ED84-8CE5-4FFB-90CE-1AE25047E2E8}"/>
              </a:ext>
            </a:extLst>
          </p:cNvPr>
          <p:cNvSpPr>
            <a:spLocks noGrp="1"/>
          </p:cNvSpPr>
          <p:nvPr/>
        </p:nvSpPr>
        <p:spPr>
          <a:xfrm>
            <a:off x="1104900" y="435102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먼저 정규화하고, 한국어 의미형 PII를 사전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중심으로 보강한다.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0F8EDB7-A9EF-400B-80EC-487CBC36041B}"/>
              </a:ext>
            </a:extLst>
          </p:cNvPr>
          <p:cNvSpPr>
            <a:spLocks noGrp="1"/>
          </p:cNvSpPr>
          <p:nvPr/>
        </p:nvSpPr>
        <p:spPr>
          <a:xfrm>
            <a:off x="914400" y="49872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7148E8-9AE7-4B34-BB89-B4E6A8E2C915}"/>
              </a:ext>
            </a:extLst>
          </p:cNvPr>
          <p:cNvSpPr>
            <a:spLocks noGrp="1"/>
          </p:cNvSpPr>
          <p:nvPr/>
        </p:nvSpPr>
        <p:spPr>
          <a:xfrm>
            <a:off x="1104900" y="4892040"/>
            <a:ext cx="46482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결과적으로 LLM judge보다 더 빠르고 싸면서 KR</a:t>
            </a:r>
          </a:p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semantic에서 더 높은 탐지율을 보였다.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0D34F4-35E2-40FC-A9AC-4EC91C5D4AAC}"/>
              </a:ext>
            </a:extLst>
          </p:cNvPr>
          <p:cNvSpPr>
            <a:spLocks noGrp="1"/>
          </p:cNvSpPr>
          <p:nvPr/>
        </p:nvSpPr>
        <p:spPr>
          <a:xfrm>
            <a:off x="895350" y="5734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2026.04  |  CCIT 통합전공 캡스톤 중간발표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09EA844-D8A6-46F7-AE1C-9C0FB53D7FF6}"/>
              </a:ext>
            </a:extLst>
          </p:cNvPr>
          <p:cNvSpPr>
            <a:spLocks noGrp="1"/>
          </p:cNvSpPr>
          <p:nvPr/>
        </p:nvSpPr>
        <p:spPr>
          <a:xfrm>
            <a:off x="6858000" y="819150"/>
            <a:ext cx="4724400" cy="5295900"/>
          </a:xfrm>
          <a:prstGeom prst="roundRect">
            <a:avLst>
              <a:gd name="adj" fmla="val 1613"/>
            </a:avLst>
          </a:prstGeom>
          <a:solidFill>
            <a:srgbClr val="101828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37C3106-957C-48B3-90FA-C487000DAF0E}"/>
              </a:ext>
            </a:extLst>
          </p:cNvPr>
          <p:cNvSpPr>
            <a:spLocks noGrp="1"/>
          </p:cNvSpPr>
          <p:nvPr/>
        </p:nvSpPr>
        <p:spPr>
          <a:xfrm>
            <a:off x="7334250" y="161925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FFFFFF">
              <a:alpha val="8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9D37F8-26A5-4679-9A5C-374D049AB4AE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83F86C-C22C-40F2-839D-15F5D8D0BEFE}"/>
              </a:ext>
            </a:extLst>
          </p:cNvPr>
          <p:cNvSpPr>
            <a:spLocks noGrp="1"/>
          </p:cNvSpPr>
          <p:nvPr/>
        </p:nvSpPr>
        <p:spPr>
          <a:xfrm>
            <a:off x="8896350" y="161925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BE7AC6-EF3D-4701-B482-55C7B8E936FF}"/>
              </a:ext>
            </a:extLst>
          </p:cNvPr>
          <p:cNvSpPr>
            <a:spLocks noGrp="1"/>
          </p:cNvSpPr>
          <p:nvPr/>
        </p:nvSpPr>
        <p:spPr>
          <a:xfrm>
            <a:off x="8896350" y="18288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87D727B-6CD2-4ECC-AA81-D881F36EB10E}"/>
              </a:ext>
            </a:extLst>
          </p:cNvPr>
          <p:cNvSpPr>
            <a:spLocks noGrp="1"/>
          </p:cNvSpPr>
          <p:nvPr/>
        </p:nvSpPr>
        <p:spPr>
          <a:xfrm>
            <a:off x="10458450" y="1619250"/>
            <a:ext cx="857250" cy="704850"/>
          </a:xfrm>
          <a:prstGeom prst="roundRect">
            <a:avLst>
              <a:gd name="adj" fmla="val 10811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A8CF33-5482-440C-8754-28CBA6114464}"/>
              </a:ext>
            </a:extLst>
          </p:cNvPr>
          <p:cNvSpPr>
            <a:spLocks noGrp="1"/>
          </p:cNvSpPr>
          <p:nvPr/>
        </p:nvSpPr>
        <p:spPr>
          <a:xfrm>
            <a:off x="10458450" y="182880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L1~L3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B8405AC-35E2-4E37-8B34-F217B2542407}"/>
              </a:ext>
            </a:extLst>
          </p:cNvPr>
          <p:cNvSpPr>
            <a:spLocks noGrp="1"/>
          </p:cNvSpPr>
          <p:nvPr/>
        </p:nvSpPr>
        <p:spPr>
          <a:xfrm>
            <a:off x="7334250" y="308610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12F8F5F-295A-420C-AAA7-782445556733}"/>
              </a:ext>
            </a:extLst>
          </p:cNvPr>
          <p:cNvSpPr>
            <a:spLocks noGrp="1"/>
          </p:cNvSpPr>
          <p:nvPr/>
        </p:nvSpPr>
        <p:spPr>
          <a:xfrm>
            <a:off x="7334250" y="32956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KR semantic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D658A34-979B-4F6C-9FBD-4CD421CDB96C}"/>
              </a:ext>
            </a:extLst>
          </p:cNvPr>
          <p:cNvSpPr>
            <a:spLocks noGrp="1"/>
          </p:cNvSpPr>
          <p:nvPr/>
        </p:nvSpPr>
        <p:spPr>
          <a:xfrm>
            <a:off x="8896350" y="308610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71A6B6-C525-4829-A0D0-328B01323714}"/>
              </a:ext>
            </a:extLst>
          </p:cNvPr>
          <p:cNvSpPr>
            <a:spLocks noGrp="1"/>
          </p:cNvSpPr>
          <p:nvPr/>
        </p:nvSpPr>
        <p:spPr>
          <a:xfrm>
            <a:off x="8896350" y="32956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LLM judge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02734BB-4F5B-41C7-AE95-92AC1F2B8D07}"/>
              </a:ext>
            </a:extLst>
          </p:cNvPr>
          <p:cNvSpPr>
            <a:spLocks noGrp="1"/>
          </p:cNvSpPr>
          <p:nvPr/>
        </p:nvSpPr>
        <p:spPr>
          <a:xfrm>
            <a:off x="10458450" y="3086100"/>
            <a:ext cx="857250" cy="704850"/>
          </a:xfrm>
          <a:prstGeom prst="roundRect">
            <a:avLst>
              <a:gd name="adj" fmla="val 10811"/>
            </a:avLst>
          </a:prstGeom>
          <a:solidFill>
            <a:srgbClr val="FFFFFF">
              <a:alpha val="8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045DD07-258F-409F-B7D9-4A72FB84EB16}"/>
              </a:ext>
            </a:extLst>
          </p:cNvPr>
          <p:cNvSpPr>
            <a:spLocks noGrp="1"/>
          </p:cNvSpPr>
          <p:nvPr/>
        </p:nvSpPr>
        <p:spPr>
          <a:xfrm>
            <a:off x="10458450" y="32956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외부 LLM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E2ED56E-805D-4DDE-9BA2-A88888990E8F}"/>
              </a:ext>
            </a:extLst>
          </p:cNvPr>
          <p:cNvSpPr>
            <a:spLocks noGrp="1"/>
          </p:cNvSpPr>
          <p:nvPr/>
        </p:nvSpPr>
        <p:spPr>
          <a:xfrm>
            <a:off x="8572500" y="191452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E5646D29-10CA-4003-A676-BA1579B816BA}"/>
              </a:ext>
            </a:extLst>
          </p:cNvPr>
          <p:cNvSpPr>
            <a:spLocks noGrp="1"/>
          </p:cNvSpPr>
          <p:nvPr/>
        </p:nvSpPr>
        <p:spPr>
          <a:xfrm>
            <a:off x="10134600" y="191452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C6A72CD-41C0-4A0E-BB0B-A44AE11FE5D3}"/>
              </a:ext>
            </a:extLst>
          </p:cNvPr>
          <p:cNvSpPr>
            <a:spLocks noGrp="1"/>
          </p:cNvSpPr>
          <p:nvPr/>
        </p:nvSpPr>
        <p:spPr>
          <a:xfrm>
            <a:off x="8572500" y="338137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6628BB2A-80E0-485D-B162-344F39460E54}"/>
              </a:ext>
            </a:extLst>
          </p:cNvPr>
          <p:cNvSpPr>
            <a:spLocks noGrp="1"/>
          </p:cNvSpPr>
          <p:nvPr/>
        </p:nvSpPr>
        <p:spPr>
          <a:xfrm>
            <a:off x="10134600" y="3381375"/>
            <a:ext cx="304800" cy="1143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AEAC03-284D-482D-97E8-63D51C191D57}"/>
              </a:ext>
            </a:extLst>
          </p:cNvPr>
          <p:cNvSpPr>
            <a:spLocks noGrp="1"/>
          </p:cNvSpPr>
          <p:nvPr/>
        </p:nvSpPr>
        <p:spPr>
          <a:xfrm>
            <a:off x="7258050" y="4419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0D5DD"/>
                </a:solidFill>
              </a:defRPr>
            </a:pPr>
            <a:r>
              <a:rPr sz="900" b="1">
                <a:solidFill>
                  <a:srgbClr val="D0D5DD"/>
                </a:solidFill>
              </a:rPr>
              <a:t>핵심 숫자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807AA3D-EE28-4F84-82B4-B2A1D96A9C83}"/>
              </a:ext>
            </a:extLst>
          </p:cNvPr>
          <p:cNvSpPr>
            <a:spLocks noGrp="1"/>
          </p:cNvSpPr>
          <p:nvPr/>
        </p:nvSpPr>
        <p:spPr>
          <a:xfrm>
            <a:off x="7219950" y="4686300"/>
            <a:ext cx="125730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D5B7C07-2B7D-43FB-9B7D-CE5900FB1F92}"/>
              </a:ext>
            </a:extLst>
          </p:cNvPr>
          <p:cNvSpPr>
            <a:spLocks noGrp="1"/>
          </p:cNvSpPr>
          <p:nvPr/>
        </p:nvSpPr>
        <p:spPr>
          <a:xfrm>
            <a:off x="7219950" y="4686300"/>
            <a:ext cx="125730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4D1E73-5A84-43FC-B3B2-45E5C1E31364}"/>
              </a:ext>
            </a:extLst>
          </p:cNvPr>
          <p:cNvSpPr>
            <a:spLocks noGrp="1"/>
          </p:cNvSpPr>
          <p:nvPr/>
        </p:nvSpPr>
        <p:spPr>
          <a:xfrm>
            <a:off x="7391400" y="4819650"/>
            <a:ext cx="91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8E70D1-AB9A-4625-8B40-443418687FF8}"/>
              </a:ext>
            </a:extLst>
          </p:cNvPr>
          <p:cNvSpPr>
            <a:spLocks noGrp="1"/>
          </p:cNvSpPr>
          <p:nvPr/>
        </p:nvSpPr>
        <p:spPr>
          <a:xfrm>
            <a:off x="7391400" y="51816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EN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B9F3CC5-EB38-4334-9E59-48DAB6BF3D10}"/>
              </a:ext>
            </a:extLst>
          </p:cNvPr>
          <p:cNvSpPr>
            <a:spLocks noGrp="1"/>
          </p:cNvSpPr>
          <p:nvPr/>
        </p:nvSpPr>
        <p:spPr>
          <a:xfrm>
            <a:off x="8591550" y="4686300"/>
            <a:ext cx="139065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88F3F3A-6B67-4869-B2F5-55D04414A5FD}"/>
              </a:ext>
            </a:extLst>
          </p:cNvPr>
          <p:cNvSpPr>
            <a:spLocks noGrp="1"/>
          </p:cNvSpPr>
          <p:nvPr/>
        </p:nvSpPr>
        <p:spPr>
          <a:xfrm>
            <a:off x="8591550" y="4686300"/>
            <a:ext cx="13906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955DBBF-6096-4227-8809-EA88DB7B82EA}"/>
              </a:ext>
            </a:extLst>
          </p:cNvPr>
          <p:cNvSpPr>
            <a:spLocks noGrp="1"/>
          </p:cNvSpPr>
          <p:nvPr/>
        </p:nvSpPr>
        <p:spPr>
          <a:xfrm>
            <a:off x="8763000" y="4819650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545B64-37F5-47B5-AFDB-AA3C54348623}"/>
              </a:ext>
            </a:extLst>
          </p:cNvPr>
          <p:cNvSpPr>
            <a:spLocks noGrp="1"/>
          </p:cNvSpPr>
          <p:nvPr/>
        </p:nvSpPr>
        <p:spPr>
          <a:xfrm>
            <a:off x="8763000" y="51816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770F42-F96F-40DB-AB9C-F14E44379B95}"/>
              </a:ext>
            </a:extLst>
          </p:cNvPr>
          <p:cNvSpPr>
            <a:spLocks noGrp="1"/>
          </p:cNvSpPr>
          <p:nvPr/>
        </p:nvSpPr>
        <p:spPr>
          <a:xfrm>
            <a:off x="10115550" y="4686300"/>
            <a:ext cx="120015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7032E2-75B9-4A65-B789-5F9094097F00}"/>
              </a:ext>
            </a:extLst>
          </p:cNvPr>
          <p:cNvSpPr>
            <a:spLocks noGrp="1"/>
          </p:cNvSpPr>
          <p:nvPr/>
        </p:nvSpPr>
        <p:spPr>
          <a:xfrm>
            <a:off x="10115550" y="4686300"/>
            <a:ext cx="1200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89A243-ABD5-4F03-B377-206995B1253F}"/>
              </a:ext>
            </a:extLst>
          </p:cNvPr>
          <p:cNvSpPr>
            <a:spLocks noGrp="1"/>
          </p:cNvSpPr>
          <p:nvPr/>
        </p:nvSpPr>
        <p:spPr>
          <a:xfrm>
            <a:off x="10287000" y="4819650"/>
            <a:ext cx="857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EC06057-EA81-46BD-9AE7-5D723093C42A}"/>
              </a:ext>
            </a:extLst>
          </p:cNvPr>
          <p:cNvSpPr>
            <a:spLocks noGrp="1"/>
          </p:cNvSpPr>
          <p:nvPr/>
        </p:nvSpPr>
        <p:spPr>
          <a:xfrm>
            <a:off x="10287000" y="51816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L0+stack</a:t>
            </a:r>
          </a:p>
        </p:txBody>
      </p:sp>
    </p:spTree>
    <p:extLst>
      <p:ext uri="{BB962C8B-B14F-4D97-AF65-F5344CB8AC3E}">
        <p14:creationId xmlns:p14="http://schemas.microsoft.com/office/powerpoint/2010/main" val="134727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37AC68-DEC1-41C1-B81A-2A0A0F2B99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BC0AAE8-8957-4DF5-9629-220A2D4CDB0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2F0D250-138F-407C-AECD-DE34738BF34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135ED9A-4470-45FB-9DB8-7C43A412354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4BAF6B-9DD9-491F-95DB-0DA602D0DE7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88C100-EBBE-40B7-B6C7-8C5C8BCE174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36884F-AD7A-47B5-A88E-D2D14E6D94AE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CF4DA8-48EE-4965-96DB-9ADF8F98AE9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한 장 요약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5ECAC4-496B-4E73-9795-98D2A54DC2D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74A41D-8CB6-4CE1-9168-D4B49975471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45715C-06A7-4BD0-92E3-7BB20090E5AF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이미 막지만, 한국어 텍스트형 PII는 기존 가드레일에서 큰 공백이 남는다.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F4C94A4-8FC7-4F8E-84AF-14523299ECF3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4C0A71-9872-48D3-BA4B-62FA3AE9E91F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31051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8110331-0FA1-467F-895B-3D15CA48A398}"/>
              </a:ext>
            </a:extLst>
          </p:cNvPr>
          <p:cNvSpPr>
            <a:spLocks noGrp="1"/>
          </p:cNvSpPr>
          <p:nvPr/>
        </p:nvSpPr>
        <p:spPr>
          <a:xfrm>
            <a:off x="104775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15CFAD-6920-4C01-AB71-1D6C56E95A35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English TRUE detection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8BDD9F-0E3B-4828-90EA-03388D77207D}"/>
              </a:ext>
            </a:extLst>
          </p:cNvPr>
          <p:cNvSpPr>
            <a:spLocks noGrp="1"/>
          </p:cNvSpPr>
          <p:nvPr/>
        </p:nvSpPr>
        <p:spPr>
          <a:xfrm>
            <a:off x="104775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Baseline A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96F9450-9B1F-4E8F-962E-58C3E7578279}"/>
              </a:ext>
            </a:extLst>
          </p:cNvPr>
          <p:cNvSpPr>
            <a:spLocks noGrp="1"/>
          </p:cNvSpPr>
          <p:nvPr/>
        </p:nvSpPr>
        <p:spPr>
          <a:xfrm>
            <a:off x="455295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F9A4FD-101F-4868-8DCA-4F6FACD3DEC7}"/>
              </a:ext>
            </a:extLst>
          </p:cNvPr>
          <p:cNvSpPr>
            <a:spLocks noGrp="1"/>
          </p:cNvSpPr>
          <p:nvPr/>
        </p:nvSpPr>
        <p:spPr>
          <a:xfrm>
            <a:off x="4552950" y="2457450"/>
            <a:ext cx="31051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53EEA7-06AD-45EE-B50F-D39E520F3FC4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E6C868-974B-4D59-9A9D-81761C73D380}"/>
              </a:ext>
            </a:extLst>
          </p:cNvPr>
          <p:cNvSpPr>
            <a:spLocks noGrp="1"/>
          </p:cNvSpPr>
          <p:nvPr/>
        </p:nvSpPr>
        <p:spPr>
          <a:xfrm>
            <a:off x="472440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TRUE detection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C8DA358-9BFD-4E2F-B289-3FE51031250D}"/>
              </a:ext>
            </a:extLst>
          </p:cNvPr>
          <p:cNvSpPr>
            <a:spLocks noGrp="1"/>
          </p:cNvSpPr>
          <p:nvPr/>
        </p:nvSpPr>
        <p:spPr>
          <a:xfrm>
            <a:off x="472440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Baseline A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10A7EE0-6D05-44D9-B50D-44E6C3251C96}"/>
              </a:ext>
            </a:extLst>
          </p:cNvPr>
          <p:cNvSpPr>
            <a:spLocks noGrp="1"/>
          </p:cNvSpPr>
          <p:nvPr/>
        </p:nvSpPr>
        <p:spPr>
          <a:xfrm>
            <a:off x="8229600" y="2457450"/>
            <a:ext cx="31051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C53201-FDE2-46D3-91DE-CB0B6A26D0AC}"/>
              </a:ext>
            </a:extLst>
          </p:cNvPr>
          <p:cNvSpPr>
            <a:spLocks noGrp="1"/>
          </p:cNvSpPr>
          <p:nvPr/>
        </p:nvSpPr>
        <p:spPr>
          <a:xfrm>
            <a:off x="8229600" y="2457450"/>
            <a:ext cx="3105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EEDBFA-40F5-4726-A238-EE27E870BA98}"/>
              </a:ext>
            </a:extLst>
          </p:cNvPr>
          <p:cNvSpPr>
            <a:spLocks noGrp="1"/>
          </p:cNvSpPr>
          <p:nvPr/>
        </p:nvSpPr>
        <p:spPr>
          <a:xfrm>
            <a:off x="8401050" y="26289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31F37D-4995-4B33-858A-DE306C2201AA}"/>
              </a:ext>
            </a:extLst>
          </p:cNvPr>
          <p:cNvSpPr>
            <a:spLocks noGrp="1"/>
          </p:cNvSpPr>
          <p:nvPr/>
        </p:nvSpPr>
        <p:spPr>
          <a:xfrm>
            <a:off x="8401050" y="31623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with L0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5CAAB9-E87F-4302-8164-219BCC446070}"/>
              </a:ext>
            </a:extLst>
          </p:cNvPr>
          <p:cNvSpPr>
            <a:spLocks noGrp="1"/>
          </p:cNvSpPr>
          <p:nvPr/>
        </p:nvSpPr>
        <p:spPr>
          <a:xfrm>
            <a:off x="8401050" y="3810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 = L0 + existing stack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DE21269-A9BC-4685-A252-FD574E547595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10458450" cy="1485900"/>
          </a:xfrm>
          <a:prstGeom prst="roundRect">
            <a:avLst>
              <a:gd name="adj" fmla="val 512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B7CECE9-BFC9-489D-8237-2AA6ABECA24A}"/>
              </a:ext>
            </a:extLst>
          </p:cNvPr>
          <p:cNvSpPr>
            <a:spLocks noGrp="1"/>
          </p:cNvSpPr>
          <p:nvPr/>
        </p:nvSpPr>
        <p:spPr>
          <a:xfrm>
            <a:off x="1123950" y="48196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7B0ECAD-FADE-4771-B793-323356DDD1FF}"/>
              </a:ext>
            </a:extLst>
          </p:cNvPr>
          <p:cNvSpPr>
            <a:spLocks noGrp="1"/>
          </p:cNvSpPr>
          <p:nvPr/>
        </p:nvSpPr>
        <p:spPr>
          <a:xfrm>
            <a:off x="1314450" y="472440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영어는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baseline만으로</a:t>
            </a:r>
            <a:r>
              <a:rPr sz="1350" b="0" dirty="0">
                <a:solidFill>
                  <a:srgbClr val="101828"/>
                </a:solidFill>
              </a:rPr>
              <a:t> 99.37%를 </a:t>
            </a:r>
            <a:r>
              <a:rPr sz="1350" b="0" dirty="0" err="1">
                <a:solidFill>
                  <a:srgbClr val="101828"/>
                </a:solidFill>
              </a:rPr>
              <a:t>기록했지만</a:t>
            </a:r>
            <a:r>
              <a:rPr sz="1350" b="0" dirty="0">
                <a:solidFill>
                  <a:srgbClr val="101828"/>
                </a:solidFill>
              </a:rPr>
              <a:t>,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semantic </a:t>
            </a:r>
            <a:r>
              <a:rPr sz="1350" b="0" dirty="0" err="1">
                <a:solidFill>
                  <a:srgbClr val="101828"/>
                </a:solidFill>
              </a:rPr>
              <a:t>PII는</a:t>
            </a:r>
            <a:r>
              <a:rPr sz="1350" b="0" dirty="0">
                <a:solidFill>
                  <a:srgbClr val="101828"/>
                </a:solidFill>
              </a:rPr>
              <a:t> 49.62%에 </a:t>
            </a:r>
            <a:r>
              <a:rPr sz="1350" b="0" dirty="0" err="1">
                <a:solidFill>
                  <a:srgbClr val="101828"/>
                </a:solidFill>
              </a:rPr>
              <a:t>머물렀다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74722C4-AB3B-45F4-AAC3-45ED1A9DB1FC}"/>
              </a:ext>
            </a:extLst>
          </p:cNvPr>
          <p:cNvSpPr>
            <a:spLocks noGrp="1"/>
          </p:cNvSpPr>
          <p:nvPr/>
        </p:nvSpPr>
        <p:spPr>
          <a:xfrm>
            <a:off x="1123950" y="519684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CE33F0-A0A3-4150-87E2-C71A325C5E59}"/>
              </a:ext>
            </a:extLst>
          </p:cNvPr>
          <p:cNvSpPr>
            <a:spLocks noGrp="1"/>
          </p:cNvSpPr>
          <p:nvPr/>
        </p:nvSpPr>
        <p:spPr>
          <a:xfrm>
            <a:off x="1314450" y="510159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>
                <a:solidFill>
                  <a:srgbClr val="101828"/>
                </a:solidFill>
              </a:rPr>
              <a:t>Layer 0를 </a:t>
            </a:r>
            <a:r>
              <a:rPr sz="1350" b="0" dirty="0" err="1">
                <a:solidFill>
                  <a:srgbClr val="101828"/>
                </a:solidFill>
              </a:rPr>
              <a:t>기존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스택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앞단에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붙이면</a:t>
            </a:r>
            <a:r>
              <a:rPr sz="1350" b="0" dirty="0">
                <a:solidFill>
                  <a:srgbClr val="101828"/>
                </a:solidFill>
              </a:rPr>
              <a:t> KR </a:t>
            </a:r>
            <a:r>
              <a:rPr sz="1350" b="0" dirty="0" err="1">
                <a:solidFill>
                  <a:srgbClr val="101828"/>
                </a:solidFill>
              </a:rPr>
              <a:t>semantic이</a:t>
            </a:r>
            <a:r>
              <a:rPr sz="1350" b="0" dirty="0">
                <a:solidFill>
                  <a:srgbClr val="101828"/>
                </a:solidFill>
              </a:rPr>
              <a:t> 96.39%까지 </a:t>
            </a:r>
            <a:r>
              <a:rPr sz="1350" b="0" dirty="0" err="1">
                <a:solidFill>
                  <a:srgbClr val="101828"/>
                </a:solidFill>
              </a:rPr>
              <a:t>올라가</a:t>
            </a:r>
            <a:r>
              <a:rPr sz="1350" b="0" dirty="0">
                <a:solidFill>
                  <a:srgbClr val="101828"/>
                </a:solidFill>
              </a:rPr>
              <a:t> LLM </a:t>
            </a:r>
            <a:r>
              <a:rPr sz="1350" b="0" dirty="0" err="1">
                <a:solidFill>
                  <a:srgbClr val="101828"/>
                </a:solidFill>
              </a:rPr>
              <a:t>judge보다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높았다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8C51815-608B-4ED0-BABD-E5C4BF83FDC0}"/>
              </a:ext>
            </a:extLst>
          </p:cNvPr>
          <p:cNvSpPr>
            <a:spLocks noGrp="1"/>
          </p:cNvSpPr>
          <p:nvPr/>
        </p:nvSpPr>
        <p:spPr>
          <a:xfrm>
            <a:off x="1123950" y="557403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C34ACC5-21F3-4E21-8A58-DB7FFBE2BC86}"/>
              </a:ext>
            </a:extLst>
          </p:cNvPr>
          <p:cNvSpPr>
            <a:spLocks noGrp="1"/>
          </p:cNvSpPr>
          <p:nvPr/>
        </p:nvSpPr>
        <p:spPr>
          <a:xfrm>
            <a:off x="1314450" y="5478780"/>
            <a:ext cx="97345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그리고</a:t>
            </a:r>
            <a:r>
              <a:rPr sz="1350" b="0" dirty="0">
                <a:solidFill>
                  <a:srgbClr val="101828"/>
                </a:solidFill>
              </a:rPr>
              <a:t> p99 latency 830ms, 10k당 $0.08로 judge </a:t>
            </a:r>
            <a:r>
              <a:rPr sz="1350" b="0" dirty="0" err="1">
                <a:solidFill>
                  <a:srgbClr val="101828"/>
                </a:solidFill>
              </a:rPr>
              <a:t>대비</a:t>
            </a:r>
            <a:r>
              <a:rPr sz="1350" b="0" dirty="0">
                <a:solidFill>
                  <a:srgbClr val="101828"/>
                </a:solidFill>
              </a:rPr>
              <a:t> 더 </a:t>
            </a:r>
            <a:r>
              <a:rPr sz="1350" b="0" dirty="0" err="1">
                <a:solidFill>
                  <a:srgbClr val="101828"/>
                </a:solidFill>
              </a:rPr>
              <a:t>실용적인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운영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구성이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가능했다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5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7F507D-EA99-4F49-A02E-4A7A7FBAB4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2945A89-0187-43B7-AFA5-471AECC9FE8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FE4A95-A05F-4D16-83A7-B4404856989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635617-F804-4FD9-B2E8-3969774FABF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73B4E-4182-466C-888D-E0E085E25AB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90D34D-D5E3-4DAA-A440-3966DC2CA50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75D5E3-9CC9-451F-AA4D-CEFC9414485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FDA741-8E69-4947-A02E-27244303F0A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목차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99CFD65-7379-444C-8A64-28419736E2CF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3A098DD-C9C9-4121-A6BF-F4E88CC06143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C9CE30-7EEB-46F5-8DFF-B7C07D5C70E2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EF2EFB-9AD0-4DE4-97BD-D5D8C5C3EC06}"/>
              </a:ext>
            </a:extLst>
          </p:cNvPr>
          <p:cNvSpPr>
            <a:spLocks noGrp="1"/>
          </p:cNvSpPr>
          <p:nvPr/>
        </p:nvSpPr>
        <p:spPr>
          <a:xfrm>
            <a:off x="1314450" y="1943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81F4B0-2410-44F0-A801-189644B28F2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문제 정의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3707B2-5194-4EDD-8FF2-FFA5464B8556}"/>
              </a:ext>
            </a:extLst>
          </p:cNvPr>
          <p:cNvSpPr>
            <a:spLocks noGrp="1"/>
          </p:cNvSpPr>
          <p:nvPr/>
        </p:nvSpPr>
        <p:spPr>
          <a:xfrm>
            <a:off x="4857750" y="2019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한국어가 영어보다 더 취약한가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D0709CC-A71A-40A9-86C9-95053DE60A8D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E050062-81D7-4B52-A806-786077726180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00CFE6-FD5C-4B46-98F1-9DCADC7D10F8}"/>
              </a:ext>
            </a:extLst>
          </p:cNvPr>
          <p:cNvSpPr>
            <a:spLocks noGrp="1"/>
          </p:cNvSpPr>
          <p:nvPr/>
        </p:nvSpPr>
        <p:spPr>
          <a:xfrm>
            <a:off x="1143000" y="2590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EF5FA66-2448-4EE5-BA27-D70554DC4270}"/>
              </a:ext>
            </a:extLst>
          </p:cNvPr>
          <p:cNvSpPr>
            <a:spLocks noGrp="1"/>
          </p:cNvSpPr>
          <p:nvPr/>
        </p:nvSpPr>
        <p:spPr>
          <a:xfrm>
            <a:off x="1314450" y="2705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0EF17F-6B15-4316-B2B0-519B1EC4F99B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설계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0C1024-5117-4012-B88B-3A015013AB23}"/>
              </a:ext>
            </a:extLst>
          </p:cNvPr>
          <p:cNvSpPr>
            <a:spLocks noGrp="1"/>
          </p:cNvSpPr>
          <p:nvPr/>
        </p:nvSpPr>
        <p:spPr>
          <a:xfrm>
            <a:off x="4857750" y="2781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Layer 0를 게이트웨이에 넣었는가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59715C3-A5F1-429B-8A39-669BF47D9A51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6CF31AD-849B-4B5B-94BB-212F3FCD2D67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EC46720-AABD-4478-B434-AA5BBFD51B9A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72B055-E404-48BC-9A78-4DB45DCFE7AA}"/>
              </a:ext>
            </a:extLst>
          </p:cNvPr>
          <p:cNvSpPr>
            <a:spLocks noGrp="1"/>
          </p:cNvSpPr>
          <p:nvPr/>
        </p:nvSpPr>
        <p:spPr>
          <a:xfrm>
            <a:off x="1314450" y="3467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1A4FCD-D02F-41A2-9AF2-10CFC2D778E5}"/>
              </a:ext>
            </a:extLst>
          </p:cNvPr>
          <p:cNvSpPr>
            <a:spLocks noGrp="1"/>
          </p:cNvSpPr>
          <p:nvPr/>
        </p:nvSpPr>
        <p:spPr>
          <a:xfrm>
            <a:off x="2571750" y="3524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평가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1CA5C54-1903-46BF-A7B8-760F6A1A4EDA}"/>
              </a:ext>
            </a:extLst>
          </p:cNvPr>
          <p:cNvSpPr>
            <a:spLocks noGrp="1"/>
          </p:cNvSpPr>
          <p:nvPr/>
        </p:nvSpPr>
        <p:spPr>
          <a:xfrm>
            <a:off x="4857750" y="3543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이 결과를 믿을 수 있는가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760BE40-FAA1-4C36-A837-2270FA3AAD7C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0067F8D-8A5A-4B0A-B87D-B0C5BE28D3CA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021E2DE-C9DB-4BA3-B922-BC59D78370E3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4DE5D36-96E3-4489-B96C-5E13470417B0}"/>
              </a:ext>
            </a:extLst>
          </p:cNvPr>
          <p:cNvSpPr>
            <a:spLocks noGrp="1"/>
          </p:cNvSpPr>
          <p:nvPr/>
        </p:nvSpPr>
        <p:spPr>
          <a:xfrm>
            <a:off x="1314450" y="4229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04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CF939F-075B-40CC-9E60-7C9E23D1DEFD}"/>
              </a:ext>
            </a:extLst>
          </p:cNvPr>
          <p:cNvSpPr>
            <a:spLocks noGrp="1"/>
          </p:cNvSpPr>
          <p:nvPr/>
        </p:nvSpPr>
        <p:spPr>
          <a:xfrm>
            <a:off x="2571750" y="4286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결과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2C72A6C-57E3-47BF-897B-8B44FC33183B}"/>
              </a:ext>
            </a:extLst>
          </p:cNvPr>
          <p:cNvSpPr>
            <a:spLocks noGrp="1"/>
          </p:cNvSpPr>
          <p:nvPr/>
        </p:nvSpPr>
        <p:spPr>
          <a:xfrm>
            <a:off x="4857750" y="4305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4-way 비교와 KR semantic 핵심 결과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0A06E89-27D2-498D-9024-CE2D4088E58C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9C2EE26-B212-4F14-BE2E-74709B85313E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071A221-714E-4752-8D5E-50D6F1D9809A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9BC88CC-7195-4F8A-BFA3-4BD20CEF3587}"/>
              </a:ext>
            </a:extLst>
          </p:cNvPr>
          <p:cNvSpPr>
            <a:spLocks noGrp="1"/>
          </p:cNvSpPr>
          <p:nvPr/>
        </p:nvSpPr>
        <p:spPr>
          <a:xfrm>
            <a:off x="1314450" y="4991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05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F00765B-D59D-4FA7-8C39-D57103E01C6D}"/>
              </a:ext>
            </a:extLst>
          </p:cNvPr>
          <p:cNvSpPr>
            <a:spLocks noGrp="1"/>
          </p:cNvSpPr>
          <p:nvPr/>
        </p:nvSpPr>
        <p:spPr>
          <a:xfrm>
            <a:off x="2571750" y="5048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운영성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7543BDC-C4B1-4301-9BD1-A28D9E6918F1}"/>
              </a:ext>
            </a:extLst>
          </p:cNvPr>
          <p:cNvSpPr>
            <a:spLocks noGrp="1"/>
          </p:cNvSpPr>
          <p:nvPr/>
        </p:nvSpPr>
        <p:spPr>
          <a:xfrm>
            <a:off x="4857750" y="5067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지연, 비용, cascade, FP, robustness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A9B5A67-2A1C-42B0-B157-A5858CE9116B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9906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CF752EB-42C5-4FE9-AA93-717FE2BFA663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1A0FB0-E57D-4E55-B555-BEF8A0B9F3C2}"/>
              </a:ext>
            </a:extLst>
          </p:cNvPr>
          <p:cNvSpPr>
            <a:spLocks noGrp="1"/>
          </p:cNvSpPr>
          <p:nvPr/>
        </p:nvSpPr>
        <p:spPr>
          <a:xfrm>
            <a:off x="1143000" y="5638800"/>
            <a:ext cx="1143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4870E8-BCDD-4782-B5F0-EF1AF26A60A8}"/>
              </a:ext>
            </a:extLst>
          </p:cNvPr>
          <p:cNvSpPr>
            <a:spLocks noGrp="1"/>
          </p:cNvSpPr>
          <p:nvPr/>
        </p:nvSpPr>
        <p:spPr>
          <a:xfrm>
            <a:off x="1314450" y="57531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06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4CD374A-51AB-46DD-AB47-17548DDCDD3A}"/>
              </a:ext>
            </a:extLst>
          </p:cNvPr>
          <p:cNvSpPr>
            <a:spLocks noGrp="1"/>
          </p:cNvSpPr>
          <p:nvPr/>
        </p:nvSpPr>
        <p:spPr>
          <a:xfrm>
            <a:off x="2571750" y="5810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중간발표 정리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4F33FE1-7EC8-409E-9739-EEB6C9EE4233}"/>
              </a:ext>
            </a:extLst>
          </p:cNvPr>
          <p:cNvSpPr>
            <a:spLocks noGrp="1"/>
          </p:cNvSpPr>
          <p:nvPr/>
        </p:nvSpPr>
        <p:spPr>
          <a:xfrm>
            <a:off x="4857750" y="5829300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현재까지 증명한 것과 남은 과제</a:t>
            </a:r>
          </a:p>
        </p:txBody>
      </p:sp>
    </p:spTree>
    <p:extLst>
      <p:ext uri="{BB962C8B-B14F-4D97-AF65-F5344CB8AC3E}">
        <p14:creationId xmlns:p14="http://schemas.microsoft.com/office/powerpoint/2010/main" val="1900765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F7287C-03ED-4BDB-A25E-270BF238A5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00B0400-9C4C-49B8-B241-049D2F8A8A38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9D670AE-5CB1-4743-A279-51C8BE5C3D8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2317CCF-1747-4DDB-B0DF-44B240C3565C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C94C39-98D6-4B04-AF61-A75A0E31606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2AA593-0B90-4427-9993-62B16B62727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D97A6B-4D3A-455D-ADBF-A3D921979E1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9C5B48-B951-4359-A615-8C09DD6AE34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프로젝트 시작 배경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1F2F3B1-1946-4B63-BDC3-DF62151AA0F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88DA68-2021-47AD-A65D-2AE69B3C503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90F1BE-C760-4BD5-A0EA-E8F512DC9CC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PII는 모델이 원래부터 어려워하는 영역이었고, 그 위에 영어 기반 가드레일이 다시 얹혀 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8D296B-27C3-4341-940C-261A9A51F89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267200" cy="3105150"/>
          </a:xfrm>
          <a:prstGeom prst="roundRect">
            <a:avLst>
              <a:gd name="adj" fmla="val 24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8D5E6E4-72B2-4FE1-9A6D-81BD3C182F1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7555F4-A848-4607-B557-898A9DBABB5F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KDPII는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대화형</a:t>
            </a:r>
            <a:r>
              <a:rPr sz="1350" b="0" dirty="0">
                <a:solidFill>
                  <a:srgbClr val="101828"/>
                </a:solidFill>
              </a:rPr>
              <a:t> PII </a:t>
            </a:r>
            <a:r>
              <a:rPr sz="1350" b="0" dirty="0" err="1">
                <a:solidFill>
                  <a:srgbClr val="101828"/>
                </a:solidFill>
              </a:rPr>
              <a:t>비식별화를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정면으로</a:t>
            </a:r>
            <a:endParaRPr sz="1350" b="0" dirty="0">
              <a:solidFill>
                <a:srgbClr val="101828"/>
              </a:solidFill>
            </a:endParaRP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다룬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공개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연구다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774F401-04BA-4553-A32F-C998B37737DF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D0251BA-4EDB-48EC-92DC-9183048500A9}"/>
              </a:ext>
            </a:extLst>
          </p:cNvPr>
          <p:cNvSpPr>
            <a:spLocks noGrp="1"/>
          </p:cNvSpPr>
          <p:nvPr/>
        </p:nvSpPr>
        <p:spPr>
          <a:xfrm>
            <a:off x="1104900" y="305943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 dirty="0" err="1">
                <a:solidFill>
                  <a:srgbClr val="101828"/>
                </a:solidFill>
              </a:rPr>
              <a:t>해당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연구는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영어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범용</a:t>
            </a:r>
            <a:r>
              <a:rPr sz="1350" b="0" dirty="0">
                <a:solidFill>
                  <a:srgbClr val="101828"/>
                </a:solidFill>
              </a:rPr>
              <a:t> PII보다 </a:t>
            </a:r>
            <a:r>
              <a:rPr sz="1350" b="0" dirty="0" err="1">
                <a:solidFill>
                  <a:srgbClr val="101828"/>
                </a:solidFill>
              </a:rPr>
              <a:t>한국어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특화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PII에서</a:t>
            </a:r>
            <a:r>
              <a:rPr lang="en-US" sz="135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성능이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유의하게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낮음을</a:t>
            </a:r>
            <a:r>
              <a:rPr sz="1350" b="0" dirty="0">
                <a:solidFill>
                  <a:srgbClr val="101828"/>
                </a:solidFill>
              </a:rPr>
              <a:t> </a:t>
            </a:r>
            <a:r>
              <a:rPr sz="1350" b="0" dirty="0" err="1">
                <a:solidFill>
                  <a:srgbClr val="101828"/>
                </a:solidFill>
              </a:rPr>
              <a:t>보여준다</a:t>
            </a:r>
            <a:r>
              <a:rPr sz="1350" b="0" dirty="0">
                <a:solidFill>
                  <a:srgbClr val="101828"/>
                </a:solidFill>
              </a:rPr>
              <a:t>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52D2A9E-00C9-442F-9299-FAA1FDFCB7D9}"/>
              </a:ext>
            </a:extLst>
          </p:cNvPr>
          <p:cNvSpPr>
            <a:spLocks noGrp="1"/>
          </p:cNvSpPr>
          <p:nvPr/>
        </p:nvSpPr>
        <p:spPr>
          <a:xfrm>
            <a:off x="914400" y="37376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857D31-9287-41BD-9471-CE8F0CEA8B16}"/>
              </a:ext>
            </a:extLst>
          </p:cNvPr>
          <p:cNvSpPr>
            <a:spLocks noGrp="1"/>
          </p:cNvSpPr>
          <p:nvPr/>
        </p:nvSpPr>
        <p:spPr>
          <a:xfrm>
            <a:off x="1104900" y="3642360"/>
            <a:ext cx="36195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즉, 한국어 LLM 보안 문제는 애초에 더 어려운 데이터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분포에서 시작한다.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A10423-5665-4BFC-9FCC-FF18D301C643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논문 근거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A9C575-1775-4567-9F34-D164BC5093D8}"/>
              </a:ext>
            </a:extLst>
          </p:cNvPr>
          <p:cNvSpPr>
            <a:spLocks noGrp="1"/>
          </p:cNvSpPr>
          <p:nvPr/>
        </p:nvSpPr>
        <p:spPr>
          <a:xfrm>
            <a:off x="914400" y="49720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44054"/>
                </a:solidFill>
              </a:defRPr>
            </a:pPr>
            <a:r>
              <a:rPr sz="900" b="0" dirty="0">
                <a:solidFill>
                  <a:srgbClr val="344054"/>
                </a:solidFill>
              </a:rPr>
              <a:t>IEEE Access, KDPII 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ED5186E-EA94-4D10-9538-C7B10162D568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6191250" cy="310515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F11875B-3408-495D-9097-8AB45621DC6E}"/>
              </a:ext>
            </a:extLst>
          </p:cNvPr>
          <p:cNvSpPr>
            <a:spLocks noGrp="1"/>
          </p:cNvSpPr>
          <p:nvPr/>
        </p:nvSpPr>
        <p:spPr>
          <a:xfrm>
            <a:off x="5295900" y="5486400"/>
            <a:ext cx="619125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10A145-2E6D-4462-B225-86751D68F1E1}"/>
              </a:ext>
            </a:extLst>
          </p:cNvPr>
          <p:cNvSpPr>
            <a:spLocks noGrp="1"/>
          </p:cNvSpPr>
          <p:nvPr/>
        </p:nvSpPr>
        <p:spPr>
          <a:xfrm>
            <a:off x="5562600" y="5686425"/>
            <a:ext cx="567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KDPII: 주요 언어모델은 범용 PII보다 한국어 특화 PII 인식에서 더 낮은 성능을 보였다.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2447479"/>
            <a:ext cx="5886450" cy="209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36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084DAC-3F7F-4AEB-8238-74E36414DA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055F733-D3A6-44CC-B724-43E08080927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FF7C824-F878-47C5-8F26-41A8C895CFF3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2B8C9B8-10A9-452D-B7D6-9D7561DDA4A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96CB5E-FBD5-4163-9FCC-8F7633C8D0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49277A-3184-4A85-906E-BDB7854F481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52F18B-9E42-4891-86F2-1BC0A8D5C85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02ACE1-65FA-4130-B076-CDF464C04BD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그렇다면 가드레일은 어떨까?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1C4792F-31D0-43A2-A69C-11A7608001A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554F71-7703-4301-A61B-F95ECBB675E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E0EB60-34C7-49B0-A43D-A8B52DCACC6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모델이 못 잡으면 게이트웨이 앞단이 막아야 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7689666-F045-4CD3-A8D4-21E3EBE5767C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095750" cy="3619500"/>
          </a:xfrm>
          <a:prstGeom prst="roundRect">
            <a:avLst>
              <a:gd name="adj" fmla="val 210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F2071A4-17A3-450F-8074-0EC2708037C3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C13AAD-1DDB-4FAC-93F5-AC7D2E055046}"/>
              </a:ext>
            </a:extLst>
          </p:cNvPr>
          <p:cNvSpPr>
            <a:spLocks noGrp="1"/>
          </p:cNvSpPr>
          <p:nvPr/>
        </p:nvSpPr>
        <p:spPr>
          <a:xfrm>
            <a:off x="1104900" y="240030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기업 환경에서는 사용자 입력이 외부 LLM으로 가기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전에 게이트웨이를 통과한다.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3208FF0-662E-4D29-AD67-24D13E9CCF3F}"/>
              </a:ext>
            </a:extLst>
          </p:cNvPr>
          <p:cNvSpPr>
            <a:spLocks noGrp="1"/>
          </p:cNvSpPr>
          <p:nvPr/>
        </p:nvSpPr>
        <p:spPr>
          <a:xfrm>
            <a:off x="914400" y="30784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CE7D72-52B0-452E-A771-040E763D9F29}"/>
              </a:ext>
            </a:extLst>
          </p:cNvPr>
          <p:cNvSpPr>
            <a:spLocks noGrp="1"/>
          </p:cNvSpPr>
          <p:nvPr/>
        </p:nvSpPr>
        <p:spPr>
          <a:xfrm>
            <a:off x="1104900" y="298323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PII 보호 문제는 모델 성능뿐 아니라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 방어 구조의 문제다.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5D24D0E-84FA-4130-BEAE-AD05CF982D5D}"/>
              </a:ext>
            </a:extLst>
          </p:cNvPr>
          <p:cNvSpPr>
            <a:spLocks noGrp="1"/>
          </p:cNvSpPr>
          <p:nvPr/>
        </p:nvSpPr>
        <p:spPr>
          <a:xfrm>
            <a:off x="914400" y="3661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7A4141-6D26-4CF5-94A3-2A4A45E26460}"/>
              </a:ext>
            </a:extLst>
          </p:cNvPr>
          <p:cNvSpPr>
            <a:spLocks noGrp="1"/>
          </p:cNvSpPr>
          <p:nvPr/>
        </p:nvSpPr>
        <p:spPr>
          <a:xfrm>
            <a:off x="1104900" y="3566160"/>
            <a:ext cx="34480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발표는 기존 가드레일 조합이 한국어에서 실제로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얼마나 비는지부터 확인한다.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C036C33-06D7-49F9-ADDF-A0074329127E}"/>
              </a:ext>
            </a:extLst>
          </p:cNvPr>
          <p:cNvSpPr>
            <a:spLocks noGrp="1"/>
          </p:cNvSpPr>
          <p:nvPr/>
        </p:nvSpPr>
        <p:spPr>
          <a:xfrm>
            <a:off x="5143500" y="2019300"/>
            <a:ext cx="6343650" cy="409575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64131" y="2171700"/>
            <a:ext cx="4902388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9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E6B76B-F426-49A7-A7C1-C682B42E8D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98EA6E0-789A-4B1B-93A5-DE0113A4042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506EB3A-3C42-4114-A06B-43A4F6C2469A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D5F6FB3-FD09-4E7A-83BC-3AC6848F5C1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985534-C922-4EE2-B2B5-3E86A13F916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EFCD53-FBCE-43AC-BBA5-4D45BC29D3C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57A04D-2A56-4E7B-8A56-C37947EBE8B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8DB129-EDDA-4AF3-B43D-5BED8A59C12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베드록 가드레일 실험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491E87F-69C5-419B-9970-4738CF062DA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51468D-691D-44B3-B071-1B74CCCABD3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FB2CFF-420F-4A70-BBF9-E6D69092408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이름은 가렸지만 주민번호는 그대로 남았다.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DD1D847-2DF2-4002-954E-2F6BA6E8AA4A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1244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3DE295-2907-45FA-ADC1-4C789C6C1A76}"/>
              </a:ext>
            </a:extLst>
          </p:cNvPr>
          <p:cNvSpPr>
            <a:spLocks noGrp="1"/>
          </p:cNvSpPr>
          <p:nvPr/>
        </p:nvSpPr>
        <p:spPr>
          <a:xfrm>
            <a:off x="6381750" y="2133600"/>
            <a:ext cx="51244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901FE7-1B72-429B-A094-56D8A4D6E08A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796F56-1A9B-42D1-8473-7CA89795D705}"/>
              </a:ext>
            </a:extLst>
          </p:cNvPr>
          <p:cNvSpPr>
            <a:spLocks noGrp="1"/>
          </p:cNvSpPr>
          <p:nvPr/>
        </p:nvSpPr>
        <p:spPr>
          <a:xfrm>
            <a:off x="6591300" y="22288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3E9AF78-3204-43DE-9296-138E10CB3665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51435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38261F-BC26-4969-A214-89D5467AA4CA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5143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6B2B9B-8684-4A13-B42B-F28DC0E2082A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이름은 마스킹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27ED40-7A6B-4744-8874-4D258D6FA02E}"/>
              </a:ext>
            </a:extLst>
          </p:cNvPr>
          <p:cNvSpPr>
            <a:spLocks noGrp="1"/>
          </p:cNvSpPr>
          <p:nvPr/>
        </p:nvSpPr>
        <p:spPr>
          <a:xfrm>
            <a:off x="857250" y="5924550"/>
            <a:ext cx="480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하지만 주민번호는 그대로 통과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F145B8C-136B-4F8B-9B77-0C83779AFBE3}"/>
              </a:ext>
            </a:extLst>
          </p:cNvPr>
          <p:cNvSpPr>
            <a:spLocks noGrp="1"/>
          </p:cNvSpPr>
          <p:nvPr/>
        </p:nvSpPr>
        <p:spPr>
          <a:xfrm>
            <a:off x="6381750" y="5543550"/>
            <a:ext cx="51435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ED4252-8371-4A9E-B36E-FA1FE3DC8665}"/>
              </a:ext>
            </a:extLst>
          </p:cNvPr>
          <p:cNvSpPr>
            <a:spLocks noGrp="1"/>
          </p:cNvSpPr>
          <p:nvPr/>
        </p:nvSpPr>
        <p:spPr>
          <a:xfrm>
            <a:off x="6381750" y="5543550"/>
            <a:ext cx="5143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942A06-4830-4B58-97F4-A96AD8A69D2B}"/>
              </a:ext>
            </a:extLst>
          </p:cNvPr>
          <p:cNvSpPr>
            <a:spLocks noGrp="1"/>
          </p:cNvSpPr>
          <p:nvPr/>
        </p:nvSpPr>
        <p:spPr>
          <a:xfrm>
            <a:off x="6553200" y="565785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의미형 PII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2BF20B-E8E9-4D24-8218-3F7F36468E15}"/>
              </a:ext>
            </a:extLst>
          </p:cNvPr>
          <p:cNvSpPr>
            <a:spLocks noGrp="1"/>
          </p:cNvSpPr>
          <p:nvPr/>
        </p:nvSpPr>
        <p:spPr>
          <a:xfrm>
            <a:off x="6553200" y="5924550"/>
            <a:ext cx="480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숫자형·정규식형보다 더 취약한 영역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457467"/>
            <a:ext cx="4819650" cy="2666967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34150" y="3017114"/>
            <a:ext cx="4819650" cy="15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65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E65CE9-FA2D-47B9-8757-181210801B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505572C-41CF-480C-8F92-AA74AD41F2D4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C7BE17E-AFF1-4B1F-8604-A88A25859180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70F1EA-F528-4AFF-960D-47B039F74C4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FF7129-40ED-47A5-B579-F9023945E7A0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97A1BD-E36C-4BDB-9D3C-10D3BC98D86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D62F28-5CFD-478C-B2A7-17528CECA64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0E6F72-E643-4937-AC66-F49260B167E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원인: 대부분 가드레일은 영어 기반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751112-FC6E-4B96-BFEA-A33740BF5B0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33AB14-80FA-4520-9335-61AAC5438D2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50A370-952C-4FA0-BF04-9AC2E9F9425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 중심 탐지 + 한국어 숫자형 편중 + 텍스트형 blind spot이 겹친다.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B33EFF3-5702-4C20-8D01-E37C9B5BB1A8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67D468-463C-4924-9F86-7E30120EBB1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0B3594-780D-413D-9641-115990FCF79F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영어 중심 탐지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495E69-3F81-49C8-AE85-6F3C18538D4A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기존 baseline은 English에서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99.37% TRUE detection을 기록한다.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A1FE89-7614-4429-81E6-3CFA23816000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AC96BE-26CF-4CE2-B73E-3BE869B46089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63FD82-EAF9-438C-9AEF-ADD490975513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한국어 숫자형 위주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12FDBE-B02A-4BB4-B681-F3E3F2155CD9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한국어 지원은 주민번호·사업자번호 같은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checksum / format PII에 편중돼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6F34764-D327-4808-8022-6674416A78CC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8FAAE7-FD50-4EDC-BD29-835E4BD16867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7933F3-5E5A-4FDB-A50B-6C4BAA1BECD6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텍스트형 blind spot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E8E792-3B68-4FD1-9A03-BD82F5B33BD4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semantic slice에서는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baseline TRUE detection이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49.62%까지 떨어진다.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0EB10FC-24FD-497A-892D-7DDF313B7513}"/>
              </a:ext>
            </a:extLst>
          </p:cNvPr>
          <p:cNvSpPr>
            <a:spLocks noGrp="1"/>
          </p:cNvSpPr>
          <p:nvPr/>
        </p:nvSpPr>
        <p:spPr>
          <a:xfrm>
            <a:off x="8001000" y="4362450"/>
            <a:ext cx="31432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ECF246-9FAA-442E-B3E3-6C318FDB1290}"/>
              </a:ext>
            </a:extLst>
          </p:cNvPr>
          <p:cNvSpPr>
            <a:spLocks noGrp="1"/>
          </p:cNvSpPr>
          <p:nvPr/>
        </p:nvSpPr>
        <p:spPr>
          <a:xfrm>
            <a:off x="8191500" y="45529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기존 PPT 실험 증거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72450" y="5009227"/>
            <a:ext cx="2800350" cy="64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31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0F28BB-68C0-4BA9-9C67-F835D41F5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7FE4D4F-F9DB-4A35-9CD6-F8E9B090B56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572F358-5E9F-43A7-A0EC-E146715DA37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4D7153C-2D16-4DC8-B135-C4AE192491A7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CD1ACF-71BC-4CC5-9111-F935F3E1AB9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C62DB3-7A7E-433F-B109-46570FA422E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CF14ED-0CA9-4275-8E27-6E18FC646FB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CAFD8A-5738-4C6D-B719-250581C35D1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연구 질문과 프로젝트 목표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0A554EE-B74C-4A53-AD34-CE6ECD98A56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159FD-BF38-47B9-B6DD-B110CF43CD2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9974D8-C930-4E14-AE4A-D76AD58B531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보호 엔진 전체가 아니라, 기존 스택의 한국어 공백을 메우는 Layer 0가 목표다.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7C50FAE-04D4-42E0-98FF-591A0BFB443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23875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E1B6D8-F92A-45E2-966A-B1CA07D4E08C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RQ1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01D21A-E750-4C0B-B55C-5C5945BE331C}"/>
              </a:ext>
            </a:extLst>
          </p:cNvPr>
          <p:cNvSpPr>
            <a:spLocks noGrp="1"/>
          </p:cNvSpPr>
          <p:nvPr/>
        </p:nvSpPr>
        <p:spPr>
          <a:xfrm>
            <a:off x="933450" y="281940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왜 기존 가드레일은 영어 대비 한국어, 특히 KR semantic에서 크게 약한가?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A1F708-2228-440D-B8C0-98A18B24E192}"/>
              </a:ext>
            </a:extLst>
          </p:cNvPr>
          <p:cNvSpPr>
            <a:spLocks noGrp="1"/>
          </p:cNvSpPr>
          <p:nvPr/>
        </p:nvSpPr>
        <p:spPr>
          <a:xfrm>
            <a:off x="933450" y="3333750"/>
            <a:ext cx="457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언어 차이 자체인지, 혹은 한국어 텍스트형 PII라는 어려운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slice 때문인지 분리해서 확인한다.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1106C1-233B-43B5-A00D-0243E4429031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A66A"/>
                </a:solidFill>
              </a:defRPr>
            </a:pPr>
            <a:r>
              <a:rPr sz="975" b="1">
                <a:solidFill>
                  <a:srgbClr val="22A66A"/>
                </a:solidFill>
              </a:rPr>
              <a:t>RQ2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B5FC6E-8ADE-415C-95D8-28D88AEF3576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LLM judge를 붙이는 대신, Layer 0가 더 싸고 빠르게 같은 공백을 메울 수 있는가?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31CDC5-1A1F-45B8-8202-96E2862F005A}"/>
              </a:ext>
            </a:extLst>
          </p:cNvPr>
          <p:cNvSpPr>
            <a:spLocks noGrp="1"/>
          </p:cNvSpPr>
          <p:nvPr/>
        </p:nvSpPr>
        <p:spPr>
          <a:xfrm>
            <a:off x="933450" y="4972050"/>
            <a:ext cx="457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결과 비교뿐 아니라 latency, cost, smart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cascade까지 포함해 실용성을 평가한다.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627C66C-EB4E-41F5-8605-45F9B4ECEFBE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5200650" cy="3371850"/>
          </a:xfrm>
          <a:prstGeom prst="roundRect">
            <a:avLst>
              <a:gd name="adj" fmla="val 226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F93743-41A8-4C8F-8E0F-9506AFBAE106}"/>
              </a:ext>
            </a:extLst>
          </p:cNvPr>
          <p:cNvSpPr>
            <a:spLocks noGrp="1"/>
          </p:cNvSpPr>
          <p:nvPr/>
        </p:nvSpPr>
        <p:spPr>
          <a:xfrm>
            <a:off x="6610350" y="2533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프로젝트 목표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7B3E5E-7BD5-45E9-B09E-7A63D8DF53C9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400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한국어 PII 보강 계층</a:t>
            </a:r>
          </a:p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Layer 0 (L0)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D8CD9F-7E43-41CF-9853-6F48D6F2173D}"/>
              </a:ext>
            </a:extLst>
          </p:cNvPr>
          <p:cNvSpPr>
            <a:spLocks noGrp="1"/>
          </p:cNvSpPr>
          <p:nvPr/>
        </p:nvSpPr>
        <p:spPr>
          <a:xfrm>
            <a:off x="6610350" y="3924300"/>
            <a:ext cx="42100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기존 L1~L3 스택을 버리지 않고, 그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앞단에서 한국어 입력을 먼저 정규화·탐지해 KR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semantic blind spot을 메우는</a:t>
            </a:r>
          </a:p>
          <a:p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계층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98DA6CC-162E-4185-BD62-198B3F553334}"/>
              </a:ext>
            </a:extLst>
          </p:cNvPr>
          <p:cNvSpPr>
            <a:spLocks noGrp="1"/>
          </p:cNvSpPr>
          <p:nvPr/>
        </p:nvSpPr>
        <p:spPr>
          <a:xfrm>
            <a:off x="6610350" y="5086350"/>
            <a:ext cx="1524000" cy="285750"/>
          </a:xfrm>
          <a:prstGeom prst="roundRect">
            <a:avLst>
              <a:gd name="adj" fmla="val 26667"/>
            </a:avLst>
          </a:prstGeom>
          <a:solidFill>
            <a:srgbClr val="22A66A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4F84040-7847-4803-B5AF-5DECA0050319}"/>
              </a:ext>
            </a:extLst>
          </p:cNvPr>
          <p:cNvSpPr>
            <a:spLocks noGrp="1"/>
          </p:cNvSpPr>
          <p:nvPr/>
        </p:nvSpPr>
        <p:spPr>
          <a:xfrm>
            <a:off x="6724650" y="51816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F8AAE8A-0868-4300-8619-3756CCFAFD27}"/>
              </a:ext>
            </a:extLst>
          </p:cNvPr>
          <p:cNvSpPr>
            <a:spLocks noGrp="1"/>
          </p:cNvSpPr>
          <p:nvPr/>
        </p:nvSpPr>
        <p:spPr>
          <a:xfrm>
            <a:off x="6896100" y="515302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팀 내부 표기: v0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CD6CFFA-24BB-454E-BAF9-FF39169B22B5}"/>
              </a:ext>
            </a:extLst>
          </p:cNvPr>
          <p:cNvSpPr>
            <a:spLocks noGrp="1"/>
          </p:cNvSpPr>
          <p:nvPr/>
        </p:nvSpPr>
        <p:spPr>
          <a:xfrm>
            <a:off x="8267700" y="5086350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CFEA80E-E903-4CE7-B9DD-3587A4D84351}"/>
              </a:ext>
            </a:extLst>
          </p:cNvPr>
          <p:cNvSpPr>
            <a:spLocks noGrp="1"/>
          </p:cNvSpPr>
          <p:nvPr/>
        </p:nvSpPr>
        <p:spPr>
          <a:xfrm>
            <a:off x="8382000" y="51816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09D393-6BB4-4D75-A77B-7BB012BE5F1A}"/>
              </a:ext>
            </a:extLst>
          </p:cNvPr>
          <p:cNvSpPr>
            <a:spLocks noGrp="1"/>
          </p:cNvSpPr>
          <p:nvPr/>
        </p:nvSpPr>
        <p:spPr>
          <a:xfrm>
            <a:off x="8553450" y="5153025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발표 표기: L0</a:t>
            </a:r>
          </a:p>
        </p:txBody>
      </p:sp>
    </p:spTree>
    <p:extLst>
      <p:ext uri="{BB962C8B-B14F-4D97-AF65-F5344CB8AC3E}">
        <p14:creationId xmlns:p14="http://schemas.microsoft.com/office/powerpoint/2010/main" val="143709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BE48A3-F68F-49F6-8D78-AECE2308FB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158524C-3C69-4489-A16E-FAC96285F379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A0C1992-E5E7-48BB-82C3-FD02C41198B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226106B-032F-464B-AFD4-3C2A49D3373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B1CDCC-09CB-49D1-AAFF-236A4CC70AD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C7432E-9A0F-40C5-87D9-C13FF9786D8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74953D-0E38-406C-915E-4D5C5D0835D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1D9E4C-520C-4A3F-8455-69AD42C57C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AI Gateway 맥락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94FB18B-FEAF-4239-BDDF-0E9930F4FED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A95068-C04D-48F2-BE24-50D175E0F7B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98DD7E-3C0E-4D59-8053-3B7AF5A80CB1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입력과 출력이 오가는 교차점이기 때문에, L0는 게이트웨이에 붙는 것이 맞다.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4B3CEE5-BB8E-4A20-9A3A-0FEF872F3D44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000500" cy="3733800"/>
          </a:xfrm>
          <a:prstGeom prst="roundRect">
            <a:avLst>
              <a:gd name="adj" fmla="val 204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A8747C3-6F88-48E7-81CB-669680007110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C0574A-CA52-4D5A-9BA5-D754561BE1EA}"/>
              </a:ext>
            </a:extLst>
          </p:cNvPr>
          <p:cNvSpPr>
            <a:spLocks noGrp="1"/>
          </p:cNvSpPr>
          <p:nvPr/>
        </p:nvSpPr>
        <p:spPr>
          <a:xfrm>
            <a:off x="1104900" y="245745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게이트웨이는 사용자 입력과 외부 LLM 사이를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통제하는 계층이다.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53B6BFB-2260-42C6-9AB3-544A165455FF}"/>
              </a:ext>
            </a:extLst>
          </p:cNvPr>
          <p:cNvSpPr>
            <a:spLocks noGrp="1"/>
          </p:cNvSpPr>
          <p:nvPr/>
        </p:nvSpPr>
        <p:spPr>
          <a:xfrm>
            <a:off x="914400" y="313563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76DC09-DEDD-49DE-BD9A-3EC351845800}"/>
              </a:ext>
            </a:extLst>
          </p:cNvPr>
          <p:cNvSpPr>
            <a:spLocks noGrp="1"/>
          </p:cNvSpPr>
          <p:nvPr/>
        </p:nvSpPr>
        <p:spPr>
          <a:xfrm>
            <a:off x="1104900" y="304038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지점에서 라우팅, 로깅, 인증, 입력/출력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가드레일이 함께 작동한다.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C32C401-7733-4F44-AAC0-93196FF47760}"/>
              </a:ext>
            </a:extLst>
          </p:cNvPr>
          <p:cNvSpPr>
            <a:spLocks noGrp="1"/>
          </p:cNvSpPr>
          <p:nvPr/>
        </p:nvSpPr>
        <p:spPr>
          <a:xfrm>
            <a:off x="914400" y="37185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6919806-8655-4A2B-9178-726B300F8643}"/>
              </a:ext>
            </a:extLst>
          </p:cNvPr>
          <p:cNvSpPr>
            <a:spLocks noGrp="1"/>
          </p:cNvSpPr>
          <p:nvPr/>
        </p:nvSpPr>
        <p:spPr>
          <a:xfrm>
            <a:off x="1104900" y="3623310"/>
            <a:ext cx="335280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입력 보호 문제를 해결하려면 모델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내부가 아니라 게이트웨이 전처리 계층이 핵심이다.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EE0A383-8147-4440-B199-EDDAAB8CE3CC}"/>
              </a:ext>
            </a:extLst>
          </p:cNvPr>
          <p:cNvSpPr>
            <a:spLocks noGrp="1"/>
          </p:cNvSpPr>
          <p:nvPr/>
        </p:nvSpPr>
        <p:spPr>
          <a:xfrm>
            <a:off x="5029200" y="2000250"/>
            <a:ext cx="6477000" cy="4114800"/>
          </a:xfrm>
          <a:prstGeom prst="roundRect">
            <a:avLst>
              <a:gd name="adj" fmla="val 185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81394" y="2152650"/>
            <a:ext cx="477261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9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81B3FB-D823-4487-B856-66F2DFD00D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CB9C1FC-254E-4B3C-81C9-763BB71A624A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5D5079F-5DF6-4868-ABBD-A3DDC181285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61DA7E1-ADED-4E8F-A2B1-5F975CD1AE8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0A3109-D46D-4F1B-8726-0A24B9BD4BF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3C0785-35CC-47E0-9BCE-C7D6F08FA48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3216D6-FFB2-4E2F-82FB-78D98C1F74F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E665C6-A193-45F9-9DC4-12F8B3C2EAF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데이터 흐름과 삽입 위치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3856389-CEDA-4D6E-AFDF-232C1D5B502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6DC5AB-BC92-4A07-9241-C5D45ED9AA0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3AA3A0-0276-4D4C-A2E2-01861A6F881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24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삽입 위치는 pre-call 앞단이다. 여기서 한국어 입력을 복원하지 않으면 뒤 레이어는 그대로 놓친다.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0EE7A79-7CAF-4080-BDC2-E0756EB02C5C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9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9B00A5-A501-4320-BE63-AE5885916890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1434B7D-8CD7-438E-BF2B-EE0EE5B1E2EB}"/>
              </a:ext>
            </a:extLst>
          </p:cNvPr>
          <p:cNvSpPr>
            <a:spLocks noGrp="1"/>
          </p:cNvSpPr>
          <p:nvPr/>
        </p:nvSpPr>
        <p:spPr>
          <a:xfrm>
            <a:off x="24384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91CA60-3C8F-4EC0-ACA0-2842EC143F63}"/>
              </a:ext>
            </a:extLst>
          </p:cNvPr>
          <p:cNvSpPr>
            <a:spLocks noGrp="1"/>
          </p:cNvSpPr>
          <p:nvPr/>
        </p:nvSpPr>
        <p:spPr>
          <a:xfrm>
            <a:off x="24384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65BBEBD-A870-489C-9209-AC72C0F37F61}"/>
              </a:ext>
            </a:extLst>
          </p:cNvPr>
          <p:cNvSpPr>
            <a:spLocks noGrp="1"/>
          </p:cNvSpPr>
          <p:nvPr/>
        </p:nvSpPr>
        <p:spPr>
          <a:xfrm>
            <a:off x="40005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B9A794-E270-4743-A0A0-CBAD23E75FFF}"/>
              </a:ext>
            </a:extLst>
          </p:cNvPr>
          <p:cNvSpPr>
            <a:spLocks noGrp="1"/>
          </p:cNvSpPr>
          <p:nvPr/>
        </p:nvSpPr>
        <p:spPr>
          <a:xfrm>
            <a:off x="40005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Presidio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710B298-C2FE-4C81-AB48-D7987DF817F7}"/>
              </a:ext>
            </a:extLst>
          </p:cNvPr>
          <p:cNvSpPr>
            <a:spLocks noGrp="1"/>
          </p:cNvSpPr>
          <p:nvPr/>
        </p:nvSpPr>
        <p:spPr>
          <a:xfrm>
            <a:off x="55626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368A80-A1EB-4145-817A-B567ABA4422F}"/>
              </a:ext>
            </a:extLst>
          </p:cNvPr>
          <p:cNvSpPr>
            <a:spLocks noGrp="1"/>
          </p:cNvSpPr>
          <p:nvPr/>
        </p:nvSpPr>
        <p:spPr>
          <a:xfrm>
            <a:off x="55626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Bedrock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6F7EB1B-ABCB-4854-8EC0-9A151E37AC61}"/>
              </a:ext>
            </a:extLst>
          </p:cNvPr>
          <p:cNvSpPr>
            <a:spLocks noGrp="1"/>
          </p:cNvSpPr>
          <p:nvPr/>
        </p:nvSpPr>
        <p:spPr>
          <a:xfrm>
            <a:off x="71247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4A464C-D2B7-42D1-86D9-8F8C5B84068C}"/>
              </a:ext>
            </a:extLst>
          </p:cNvPr>
          <p:cNvSpPr>
            <a:spLocks noGrp="1"/>
          </p:cNvSpPr>
          <p:nvPr/>
        </p:nvSpPr>
        <p:spPr>
          <a:xfrm>
            <a:off x="71247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Lakera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5BA73B0-7A91-45C9-8A7D-4D4FC43EC776}"/>
              </a:ext>
            </a:extLst>
          </p:cNvPr>
          <p:cNvSpPr>
            <a:spLocks noGrp="1"/>
          </p:cNvSpPr>
          <p:nvPr/>
        </p:nvSpPr>
        <p:spPr>
          <a:xfrm>
            <a:off x="8686800" y="2952750"/>
            <a:ext cx="1314450" cy="72390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929F8F-BDBC-4D0C-B1C9-DC95BF89D721}"/>
              </a:ext>
            </a:extLst>
          </p:cNvPr>
          <p:cNvSpPr>
            <a:spLocks noGrp="1"/>
          </p:cNvSpPr>
          <p:nvPr/>
        </p:nvSpPr>
        <p:spPr>
          <a:xfrm>
            <a:off x="8686800" y="31813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외부 LLM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9B2CF89-A4DC-4040-947E-81AB7B013022}"/>
              </a:ext>
            </a:extLst>
          </p:cNvPr>
          <p:cNvSpPr>
            <a:spLocks noGrp="1"/>
          </p:cNvSpPr>
          <p:nvPr/>
        </p:nvSpPr>
        <p:spPr>
          <a:xfrm>
            <a:off x="10248900" y="2952750"/>
            <a:ext cx="104775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9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BA58CF-E59A-45D9-85F2-6A924927BB04}"/>
              </a:ext>
            </a:extLst>
          </p:cNvPr>
          <p:cNvSpPr>
            <a:spLocks noGrp="1"/>
          </p:cNvSpPr>
          <p:nvPr/>
        </p:nvSpPr>
        <p:spPr>
          <a:xfrm>
            <a:off x="10248900" y="31813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응답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48EB507D-6C80-48C6-B54B-4CD6207EEA90}"/>
              </a:ext>
            </a:extLst>
          </p:cNvPr>
          <p:cNvSpPr>
            <a:spLocks noGrp="1"/>
          </p:cNvSpPr>
          <p:nvPr/>
        </p:nvSpPr>
        <p:spPr>
          <a:xfrm>
            <a:off x="21907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0F9B7A34-4D3D-4D7F-80DC-0EF57D094781}"/>
              </a:ext>
            </a:extLst>
          </p:cNvPr>
          <p:cNvSpPr>
            <a:spLocks noGrp="1"/>
          </p:cNvSpPr>
          <p:nvPr/>
        </p:nvSpPr>
        <p:spPr>
          <a:xfrm>
            <a:off x="37528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D02137BD-6C39-4031-B5D5-3DAB4607696C}"/>
              </a:ext>
            </a:extLst>
          </p:cNvPr>
          <p:cNvSpPr>
            <a:spLocks noGrp="1"/>
          </p:cNvSpPr>
          <p:nvPr/>
        </p:nvSpPr>
        <p:spPr>
          <a:xfrm>
            <a:off x="53149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4C3E74E-FFEB-4645-8CFB-E5C91B3A3275}"/>
              </a:ext>
            </a:extLst>
          </p:cNvPr>
          <p:cNvSpPr>
            <a:spLocks noGrp="1"/>
          </p:cNvSpPr>
          <p:nvPr/>
        </p:nvSpPr>
        <p:spPr>
          <a:xfrm>
            <a:off x="68770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7B769342-5599-4746-BF44-22A6F9328343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ACAF525C-6B22-45B4-8082-EA5266B64CD5}"/>
              </a:ext>
            </a:extLst>
          </p:cNvPr>
          <p:cNvSpPr>
            <a:spLocks noGrp="1"/>
          </p:cNvSpPr>
          <p:nvPr/>
        </p:nvSpPr>
        <p:spPr>
          <a:xfrm>
            <a:off x="10001250" y="3257550"/>
            <a:ext cx="247650" cy="114300"/>
          </a:xfrm>
          <a:prstGeom prst="rightArrow">
            <a:avLst/>
          </a:prstGeom>
          <a:solidFill>
            <a:srgbClr val="6670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A055921-3637-4D2E-B058-DCD07733FA2E}"/>
              </a:ext>
            </a:extLst>
          </p:cNvPr>
          <p:cNvSpPr>
            <a:spLocks noGrp="1"/>
          </p:cNvSpPr>
          <p:nvPr/>
        </p:nvSpPr>
        <p:spPr>
          <a:xfrm>
            <a:off x="2286000" y="2514600"/>
            <a:ext cx="1619250" cy="152400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28575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75CABF0-53A9-4D95-A874-946760673252}"/>
              </a:ext>
            </a:extLst>
          </p:cNvPr>
          <p:cNvSpPr>
            <a:spLocks noGrp="1"/>
          </p:cNvSpPr>
          <p:nvPr/>
        </p:nvSpPr>
        <p:spPr>
          <a:xfrm>
            <a:off x="2362200" y="41148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92D20"/>
                </a:solidFill>
              </a:defRPr>
            </a:pPr>
            <a:r>
              <a:rPr sz="900" b="1">
                <a:solidFill>
                  <a:srgbClr val="D92D20"/>
                </a:solidFill>
              </a:rPr>
              <a:t>이번 연구의 추가 계층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F6342E3-0EB1-4DC9-B90E-5B96C31AF8EA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6108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80A132E6-5FFD-4CE7-A43B-7E760B067AB9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ABA87C-5257-4264-8732-873FB7206EF6}"/>
              </a:ext>
            </a:extLst>
          </p:cNvPr>
          <p:cNvSpPr>
            <a:spLocks noGrp="1"/>
          </p:cNvSpPr>
          <p:nvPr/>
        </p:nvSpPr>
        <p:spPr>
          <a:xfrm>
            <a:off x="1104900" y="489585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정규화해 공격 표면을 복원한다.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C7F558C-FA26-4CDA-8058-DFC3F76EA27B}"/>
              </a:ext>
            </a:extLst>
          </p:cNvPr>
          <p:cNvSpPr>
            <a:spLocks noGrp="1"/>
          </p:cNvSpPr>
          <p:nvPr/>
        </p:nvSpPr>
        <p:spPr>
          <a:xfrm>
            <a:off x="914400" y="53187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1FEF7B-EC05-4F15-9FCE-CA17838B1234}"/>
              </a:ext>
            </a:extLst>
          </p:cNvPr>
          <p:cNvSpPr>
            <a:spLocks noGrp="1"/>
          </p:cNvSpPr>
          <p:nvPr/>
        </p:nvSpPr>
        <p:spPr>
          <a:xfrm>
            <a:off x="1104900" y="522351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 다음 L1~L3는 기존 운영 스택을 그대로 유지한다.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5B2A0DC-D172-436C-879E-F94E9F252C33}"/>
              </a:ext>
            </a:extLst>
          </p:cNvPr>
          <p:cNvSpPr>
            <a:spLocks noGrp="1"/>
          </p:cNvSpPr>
          <p:nvPr/>
        </p:nvSpPr>
        <p:spPr>
          <a:xfrm>
            <a:off x="914400" y="56464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687C03-128F-4E61-B77A-05B0E52DA2A8}"/>
              </a:ext>
            </a:extLst>
          </p:cNvPr>
          <p:cNvSpPr>
            <a:spLocks noGrp="1"/>
          </p:cNvSpPr>
          <p:nvPr/>
        </p:nvSpPr>
        <p:spPr>
          <a:xfrm>
            <a:off x="1104900" y="555117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필요한 경우에만 L4 judge를 smart cascade로 호출할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733463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1679D7-5B81-4105-ACC2-DBB0AB38A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C7327BA-F924-4420-9032-FEEFE3109915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9FB7FA4-0F9E-418C-A703-9B8E40B75A1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1B0601E-8AB6-4F59-82AC-204C79BEA7A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9D9DB7-FD4F-4ED6-9FE5-BC2A0707530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E9D439-DB68-4797-9B5D-0538A1BCC17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B7BF38-955E-4F37-AA2A-5388B29CACF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905B0B-5356-4EDA-9BCB-FAEF2B1BC61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5계층 방어 파이프라인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F9D42E5-6503-45D4-89AA-F8C718314C0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BF80E1-E8D3-49D0-B3EA-DC13105272D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F76B5F-B3B3-4183-AE78-629D8ABB4AB5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기존 스택을 대체하는 것이 아니라, 한국어 공백을 앞단에서 보강하는 것이다.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CEC8B58-E1E2-46EA-8026-E9AD797E0AD5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687F05-9557-4A20-BFD3-1B2F2BDD753D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038350" cy="1143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E182DE-27B2-42A0-872F-AF7A191A899D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2A66A"/>
                </a:solidFill>
              </a:defRPr>
            </a:pPr>
            <a:r>
              <a:rPr sz="2250" b="1">
                <a:solidFill>
                  <a:srgbClr val="22A66A"/>
                </a:solidFill>
              </a:rPr>
              <a:t>L0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24F65C-A1EF-4B23-9B40-A4ADE7D21AE0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한국어 정규화 + 키워드 사전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168455-E33D-4D1B-A222-CCCA1BFABBE3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22A66A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84060C4-7EFC-4FBF-9D7A-88EDF38FE221}"/>
              </a:ext>
            </a:extLst>
          </p:cNvPr>
          <p:cNvSpPr>
            <a:spLocks noGrp="1"/>
          </p:cNvSpPr>
          <p:nvPr/>
        </p:nvSpPr>
        <p:spPr>
          <a:xfrm>
            <a:off x="1104900" y="401955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7CC2762-5912-4626-B537-CAE3CAF13FEE}"/>
              </a:ext>
            </a:extLst>
          </p:cNvPr>
          <p:cNvSpPr>
            <a:spLocks noGrp="1"/>
          </p:cNvSpPr>
          <p:nvPr/>
        </p:nvSpPr>
        <p:spPr>
          <a:xfrm>
            <a:off x="12763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pre-call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E63C7D-A0F2-4C1A-9FDA-2E2AA527C202}"/>
              </a:ext>
            </a:extLst>
          </p:cNvPr>
          <p:cNvSpPr>
            <a:spLocks noGrp="1"/>
          </p:cNvSpPr>
          <p:nvPr/>
        </p:nvSpPr>
        <p:spPr>
          <a:xfrm>
            <a:off x="9906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이번 연구의 핵심 기여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8A5DDCE-499F-499B-AB45-8D82FE94AF84}"/>
              </a:ext>
            </a:extLst>
          </p:cNvPr>
          <p:cNvSpPr>
            <a:spLocks noGrp="1"/>
          </p:cNvSpPr>
          <p:nvPr/>
        </p:nvSpPr>
        <p:spPr>
          <a:xfrm>
            <a:off x="297180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BF2E1BC-86AB-45F5-ABC8-FE4123BB5710}"/>
              </a:ext>
            </a:extLst>
          </p:cNvPr>
          <p:cNvSpPr>
            <a:spLocks noGrp="1"/>
          </p:cNvSpPr>
          <p:nvPr/>
        </p:nvSpPr>
        <p:spPr>
          <a:xfrm>
            <a:off x="297180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3EB35C-B1C5-45EF-8985-13DCB6B72784}"/>
              </a:ext>
            </a:extLst>
          </p:cNvPr>
          <p:cNvSpPr>
            <a:spLocks noGrp="1"/>
          </p:cNvSpPr>
          <p:nvPr/>
        </p:nvSpPr>
        <p:spPr>
          <a:xfrm>
            <a:off x="318135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537B9A7-94C7-423B-A611-2125C29C9C8E}"/>
              </a:ext>
            </a:extLst>
          </p:cNvPr>
          <p:cNvSpPr>
            <a:spLocks noGrp="1"/>
          </p:cNvSpPr>
          <p:nvPr/>
        </p:nvSpPr>
        <p:spPr>
          <a:xfrm>
            <a:off x="318135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Presidio</a:t>
            </a:r>
          </a:p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regex + NER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0866D96-4117-45E6-A26C-6374899C66ED}"/>
              </a:ext>
            </a:extLst>
          </p:cNvPr>
          <p:cNvSpPr>
            <a:spLocks noGrp="1"/>
          </p:cNvSpPr>
          <p:nvPr/>
        </p:nvSpPr>
        <p:spPr>
          <a:xfrm>
            <a:off x="318135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2420E56-495B-4AF0-8638-E92306C04B6F}"/>
              </a:ext>
            </a:extLst>
          </p:cNvPr>
          <p:cNvSpPr>
            <a:spLocks noGrp="1"/>
          </p:cNvSpPr>
          <p:nvPr/>
        </p:nvSpPr>
        <p:spPr>
          <a:xfrm>
            <a:off x="329565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BEB3CA-FE09-4421-BFFF-D9581CF564B5}"/>
              </a:ext>
            </a:extLst>
          </p:cNvPr>
          <p:cNvSpPr>
            <a:spLocks noGrp="1"/>
          </p:cNvSpPr>
          <p:nvPr/>
        </p:nvSpPr>
        <p:spPr>
          <a:xfrm>
            <a:off x="346710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8B86A8-6273-48EC-8EF8-2DD65E4DD8DA}"/>
              </a:ext>
            </a:extLst>
          </p:cNvPr>
          <p:cNvSpPr>
            <a:spLocks noGrp="1"/>
          </p:cNvSpPr>
          <p:nvPr/>
        </p:nvSpPr>
        <p:spPr>
          <a:xfrm>
            <a:off x="318135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0E9C13E-3DFC-44F1-978D-052CBD975864}"/>
              </a:ext>
            </a:extLst>
          </p:cNvPr>
          <p:cNvSpPr>
            <a:spLocks noGrp="1"/>
          </p:cNvSpPr>
          <p:nvPr/>
        </p:nvSpPr>
        <p:spPr>
          <a:xfrm>
            <a:off x="51625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2D97FD-D171-4F56-AA6A-A0B409110001}"/>
              </a:ext>
            </a:extLst>
          </p:cNvPr>
          <p:cNvSpPr>
            <a:spLocks noGrp="1"/>
          </p:cNvSpPr>
          <p:nvPr/>
        </p:nvSpPr>
        <p:spPr>
          <a:xfrm>
            <a:off x="516255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1901803-E6E1-4606-A56D-C1DA635A2E50}"/>
              </a:ext>
            </a:extLst>
          </p:cNvPr>
          <p:cNvSpPr>
            <a:spLocks noGrp="1"/>
          </p:cNvSpPr>
          <p:nvPr/>
        </p:nvSpPr>
        <p:spPr>
          <a:xfrm>
            <a:off x="53721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E9CE89-C54C-4920-9A19-1A308E0E4728}"/>
              </a:ext>
            </a:extLst>
          </p:cNvPr>
          <p:cNvSpPr>
            <a:spLocks noGrp="1"/>
          </p:cNvSpPr>
          <p:nvPr/>
        </p:nvSpPr>
        <p:spPr>
          <a:xfrm>
            <a:off x="53721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Bedrock Guardrails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D69A0B-8AD5-4BD3-AB1E-A9E8ED98B545}"/>
              </a:ext>
            </a:extLst>
          </p:cNvPr>
          <p:cNvSpPr>
            <a:spLocks noGrp="1"/>
          </p:cNvSpPr>
          <p:nvPr/>
        </p:nvSpPr>
        <p:spPr>
          <a:xfrm>
            <a:off x="53721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7EA4467-8811-4664-88ED-B7F564C6D205}"/>
              </a:ext>
            </a:extLst>
          </p:cNvPr>
          <p:cNvSpPr>
            <a:spLocks noGrp="1"/>
          </p:cNvSpPr>
          <p:nvPr/>
        </p:nvSpPr>
        <p:spPr>
          <a:xfrm>
            <a:off x="548640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FCB1967-76C1-4009-9AA0-D153D0AA41E9}"/>
              </a:ext>
            </a:extLst>
          </p:cNvPr>
          <p:cNvSpPr>
            <a:spLocks noGrp="1"/>
          </p:cNvSpPr>
          <p:nvPr/>
        </p:nvSpPr>
        <p:spPr>
          <a:xfrm>
            <a:off x="56578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during-call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7313D4-ECCF-4BE0-9EBE-1068C2711AC6}"/>
              </a:ext>
            </a:extLst>
          </p:cNvPr>
          <p:cNvSpPr>
            <a:spLocks noGrp="1"/>
          </p:cNvSpPr>
          <p:nvPr/>
        </p:nvSpPr>
        <p:spPr>
          <a:xfrm>
            <a:off x="53721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5D92FAA-77CB-4B9B-8C90-16E41E6ECCE7}"/>
              </a:ext>
            </a:extLst>
          </p:cNvPr>
          <p:cNvSpPr>
            <a:spLocks noGrp="1"/>
          </p:cNvSpPr>
          <p:nvPr/>
        </p:nvSpPr>
        <p:spPr>
          <a:xfrm>
            <a:off x="735330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B3BE0BA-12DB-499E-82EF-3508EA53F919}"/>
              </a:ext>
            </a:extLst>
          </p:cNvPr>
          <p:cNvSpPr>
            <a:spLocks noGrp="1"/>
          </p:cNvSpPr>
          <p:nvPr/>
        </p:nvSpPr>
        <p:spPr>
          <a:xfrm>
            <a:off x="7353300" y="2247900"/>
            <a:ext cx="2038350" cy="11430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8DD865A-8C9E-43BA-AF21-A91D59465D25}"/>
              </a:ext>
            </a:extLst>
          </p:cNvPr>
          <p:cNvSpPr>
            <a:spLocks noGrp="1"/>
          </p:cNvSpPr>
          <p:nvPr/>
        </p:nvSpPr>
        <p:spPr>
          <a:xfrm>
            <a:off x="756285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L3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3578ED4-1977-4F76-90A4-B961C21EA193}"/>
              </a:ext>
            </a:extLst>
          </p:cNvPr>
          <p:cNvSpPr>
            <a:spLocks noGrp="1"/>
          </p:cNvSpPr>
          <p:nvPr/>
        </p:nvSpPr>
        <p:spPr>
          <a:xfrm>
            <a:off x="756285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Lakera Guard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6D0F674-F336-44C3-891D-04AA30307623}"/>
              </a:ext>
            </a:extLst>
          </p:cNvPr>
          <p:cNvSpPr>
            <a:spLocks noGrp="1"/>
          </p:cNvSpPr>
          <p:nvPr/>
        </p:nvSpPr>
        <p:spPr>
          <a:xfrm>
            <a:off x="756285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63D96B51-B32C-4B5A-A9AA-DE031C429A54}"/>
              </a:ext>
            </a:extLst>
          </p:cNvPr>
          <p:cNvSpPr>
            <a:spLocks noGrp="1"/>
          </p:cNvSpPr>
          <p:nvPr/>
        </p:nvSpPr>
        <p:spPr>
          <a:xfrm>
            <a:off x="7677150" y="401955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9C9B3F7-FB75-4080-A8FC-9FF910B3BE23}"/>
              </a:ext>
            </a:extLst>
          </p:cNvPr>
          <p:cNvSpPr>
            <a:spLocks noGrp="1"/>
          </p:cNvSpPr>
          <p:nvPr/>
        </p:nvSpPr>
        <p:spPr>
          <a:xfrm>
            <a:off x="784860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650C098-A6FC-42D3-A14F-BE5FA4DDA914}"/>
              </a:ext>
            </a:extLst>
          </p:cNvPr>
          <p:cNvSpPr>
            <a:spLocks noGrp="1"/>
          </p:cNvSpPr>
          <p:nvPr/>
        </p:nvSpPr>
        <p:spPr>
          <a:xfrm>
            <a:off x="756285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215C648-2DE9-47FD-A277-6A242EFEDE0C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B6C180E-49F8-4DF8-AD7D-ED8A1BBD51DB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2038350" cy="1143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625F84B-9F36-41E8-80A2-479730D8CE0D}"/>
              </a:ext>
            </a:extLst>
          </p:cNvPr>
          <p:cNvSpPr>
            <a:spLocks noGrp="1"/>
          </p:cNvSpPr>
          <p:nvPr/>
        </p:nvSpPr>
        <p:spPr>
          <a:xfrm>
            <a:off x="9753600" y="2514600"/>
            <a:ext cx="66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03A8E"/>
                </a:solidFill>
              </a:defRPr>
            </a:pPr>
            <a:r>
              <a:rPr sz="2250" b="1">
                <a:solidFill>
                  <a:srgbClr val="203A8E"/>
                </a:solidFill>
              </a:rPr>
              <a:t>L4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5A0EBE9-508A-4AB8-9CD0-99793BECC3DF}"/>
              </a:ext>
            </a:extLst>
          </p:cNvPr>
          <p:cNvSpPr>
            <a:spLocks noGrp="1"/>
          </p:cNvSpPr>
          <p:nvPr/>
        </p:nvSpPr>
        <p:spPr>
          <a:xfrm>
            <a:off x="9753600" y="30480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GPT-4o-mini judge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1E3C6E2-CA39-441E-9FB8-5D4CC4EA5F09}"/>
              </a:ext>
            </a:extLst>
          </p:cNvPr>
          <p:cNvSpPr>
            <a:spLocks noGrp="1"/>
          </p:cNvSpPr>
          <p:nvPr/>
        </p:nvSpPr>
        <p:spPr>
          <a:xfrm>
            <a:off x="9753600" y="3924300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203A8E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20906D2-883D-44DF-8DAB-41E878806D1C}"/>
              </a:ext>
            </a:extLst>
          </p:cNvPr>
          <p:cNvSpPr>
            <a:spLocks noGrp="1"/>
          </p:cNvSpPr>
          <p:nvPr/>
        </p:nvSpPr>
        <p:spPr>
          <a:xfrm>
            <a:off x="9867900" y="401955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889BF43-7863-4770-872B-8072FB18ADBD}"/>
              </a:ext>
            </a:extLst>
          </p:cNvPr>
          <p:cNvSpPr>
            <a:spLocks noGrp="1"/>
          </p:cNvSpPr>
          <p:nvPr/>
        </p:nvSpPr>
        <p:spPr>
          <a:xfrm>
            <a:off x="10039350" y="39909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post-call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9EED2F-DD0E-4BC4-A179-D9F7741FA629}"/>
              </a:ext>
            </a:extLst>
          </p:cNvPr>
          <p:cNvSpPr>
            <a:spLocks noGrp="1"/>
          </p:cNvSpPr>
          <p:nvPr/>
        </p:nvSpPr>
        <p:spPr>
          <a:xfrm>
            <a:off x="9753600" y="4286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EC1B248-ED28-4F72-8E46-0C45C62F32BD}"/>
              </a:ext>
            </a:extLst>
          </p:cNvPr>
          <p:cNvSpPr>
            <a:spLocks noGrp="1"/>
          </p:cNvSpPr>
          <p:nvPr/>
        </p:nvSpPr>
        <p:spPr>
          <a:xfrm>
            <a:off x="10744200" y="17716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LLM 응답</a:t>
            </a:r>
          </a:p>
        </p:txBody>
      </p:sp>
    </p:spTree>
    <p:extLst>
      <p:ext uri="{BB962C8B-B14F-4D97-AF65-F5344CB8AC3E}">
        <p14:creationId xmlns:p14="http://schemas.microsoft.com/office/powerpoint/2010/main" val="125340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D17CE2-4F1B-4DE2-B436-C5BD443AA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A813792-1DF4-4392-AB2B-C1D557527018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7794B9-1695-40F9-A6C0-4E39C8E1FB0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C4273F1-B479-49C6-BF98-EA0167729B3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E9A286-DF03-4B75-AA5D-C534391BFF9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479F07-633D-4626-B907-E8BB0BDE4E4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0B5394-8BB2-407C-9061-D71561EFE54E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40B27F-FB37-42D3-9184-0F766ADDF90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1: 정규화 파이프라인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946C525-B43E-43FA-8F66-237173F80F1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50480-494E-462A-BC7D-92639DB28ED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53F890-1979-452B-B401-E71E7674210D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정규화는 성능의 중심이 아니라, 사전 매칭이 작동하도록 공격 표면을 복구하는 역할이다.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77E2B9-ED75-4AF6-8FAA-73FB577B8681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46BC60B-A65D-4D4A-AD0C-F81A1DA3E443}"/>
              </a:ext>
            </a:extLst>
          </p:cNvPr>
          <p:cNvSpPr>
            <a:spLocks noGrp="1"/>
          </p:cNvSpPr>
          <p:nvPr/>
        </p:nvSpPr>
        <p:spPr>
          <a:xfrm>
            <a:off x="14287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B18019-4AB9-4B42-B643-474969E58B52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자모 결합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B92CD6-2FFD-49EB-A8CF-538C06709439}"/>
              </a:ext>
            </a:extLst>
          </p:cNvPr>
          <p:cNvSpPr>
            <a:spLocks noGrp="1"/>
          </p:cNvSpPr>
          <p:nvPr/>
        </p:nvSpPr>
        <p:spPr>
          <a:xfrm>
            <a:off x="9144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ㅎㅏㄴㄱㅡㄹ → 한글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203A8E-6CFB-42FD-8BC9-E255B772109C}"/>
              </a:ext>
            </a:extLst>
          </p:cNvPr>
          <p:cNvSpPr>
            <a:spLocks noGrp="1"/>
          </p:cNvSpPr>
          <p:nvPr/>
        </p:nvSpPr>
        <p:spPr>
          <a:xfrm>
            <a:off x="297180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B7AA013-8CFC-40AE-B2CD-93852BCACA21}"/>
              </a:ext>
            </a:extLst>
          </p:cNvPr>
          <p:cNvSpPr>
            <a:spLocks noGrp="1"/>
          </p:cNvSpPr>
          <p:nvPr/>
        </p:nvSpPr>
        <p:spPr>
          <a:xfrm>
            <a:off x="3657600" y="2609850"/>
            <a:ext cx="685800" cy="685800"/>
          </a:xfrm>
          <a:prstGeom prst="ellipse">
            <a:avLst/>
          </a:prstGeom>
          <a:solidFill>
            <a:srgbClr val="FFF0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F556C8-E775-4B16-B530-D8C35A37A934}"/>
              </a:ext>
            </a:extLst>
          </p:cNvPr>
          <p:cNvSpPr>
            <a:spLocks noGrp="1"/>
          </p:cNvSpPr>
          <p:nvPr/>
        </p:nvSpPr>
        <p:spPr>
          <a:xfrm>
            <a:off x="314325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ZWSP 제거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4FFC0B-CC2E-4468-B06F-F03DC676588F}"/>
              </a:ext>
            </a:extLst>
          </p:cNvPr>
          <p:cNvSpPr>
            <a:spLocks noGrp="1"/>
          </p:cNvSpPr>
          <p:nvPr/>
        </p:nvSpPr>
        <p:spPr>
          <a:xfrm>
            <a:off x="314325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주민​번호 → 주민번호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AC29931-2395-450D-9519-A3AE0F652204}"/>
              </a:ext>
            </a:extLst>
          </p:cNvPr>
          <p:cNvSpPr>
            <a:spLocks noGrp="1"/>
          </p:cNvSpPr>
          <p:nvPr/>
        </p:nvSpPr>
        <p:spPr>
          <a:xfrm>
            <a:off x="52006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FA425BB-DFED-4BEA-8E59-1AD9E343A6CD}"/>
              </a:ext>
            </a:extLst>
          </p:cNvPr>
          <p:cNvSpPr>
            <a:spLocks noGrp="1"/>
          </p:cNvSpPr>
          <p:nvPr/>
        </p:nvSpPr>
        <p:spPr>
          <a:xfrm>
            <a:off x="58864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CDD689-E66D-43FA-8E3C-DC81BBEA54FD}"/>
              </a:ext>
            </a:extLst>
          </p:cNvPr>
          <p:cNvSpPr>
            <a:spLocks noGrp="1"/>
          </p:cNvSpPr>
          <p:nvPr/>
        </p:nvSpPr>
        <p:spPr>
          <a:xfrm>
            <a:off x="53721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Fullwidth 복원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6F8C08-76FC-49AF-A1C1-2557F030723A}"/>
              </a:ext>
            </a:extLst>
          </p:cNvPr>
          <p:cNvSpPr>
            <a:spLocks noGrp="1"/>
          </p:cNvSpPr>
          <p:nvPr/>
        </p:nvSpPr>
        <p:spPr>
          <a:xfrm>
            <a:off x="53721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１２３４ → 1234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203D429-1844-421B-8F5D-0123E9516B5D}"/>
              </a:ext>
            </a:extLst>
          </p:cNvPr>
          <p:cNvSpPr>
            <a:spLocks noGrp="1"/>
          </p:cNvSpPr>
          <p:nvPr/>
        </p:nvSpPr>
        <p:spPr>
          <a:xfrm>
            <a:off x="742950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288512D-E782-48EA-84FB-668D9DDF064D}"/>
              </a:ext>
            </a:extLst>
          </p:cNvPr>
          <p:cNvSpPr>
            <a:spLocks noGrp="1"/>
          </p:cNvSpPr>
          <p:nvPr/>
        </p:nvSpPr>
        <p:spPr>
          <a:xfrm>
            <a:off x="8115300" y="2609850"/>
            <a:ext cx="685800" cy="685800"/>
          </a:xfrm>
          <a:prstGeom prst="ellipse">
            <a:avLst/>
          </a:prstGeom>
          <a:solidFill>
            <a:srgbClr val="FFF0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8F0C1B-0F5C-4110-88F0-61531F98DCA8}"/>
              </a:ext>
            </a:extLst>
          </p:cNvPr>
          <p:cNvSpPr>
            <a:spLocks noGrp="1"/>
          </p:cNvSpPr>
          <p:nvPr/>
        </p:nvSpPr>
        <p:spPr>
          <a:xfrm>
            <a:off x="760095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숫자-한글 변환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4BF7EE1-2C18-4556-A556-4A0B2E3A6DB6}"/>
              </a:ext>
            </a:extLst>
          </p:cNvPr>
          <p:cNvSpPr>
            <a:spLocks noGrp="1"/>
          </p:cNvSpPr>
          <p:nvPr/>
        </p:nvSpPr>
        <p:spPr>
          <a:xfrm>
            <a:off x="760095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공이공칠일사 → 020714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EB109D1-0246-4856-A7F0-209169D5C3C8}"/>
              </a:ext>
            </a:extLst>
          </p:cNvPr>
          <p:cNvSpPr>
            <a:spLocks noGrp="1"/>
          </p:cNvSpPr>
          <p:nvPr/>
        </p:nvSpPr>
        <p:spPr>
          <a:xfrm>
            <a:off x="9658350" y="2362200"/>
            <a:ext cx="2095500" cy="2171700"/>
          </a:xfrm>
          <a:prstGeom prst="roundRect">
            <a:avLst>
              <a:gd name="adj" fmla="val 363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727307A-45AE-44E9-B6D4-0E79878BDA97}"/>
              </a:ext>
            </a:extLst>
          </p:cNvPr>
          <p:cNvSpPr>
            <a:spLocks noGrp="1"/>
          </p:cNvSpPr>
          <p:nvPr/>
        </p:nvSpPr>
        <p:spPr>
          <a:xfrm>
            <a:off x="10344150" y="2609850"/>
            <a:ext cx="685800" cy="685800"/>
          </a:xfrm>
          <a:prstGeom prst="ellipse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1F9A74-CB26-4C96-810E-144122613AAE}"/>
              </a:ext>
            </a:extLst>
          </p:cNvPr>
          <p:cNvSpPr>
            <a:spLocks noGrp="1"/>
          </p:cNvSpPr>
          <p:nvPr/>
        </p:nvSpPr>
        <p:spPr>
          <a:xfrm>
            <a:off x="9829800" y="34861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Homoglyph 치환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84B50A-5E37-476A-93A0-DB1EA7B76C8E}"/>
              </a:ext>
            </a:extLst>
          </p:cNvPr>
          <p:cNvSpPr>
            <a:spLocks noGrp="1"/>
          </p:cNvSpPr>
          <p:nvPr/>
        </p:nvSpPr>
        <p:spPr>
          <a:xfrm>
            <a:off x="9829800" y="38481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O0 / I1 혼용 정리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8E61503-0360-4D23-B709-E91B4145B654}"/>
              </a:ext>
            </a:extLst>
          </p:cNvPr>
          <p:cNvSpPr>
            <a:spLocks noGrp="1"/>
          </p:cNvSpPr>
          <p:nvPr/>
        </p:nvSpPr>
        <p:spPr>
          <a:xfrm>
            <a:off x="742950" y="4933950"/>
            <a:ext cx="10706100" cy="895350"/>
          </a:xfrm>
          <a:prstGeom prst="roundRect">
            <a:avLst>
              <a:gd name="adj" fmla="val 85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67CE324-5C22-4E9B-8AFF-C702334F205A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22A7D97-EC8F-4599-B8BE-8EE98174ACE1}"/>
              </a:ext>
            </a:extLst>
          </p:cNvPr>
          <p:cNvSpPr>
            <a:spLocks noGrp="1"/>
          </p:cNvSpPr>
          <p:nvPr/>
        </p:nvSpPr>
        <p:spPr>
          <a:xfrm>
            <a:off x="1181100" y="5143500"/>
            <a:ext cx="1000125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13단계 정규화 중 발표에서는 대표 5개만 보여준다.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DB0DA2B-1041-41BF-B82D-7FAFBBC687B7}"/>
              </a:ext>
            </a:extLst>
          </p:cNvPr>
          <p:cNvSpPr>
            <a:spLocks noGrp="1"/>
          </p:cNvSpPr>
          <p:nvPr/>
        </p:nvSpPr>
        <p:spPr>
          <a:xfrm>
            <a:off x="990600" y="5566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383DA33-8CA9-44B7-AB16-C8D8F3CA4B84}"/>
              </a:ext>
            </a:extLst>
          </p:cNvPr>
          <p:cNvSpPr>
            <a:spLocks noGrp="1"/>
          </p:cNvSpPr>
          <p:nvPr/>
        </p:nvSpPr>
        <p:spPr>
          <a:xfrm>
            <a:off x="1181100" y="5471160"/>
            <a:ext cx="1000125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핵심은 사람이 읽는 한국어와 시스템이 매칭하는 문자열을 다시 맞추는 것이다.</a:t>
            </a:r>
          </a:p>
        </p:txBody>
      </p:sp>
    </p:spTree>
    <p:extLst>
      <p:ext uri="{BB962C8B-B14F-4D97-AF65-F5344CB8AC3E}">
        <p14:creationId xmlns:p14="http://schemas.microsoft.com/office/powerpoint/2010/main" val="4971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3F83C1-F39B-46BF-B964-B8E936C92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9EA867E-5887-41DC-995E-B92CC893DDD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999F243-6229-460B-B448-954C2D54F0CE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40217F1-C2EA-48CD-A5F9-276F84622627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6474AF-44B5-4965-8FC0-83627239B75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9D55BF-DFC1-4C73-8FB7-19EA31F7F7C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04DF0E-81D6-4EE6-BE1B-3B2F8BB62019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583279-0BE1-4E7D-9750-7E5C50C6CBB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2: 탐지기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9322F71-A482-4CD1-8FD8-4108E9C85C8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F224D6-BD0E-4DF4-8A06-1E16F15D849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889D76-6DAA-4F60-851E-F80C4C05324B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 성능 상승의 대부분은 키워드 사전에서 나온다.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D8219DD-7D85-4CD2-9BE3-B55E955E6318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50673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FBE23FB-DB5B-4882-A9DB-F4A942916EA7}"/>
              </a:ext>
            </a:extLst>
          </p:cNvPr>
          <p:cNvSpPr>
            <a:spLocks noGrp="1"/>
          </p:cNvSpPr>
          <p:nvPr/>
        </p:nvSpPr>
        <p:spPr>
          <a:xfrm>
            <a:off x="6381750" y="2247900"/>
            <a:ext cx="50673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CBAF72-A334-4563-9C1C-77521A628688}"/>
              </a:ext>
            </a:extLst>
          </p:cNvPr>
          <p:cNvSpPr>
            <a:spLocks noGrp="1"/>
          </p:cNvSpPr>
          <p:nvPr/>
        </p:nvSpPr>
        <p:spPr>
          <a:xfrm>
            <a:off x="971550" y="25146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정규식 / 구조형 탐지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550C7CE-3818-4983-9765-BDA513A0965A}"/>
              </a:ext>
            </a:extLst>
          </p:cNvPr>
          <p:cNvSpPr>
            <a:spLocks noGrp="1"/>
          </p:cNvSpPr>
          <p:nvPr/>
        </p:nvSpPr>
        <p:spPr>
          <a:xfrm>
            <a:off x="971550" y="306705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39A843-694A-4804-A3BC-8837C7ECE10F}"/>
              </a:ext>
            </a:extLst>
          </p:cNvPr>
          <p:cNvSpPr>
            <a:spLocks noGrp="1"/>
          </p:cNvSpPr>
          <p:nvPr/>
        </p:nvSpPr>
        <p:spPr>
          <a:xfrm>
            <a:off x="1162050" y="297180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session token, JWT, court case number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570BD1C-4F9E-4C74-91A9-FD3AF6AED9F6}"/>
              </a:ext>
            </a:extLst>
          </p:cNvPr>
          <p:cNvSpPr>
            <a:spLocks noGrp="1"/>
          </p:cNvSpPr>
          <p:nvPr/>
        </p:nvSpPr>
        <p:spPr>
          <a:xfrm>
            <a:off x="971550" y="342519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4091A7-3821-4A3A-A340-21DF057EF886}"/>
              </a:ext>
            </a:extLst>
          </p:cNvPr>
          <p:cNvSpPr>
            <a:spLocks noGrp="1"/>
          </p:cNvSpPr>
          <p:nvPr/>
        </p:nvSpPr>
        <p:spPr>
          <a:xfrm>
            <a:off x="1162050" y="33299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GPS 좌표, AWS key, SSH key, MAC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0FD4607-2C98-41E7-A787-51AB6AE58EC3}"/>
              </a:ext>
            </a:extLst>
          </p:cNvPr>
          <p:cNvSpPr>
            <a:spLocks noGrp="1"/>
          </p:cNvSpPr>
          <p:nvPr/>
        </p:nvSpPr>
        <p:spPr>
          <a:xfrm>
            <a:off x="971550" y="378333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ACA2B25-23EE-4417-9A53-DAA24597E9A9}"/>
              </a:ext>
            </a:extLst>
          </p:cNvPr>
          <p:cNvSpPr>
            <a:spLocks noGrp="1"/>
          </p:cNvSpPr>
          <p:nvPr/>
        </p:nvSpPr>
        <p:spPr>
          <a:xfrm>
            <a:off x="1162050" y="368808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medical record number, employee ID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5F7DBDF-480D-43E1-AFA5-15F8566552F3}"/>
              </a:ext>
            </a:extLst>
          </p:cNvPr>
          <p:cNvSpPr>
            <a:spLocks noGrp="1"/>
          </p:cNvSpPr>
          <p:nvPr/>
        </p:nvSpPr>
        <p:spPr>
          <a:xfrm>
            <a:off x="971550" y="414147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E04727-84C3-419B-B5A1-3C4B90A7031A}"/>
              </a:ext>
            </a:extLst>
          </p:cNvPr>
          <p:cNvSpPr>
            <a:spLocks noGrp="1"/>
          </p:cNvSpPr>
          <p:nvPr/>
        </p:nvSpPr>
        <p:spPr>
          <a:xfrm>
            <a:off x="1162050" y="404622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차량번호, 보험증권번호, 거래번호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DD61BF-6BEE-4BC7-A146-12FD14E66EA1}"/>
              </a:ext>
            </a:extLst>
          </p:cNvPr>
          <p:cNvSpPr>
            <a:spLocks noGrp="1"/>
          </p:cNvSpPr>
          <p:nvPr/>
        </p:nvSpPr>
        <p:spPr>
          <a:xfrm>
            <a:off x="6610350" y="2514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키워드 사전 / 의미형 탐지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AF49136-F977-4C32-BAC8-2F3C37E55C87}"/>
              </a:ext>
            </a:extLst>
          </p:cNvPr>
          <p:cNvSpPr>
            <a:spLocks noGrp="1"/>
          </p:cNvSpPr>
          <p:nvPr/>
        </p:nvSpPr>
        <p:spPr>
          <a:xfrm>
            <a:off x="6610350" y="306705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C6B2F0-B5F0-4C46-A4AB-25AB43E575E2}"/>
              </a:ext>
            </a:extLst>
          </p:cNvPr>
          <p:cNvSpPr>
            <a:spLocks noGrp="1"/>
          </p:cNvSpPr>
          <p:nvPr/>
        </p:nvSpPr>
        <p:spPr>
          <a:xfrm>
            <a:off x="6800850" y="297180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allergy, diagnosis, prescription,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surgery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B685FF9-D3C4-4998-AABB-C3726ABC2C11}"/>
              </a:ext>
            </a:extLst>
          </p:cNvPr>
          <p:cNvSpPr>
            <a:spLocks noGrp="1"/>
          </p:cNvSpPr>
          <p:nvPr/>
        </p:nvSpPr>
        <p:spPr>
          <a:xfrm>
            <a:off x="6610350" y="363093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C87EC4-D597-4B26-9AD4-5C5D51E92EA2}"/>
              </a:ext>
            </a:extLst>
          </p:cNvPr>
          <p:cNvSpPr>
            <a:spLocks noGrp="1"/>
          </p:cNvSpPr>
          <p:nvPr/>
        </p:nvSpPr>
        <p:spPr>
          <a:xfrm>
            <a:off x="6800850" y="353568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family, marital, religion,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nationality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72F13AE-063C-4D84-8D7A-1A99CE4C669F}"/>
              </a:ext>
            </a:extLst>
          </p:cNvPr>
          <p:cNvSpPr>
            <a:spLocks noGrp="1"/>
          </p:cNvSpPr>
          <p:nvPr/>
        </p:nvSpPr>
        <p:spPr>
          <a:xfrm>
            <a:off x="6610350" y="419481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0D479BD-E49E-4A81-8863-E90F6B42B265}"/>
              </a:ext>
            </a:extLst>
          </p:cNvPr>
          <p:cNvSpPr>
            <a:spLocks noGrp="1"/>
          </p:cNvSpPr>
          <p:nvPr/>
        </p:nvSpPr>
        <p:spPr>
          <a:xfrm>
            <a:off x="6800850" y="409956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company, department, job title,</a:t>
            </a:r>
          </a:p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school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0A2A53E-D88B-4A6D-BB44-C508E6E9AFDB}"/>
              </a:ext>
            </a:extLst>
          </p:cNvPr>
          <p:cNvSpPr>
            <a:spLocks noGrp="1"/>
          </p:cNvSpPr>
          <p:nvPr/>
        </p:nvSpPr>
        <p:spPr>
          <a:xfrm>
            <a:off x="6610350" y="4758690"/>
            <a:ext cx="76200" cy="76200"/>
          </a:xfrm>
          <a:prstGeom prst="ellipse">
            <a:avLst/>
          </a:prstGeom>
          <a:solidFill>
            <a:srgbClr val="3440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EA462B-694A-41F3-8DA6-709C756F44FE}"/>
              </a:ext>
            </a:extLst>
          </p:cNvPr>
          <p:cNvSpPr>
            <a:spLocks noGrp="1"/>
          </p:cNvSpPr>
          <p:nvPr/>
        </p:nvSpPr>
        <p:spPr>
          <a:xfrm>
            <a:off x="6800850" y="46634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의료·법적·조직 맥락의 한국어 텍스트형 PII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2C5895F-724B-45B7-A27B-40AC630A52BC}"/>
              </a:ext>
            </a:extLst>
          </p:cNvPr>
          <p:cNvSpPr>
            <a:spLocks noGrp="1"/>
          </p:cNvSpPr>
          <p:nvPr/>
        </p:nvSpPr>
        <p:spPr>
          <a:xfrm>
            <a:off x="4286250" y="5753100"/>
            <a:ext cx="3619500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0255FA9-A209-4E02-B8A2-455B1BB4EA5C}"/>
              </a:ext>
            </a:extLst>
          </p:cNvPr>
          <p:cNvSpPr>
            <a:spLocks noGrp="1"/>
          </p:cNvSpPr>
          <p:nvPr/>
        </p:nvSpPr>
        <p:spPr>
          <a:xfrm>
            <a:off x="4286250" y="5753100"/>
            <a:ext cx="3619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C3A0CF8-E562-4511-B81A-D30BCB175405}"/>
              </a:ext>
            </a:extLst>
          </p:cNvPr>
          <p:cNvSpPr>
            <a:spLocks noGrp="1"/>
          </p:cNvSpPr>
          <p:nvPr/>
        </p:nvSpPr>
        <p:spPr>
          <a:xfrm>
            <a:off x="4457700" y="58674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DC6D47C-0EEB-4B63-9CBA-0F207D3854E5}"/>
              </a:ext>
            </a:extLst>
          </p:cNvPr>
          <p:cNvSpPr>
            <a:spLocks noGrp="1"/>
          </p:cNvSpPr>
          <p:nvPr/>
        </p:nvSpPr>
        <p:spPr>
          <a:xfrm>
            <a:off x="4457700" y="6134100"/>
            <a:ext cx="3276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사전만 켜도 KR semantic이 크게 상승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692EEBB-A8A7-436A-B7DE-D53CB8947401}"/>
              </a:ext>
            </a:extLst>
          </p:cNvPr>
          <p:cNvSpPr>
            <a:spLocks noGrp="1"/>
          </p:cNvSpPr>
          <p:nvPr/>
        </p:nvSpPr>
        <p:spPr>
          <a:xfrm>
            <a:off x="8077200" y="575310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5DD88D4-FAD0-4EC1-8618-8E8A81513343}"/>
              </a:ext>
            </a:extLst>
          </p:cNvPr>
          <p:cNvSpPr>
            <a:spLocks noGrp="1"/>
          </p:cNvSpPr>
          <p:nvPr/>
        </p:nvSpPr>
        <p:spPr>
          <a:xfrm>
            <a:off x="8077200" y="5753100"/>
            <a:ext cx="2095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E138D18-025C-4A68-92DC-DFB04B7062E3}"/>
              </a:ext>
            </a:extLst>
          </p:cNvPr>
          <p:cNvSpPr>
            <a:spLocks noGrp="1"/>
          </p:cNvSpPr>
          <p:nvPr/>
        </p:nvSpPr>
        <p:spPr>
          <a:xfrm>
            <a:off x="8248650" y="58674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A7DFDA-81DB-4A0C-9001-09ADFEC2783A}"/>
              </a:ext>
            </a:extLst>
          </p:cNvPr>
          <p:cNvSpPr>
            <a:spLocks noGrp="1"/>
          </p:cNvSpPr>
          <p:nvPr/>
        </p:nvSpPr>
        <p:spPr>
          <a:xfrm>
            <a:off x="8248650" y="6134100"/>
            <a:ext cx="175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정규화만 단독</a:t>
            </a:r>
          </a:p>
        </p:txBody>
      </p:sp>
    </p:spTree>
    <p:extLst>
      <p:ext uri="{BB962C8B-B14F-4D97-AF65-F5344CB8AC3E}">
        <p14:creationId xmlns:p14="http://schemas.microsoft.com/office/powerpoint/2010/main" val="585301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4064E3-0075-4421-B368-626D643DD8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295E52F-715F-445F-880E-B3231DB9498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B5D78A-F7EA-4245-85B1-73ABF72DFED3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FD883E7-F63A-49C8-BA93-67C469E48573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2C6DD1-693C-40A0-BDE3-1ABA1155F58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3B01B1-B7EB-4447-B8B3-A991F6C783D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A434E-1AF8-4749-940F-1A7326F33A9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CE74B-66F4-4B87-B4A4-4A6537CEA9A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평가 방법 개요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1FD34F6-A68F-46B7-A958-A24CAB10E94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6EB54D-2CE0-4AD8-85C6-6426E9FC0F6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26ED21-EA0A-40C9-B305-DA85586FBD5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validity-first, real API calls, 그리고 TRUE/FALSE/BYPASS 분리다.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A7B4C2-472F-4BC8-BDF9-C8F294C17009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457AB6-2DD0-4E29-88FD-C669A85E39BE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24C5DE-EB82-4679-9AD4-F0B338F5475F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Validity-first fuzzer v4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795C44-C862-4189-9EFC-ABB3031A462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유효하지 않은 payload가 섞이면 가드레일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실패와 데이터 오류가 구분되지 않기 때문에,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체크섬·포맷·의미형 유효성을 먼저 보장했다.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D8BC25-CE13-4F09-9E0B-E0CE5821A065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EAE8FA-6FB2-467C-9B0C-96ACCD85E2BC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B0DF69-1224-4896-82A8-63A909D7B289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Real API benchmark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B8C102B-BBBD-4250-AC7E-F4A336D00B17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모든 케이스를 실제 LiteLLM gateway와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외부 guardrail / judge 호출로 측정해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논리 시뮬레이션이 아니라 운영 지표를 확보했다.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71525F-AC76-4199-B5D6-CE7072E7BEAB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83D4655-D7BB-4615-9C21-68F6923122D4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D58361-ECD9-4BF7-B2C1-E6C16756EFD7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TRUE / FALSE / BYPASS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BEBBC9D-D893-42F2-8B08-E1F0DEEE5298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단순 출력 변화가 아니라 실제 PII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neutralization 여부를 기준으로 평가해,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가짜 탐지를 제외했다.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C47B885-BCFB-4274-9207-B898111C3B23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61A406-1DFD-45D2-9285-AB7429333965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23812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B89D53-92F0-4F35-8DA9-B5E4136C6D76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10,000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334B82-1E25-4D40-8DD2-DE27A71F1E61}"/>
              </a:ext>
            </a:extLst>
          </p:cNvPr>
          <p:cNvSpPr>
            <a:spLocks noGrp="1"/>
          </p:cNvSpPr>
          <p:nvPr/>
        </p:nvSpPr>
        <p:spPr>
          <a:xfrm>
            <a:off x="10477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같은 payload로 4-way 비교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16E7821-4A0C-46F3-8780-73681B6C309F}"/>
              </a:ext>
            </a:extLst>
          </p:cNvPr>
          <p:cNvSpPr>
            <a:spLocks noGrp="1"/>
          </p:cNvSpPr>
          <p:nvPr/>
        </p:nvSpPr>
        <p:spPr>
          <a:xfrm>
            <a:off x="34671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8524347-6623-4E9F-95F5-C48E8B3B2A50}"/>
              </a:ext>
            </a:extLst>
          </p:cNvPr>
          <p:cNvSpPr>
            <a:spLocks noGrp="1"/>
          </p:cNvSpPr>
          <p:nvPr/>
        </p:nvSpPr>
        <p:spPr>
          <a:xfrm>
            <a:off x="3467100" y="4686300"/>
            <a:ext cx="238125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DC91DF7-5FF8-4B53-AD51-2CDF94CBE2DB}"/>
              </a:ext>
            </a:extLst>
          </p:cNvPr>
          <p:cNvSpPr>
            <a:spLocks noGrp="1"/>
          </p:cNvSpPr>
          <p:nvPr/>
        </p:nvSpPr>
        <p:spPr>
          <a:xfrm>
            <a:off x="36385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91 types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9D1E85B-F6BC-4022-8728-5CFF1CC7EA35}"/>
              </a:ext>
            </a:extLst>
          </p:cNvPr>
          <p:cNvSpPr>
            <a:spLocks noGrp="1"/>
          </p:cNvSpPr>
          <p:nvPr/>
        </p:nvSpPr>
        <p:spPr>
          <a:xfrm>
            <a:off x="36385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PII coverage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51A2BBF-7A93-43D5-80E3-4639172D55C8}"/>
              </a:ext>
            </a:extLst>
          </p:cNvPr>
          <p:cNvSpPr>
            <a:spLocks noGrp="1"/>
          </p:cNvSpPr>
          <p:nvPr/>
        </p:nvSpPr>
        <p:spPr>
          <a:xfrm>
            <a:off x="60579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95D8E4-5DCC-46F7-BDB9-C45A7DBE1E69}"/>
              </a:ext>
            </a:extLst>
          </p:cNvPr>
          <p:cNvSpPr>
            <a:spLocks noGrp="1"/>
          </p:cNvSpPr>
          <p:nvPr/>
        </p:nvSpPr>
        <p:spPr>
          <a:xfrm>
            <a:off x="6057900" y="468630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D4AD73-CB80-4BFC-AD24-19BFD62BB0BE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TRUE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4A91616-B440-48BA-8D5D-EFE6054DE0B6}"/>
              </a:ext>
            </a:extLst>
          </p:cNvPr>
          <p:cNvSpPr>
            <a:spLocks noGrp="1"/>
          </p:cNvSpPr>
          <p:nvPr/>
        </p:nvSpPr>
        <p:spPr>
          <a:xfrm>
            <a:off x="62293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실제 neutralization 기준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E6DD208-86C4-4BB5-8D95-24845EFE76E3}"/>
              </a:ext>
            </a:extLst>
          </p:cNvPr>
          <p:cNvSpPr>
            <a:spLocks noGrp="1"/>
          </p:cNvSpPr>
          <p:nvPr/>
        </p:nvSpPr>
        <p:spPr>
          <a:xfrm>
            <a:off x="8648700" y="46863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1342334-15AC-44A0-8670-A7E2CED4FB04}"/>
              </a:ext>
            </a:extLst>
          </p:cNvPr>
          <p:cNvSpPr>
            <a:spLocks noGrp="1"/>
          </p:cNvSpPr>
          <p:nvPr/>
        </p:nvSpPr>
        <p:spPr>
          <a:xfrm>
            <a:off x="8648700" y="4686300"/>
            <a:ext cx="23812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3BF9168-7971-4E26-BC34-4802112BC570}"/>
              </a:ext>
            </a:extLst>
          </p:cNvPr>
          <p:cNvSpPr>
            <a:spLocks noGrp="1"/>
          </p:cNvSpPr>
          <p:nvPr/>
        </p:nvSpPr>
        <p:spPr>
          <a:xfrm>
            <a:off x="8820150" y="48577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v4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BD69E2-A79A-4B3A-BD9B-B9F890EE55A8}"/>
              </a:ext>
            </a:extLst>
          </p:cNvPr>
          <p:cNvSpPr>
            <a:spLocks noGrp="1"/>
          </p:cNvSpPr>
          <p:nvPr/>
        </p:nvSpPr>
        <p:spPr>
          <a:xfrm>
            <a:off x="8820150" y="53911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validity-first benchmark</a:t>
            </a:r>
          </a:p>
        </p:txBody>
      </p:sp>
    </p:spTree>
    <p:extLst>
      <p:ext uri="{BB962C8B-B14F-4D97-AF65-F5344CB8AC3E}">
        <p14:creationId xmlns:p14="http://schemas.microsoft.com/office/powerpoint/2010/main" val="381519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D4C87B-7D99-4E27-8CE4-08E57DABE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4EEB2AA-9A75-4D2C-8461-DA133CA33B1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8317B55-F838-4DCB-A202-069B85D12949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CFAC83A-7FD8-4748-BB07-7404E139689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654692-B859-46A1-8F45-1390DC50F19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E465AB-843B-4FB3-9D85-8CA3135896A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8BEB4D-9D69-43FA-B6EE-B3AE8CA572D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40F9DD-7A66-4704-9E30-7A57FCBF82C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벤치마크 구성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EB76E48-89ED-472E-A85F-9FDA0641B12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9CBA14-7EE6-40EB-AE86-42E5BCB69B0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55611C-2C92-4BC7-BE5F-256960BF53A3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발표의 핵심 slice는 KR semantic 1,302건이다.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33772E-4697-4B95-B83B-B82B6C17DD50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66DA0B-2D94-4AF2-A065-481F54F43C8E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0383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338DD5-2DA3-40FB-8B45-95650121E8E0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2,603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2E7D52-95D7-4F32-8CBB-CCE4F7AAE669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EN_checksum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B4AA736-04F6-44CC-9537-005E7876F179}"/>
              </a:ext>
            </a:extLst>
          </p:cNvPr>
          <p:cNvSpPr>
            <a:spLocks noGrp="1"/>
          </p:cNvSpPr>
          <p:nvPr/>
        </p:nvSpPr>
        <p:spPr>
          <a:xfrm>
            <a:off x="285750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4542AF-FB50-4693-8F0B-F84178F0FF39}"/>
              </a:ext>
            </a:extLst>
          </p:cNvPr>
          <p:cNvSpPr>
            <a:spLocks noGrp="1"/>
          </p:cNvSpPr>
          <p:nvPr/>
        </p:nvSpPr>
        <p:spPr>
          <a:xfrm>
            <a:off x="2857500" y="2400300"/>
            <a:ext cx="2038350" cy="5715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159250-0744-4FAD-BF0A-C0697F33A255}"/>
              </a:ext>
            </a:extLst>
          </p:cNvPr>
          <p:cNvSpPr>
            <a:spLocks noGrp="1"/>
          </p:cNvSpPr>
          <p:nvPr/>
        </p:nvSpPr>
        <p:spPr>
          <a:xfrm>
            <a:off x="302895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884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54FA87-0F36-4902-A339-F8466D68F79E}"/>
              </a:ext>
            </a:extLst>
          </p:cNvPr>
          <p:cNvSpPr>
            <a:spLocks noGrp="1"/>
          </p:cNvSpPr>
          <p:nvPr/>
        </p:nvSpPr>
        <p:spPr>
          <a:xfrm>
            <a:off x="302895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EN_format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5593177-6407-478E-B4E3-9DB5F0E62038}"/>
              </a:ext>
            </a:extLst>
          </p:cNvPr>
          <p:cNvSpPr>
            <a:spLocks noGrp="1"/>
          </p:cNvSpPr>
          <p:nvPr/>
        </p:nvSpPr>
        <p:spPr>
          <a:xfrm>
            <a:off x="50101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A33E8A-2FAF-48E2-9EAA-4CC2CB2377B2}"/>
              </a:ext>
            </a:extLst>
          </p:cNvPr>
          <p:cNvSpPr>
            <a:spLocks noGrp="1"/>
          </p:cNvSpPr>
          <p:nvPr/>
        </p:nvSpPr>
        <p:spPr>
          <a:xfrm>
            <a:off x="5010150" y="2400300"/>
            <a:ext cx="2038350" cy="57150"/>
          </a:xfrm>
          <a:prstGeom prst="rect">
            <a:avLst/>
          </a:prstGeom>
          <a:solidFill>
            <a:srgbClr val="FDB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70B593-BADB-4065-B077-A8BE5AD60406}"/>
              </a:ext>
            </a:extLst>
          </p:cNvPr>
          <p:cNvSpPr>
            <a:spLocks noGrp="1"/>
          </p:cNvSpPr>
          <p:nvPr/>
        </p:nvSpPr>
        <p:spPr>
          <a:xfrm>
            <a:off x="51816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522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7B2E8F-8574-4154-B38F-BECA5C4194DD}"/>
              </a:ext>
            </a:extLst>
          </p:cNvPr>
          <p:cNvSpPr>
            <a:spLocks noGrp="1"/>
          </p:cNvSpPr>
          <p:nvPr/>
        </p:nvSpPr>
        <p:spPr>
          <a:xfrm>
            <a:off x="51816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KR_checksum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F70E0DE-D419-456C-BFFF-2B072E57A451}"/>
              </a:ext>
            </a:extLst>
          </p:cNvPr>
          <p:cNvSpPr>
            <a:spLocks noGrp="1"/>
          </p:cNvSpPr>
          <p:nvPr/>
        </p:nvSpPr>
        <p:spPr>
          <a:xfrm>
            <a:off x="716280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812836-9676-473C-9442-5B94EABE15AD}"/>
              </a:ext>
            </a:extLst>
          </p:cNvPr>
          <p:cNvSpPr>
            <a:spLocks noGrp="1"/>
          </p:cNvSpPr>
          <p:nvPr/>
        </p:nvSpPr>
        <p:spPr>
          <a:xfrm>
            <a:off x="7162800" y="2400300"/>
            <a:ext cx="20383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C53E27-E8AA-4DD6-AFE0-BFB13DFC9164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4,689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AC267ED-B2A7-446A-ADA7-555D824C4EF6}"/>
              </a:ext>
            </a:extLst>
          </p:cNvPr>
          <p:cNvSpPr>
            <a:spLocks noGrp="1"/>
          </p:cNvSpPr>
          <p:nvPr/>
        </p:nvSpPr>
        <p:spPr>
          <a:xfrm>
            <a:off x="733425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KR_format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105CA9F-DE2E-45EA-98C4-31A7E4ECD037}"/>
              </a:ext>
            </a:extLst>
          </p:cNvPr>
          <p:cNvSpPr>
            <a:spLocks noGrp="1"/>
          </p:cNvSpPr>
          <p:nvPr/>
        </p:nvSpPr>
        <p:spPr>
          <a:xfrm>
            <a:off x="9315450" y="2400300"/>
            <a:ext cx="203835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1AD7057-CC82-46A3-9BA6-D495CD7A8829}"/>
              </a:ext>
            </a:extLst>
          </p:cNvPr>
          <p:cNvSpPr>
            <a:spLocks noGrp="1"/>
          </p:cNvSpPr>
          <p:nvPr/>
        </p:nvSpPr>
        <p:spPr>
          <a:xfrm>
            <a:off x="9315450" y="2400300"/>
            <a:ext cx="20383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B8C0E62-F228-40F6-909D-DDC4D5B6E495}"/>
              </a:ext>
            </a:extLst>
          </p:cNvPr>
          <p:cNvSpPr>
            <a:spLocks noGrp="1"/>
          </p:cNvSpPr>
          <p:nvPr/>
        </p:nvSpPr>
        <p:spPr>
          <a:xfrm>
            <a:off x="9486900" y="25717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1,302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155EB9-6FDF-4B66-9B41-D12C0013C288}"/>
              </a:ext>
            </a:extLst>
          </p:cNvPr>
          <p:cNvSpPr>
            <a:spLocks noGrp="1"/>
          </p:cNvSpPr>
          <p:nvPr/>
        </p:nvSpPr>
        <p:spPr>
          <a:xfrm>
            <a:off x="9486900" y="31051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KR_semantic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C49C197-7D5B-4EC5-B64E-F980DB819E94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107442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CDD611B-ECE4-4F99-9068-D07EF81EA215}"/>
              </a:ext>
            </a:extLst>
          </p:cNvPr>
          <p:cNvSpPr>
            <a:spLocks noGrp="1"/>
          </p:cNvSpPr>
          <p:nvPr/>
        </p:nvSpPr>
        <p:spPr>
          <a:xfrm>
            <a:off x="952500" y="46482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B38C0C-DF8E-4763-8E55-069FCB3F37B4}"/>
              </a:ext>
            </a:extLst>
          </p:cNvPr>
          <p:cNvSpPr>
            <a:spLocks noGrp="1"/>
          </p:cNvSpPr>
          <p:nvPr/>
        </p:nvSpPr>
        <p:spPr>
          <a:xfrm>
            <a:off x="1143000" y="455295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10,000건 중 English는 3,487건, Korean은 6,513건이다.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57617D3-92B8-407B-AC21-4EA3F059722D}"/>
              </a:ext>
            </a:extLst>
          </p:cNvPr>
          <p:cNvSpPr>
            <a:spLocks noGrp="1"/>
          </p:cNvSpPr>
          <p:nvPr/>
        </p:nvSpPr>
        <p:spPr>
          <a:xfrm>
            <a:off x="952500" y="49949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C5EF62-0F72-4D65-962A-97C7D2E618D9}"/>
              </a:ext>
            </a:extLst>
          </p:cNvPr>
          <p:cNvSpPr>
            <a:spLocks noGrp="1"/>
          </p:cNvSpPr>
          <p:nvPr/>
        </p:nvSpPr>
        <p:spPr>
          <a:xfrm>
            <a:off x="1143000" y="489966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그중 KR semantic 1,302건이 발표의 메인 타깃이며, 기존 가드레일의 취약성이 가장 강하게 드러나는 slice다.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8604C16B-E271-4C3F-89AB-C811DA478A20}"/>
              </a:ext>
            </a:extLst>
          </p:cNvPr>
          <p:cNvSpPr>
            <a:spLocks noGrp="1"/>
          </p:cNvSpPr>
          <p:nvPr/>
        </p:nvSpPr>
        <p:spPr>
          <a:xfrm>
            <a:off x="952500" y="53416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FA47004-81A6-490E-8C04-D0ACA75885BE}"/>
              </a:ext>
            </a:extLst>
          </p:cNvPr>
          <p:cNvSpPr>
            <a:spLocks noGrp="1"/>
          </p:cNvSpPr>
          <p:nvPr/>
        </p:nvSpPr>
        <p:spPr>
          <a:xfrm>
            <a:off x="1143000" y="5246370"/>
            <a:ext cx="99822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모든 4-way 구성은 이 동일한 payload를 공유한다.</a:t>
            </a:r>
          </a:p>
        </p:txBody>
      </p:sp>
    </p:spTree>
    <p:extLst>
      <p:ext uri="{BB962C8B-B14F-4D97-AF65-F5344CB8AC3E}">
        <p14:creationId xmlns:p14="http://schemas.microsoft.com/office/powerpoint/2010/main" val="1259538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E09BE7-CD76-43D9-A0C6-FFA40E1A3C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6F0ADBD-EBD9-4056-BB41-820785DFA1E6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97AEC8A-94F1-435B-8484-768214789D2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D54BB41-8F49-4215-B87B-C79E4D2BC15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6AF6CF-C4F6-4C60-85D8-79CBC45F80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D2B1F1-1818-44B6-9084-588C04793A1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439147-5CC5-41F9-BA69-EAE175CB192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4B9A7A3-7DFA-4C2F-BE50-648000A3FDF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핵심 문제 데이터: 영어 vs 한국어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CCE955A-58E3-4AF3-A3F8-D0D4C37FA51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858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32CF82-B5D6-416F-AE62-C1FD3DFF4D8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8FB7E3-7373-4694-BD42-35230D74DB15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53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잘 막지만 한국어 텍스트형 PII는 절반 수준까지 떨어진다.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7F542F-D110-4496-BE10-E386B25A0523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E6A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C25B59C-0593-459D-84D4-4AB74111E97D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A266AE-A4AD-4148-9948-1E06FD0890C2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English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2008B2C-387F-48D3-BA01-00E66B47FDB8}"/>
              </a:ext>
            </a:extLst>
          </p:cNvPr>
          <p:cNvSpPr>
            <a:spLocks noGrp="1"/>
          </p:cNvSpPr>
          <p:nvPr/>
        </p:nvSpPr>
        <p:spPr>
          <a:xfrm>
            <a:off x="16383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CEF5E56-2967-4F94-98BA-7F5BE959377A}"/>
              </a:ext>
            </a:extLst>
          </p:cNvPr>
          <p:cNvSpPr>
            <a:spLocks noGrp="1"/>
          </p:cNvSpPr>
          <p:nvPr/>
        </p:nvSpPr>
        <p:spPr>
          <a:xfrm>
            <a:off x="1752600" y="2171700"/>
            <a:ext cx="95250" cy="95250"/>
          </a:xfrm>
          <a:prstGeom prst="ellipse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C11BD1-9AAF-417E-9463-4088ABD8AF58}"/>
              </a:ext>
            </a:extLst>
          </p:cNvPr>
          <p:cNvSpPr>
            <a:spLocks noGrp="1"/>
          </p:cNvSpPr>
          <p:nvPr/>
        </p:nvSpPr>
        <p:spPr>
          <a:xfrm>
            <a:off x="19240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Korean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83EB6F0-9A86-4604-B14A-11327442B5BE}"/>
              </a:ext>
            </a:extLst>
          </p:cNvPr>
          <p:cNvSpPr>
            <a:spLocks noGrp="1"/>
          </p:cNvSpPr>
          <p:nvPr/>
        </p:nvSpPr>
        <p:spPr>
          <a:xfrm>
            <a:off x="2571750" y="2076450"/>
            <a:ext cx="1104900" cy="285750"/>
          </a:xfrm>
          <a:prstGeom prst="roundRect">
            <a:avLst>
              <a:gd name="adj" fmla="val 26667"/>
            </a:avLst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707A5A0-A0F9-49C1-A14F-5977B4F4C6DC}"/>
              </a:ext>
            </a:extLst>
          </p:cNvPr>
          <p:cNvSpPr>
            <a:spLocks noGrp="1"/>
          </p:cNvSpPr>
          <p:nvPr/>
        </p:nvSpPr>
        <p:spPr>
          <a:xfrm>
            <a:off x="268605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630C6C1-5855-4743-93AF-444CAD20A3E3}"/>
              </a:ext>
            </a:extLst>
          </p:cNvPr>
          <p:cNvSpPr>
            <a:spLocks noGrp="1"/>
          </p:cNvSpPr>
          <p:nvPr/>
        </p:nvSpPr>
        <p:spPr>
          <a:xfrm>
            <a:off x="2857500" y="2143125"/>
            <a:ext cx="742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KR semantic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99AEF0A-B03A-4EA0-99A6-0B9BD1A2B916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85800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4" name="Chart"/>
          <p:cNvGraphicFramePr/>
          <p:nvPr/>
        </p:nvGraphicFramePr>
        <p:xfrm>
          <a:off x="914400" y="2724150"/>
          <a:ext cx="643890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BA4956C-DED3-4934-9814-00DED18A4EF4}"/>
              </a:ext>
            </a:extLst>
          </p:cNvPr>
          <p:cNvSpPr>
            <a:spLocks noGrp="1"/>
          </p:cNvSpPr>
          <p:nvPr/>
        </p:nvSpPr>
        <p:spPr>
          <a:xfrm>
            <a:off x="7886700" y="268605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B12123-2BD7-4491-ACFA-FC6E5C293655}"/>
              </a:ext>
            </a:extLst>
          </p:cNvPr>
          <p:cNvSpPr>
            <a:spLocks noGrp="1"/>
          </p:cNvSpPr>
          <p:nvPr/>
        </p:nvSpPr>
        <p:spPr>
          <a:xfrm>
            <a:off x="7886700" y="2686050"/>
            <a:ext cx="34290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44A07F-765C-48AC-B4E9-C4DA9E9E4E94}"/>
              </a:ext>
            </a:extLst>
          </p:cNvPr>
          <p:cNvSpPr>
            <a:spLocks noGrp="1"/>
          </p:cNvSpPr>
          <p:nvPr/>
        </p:nvSpPr>
        <p:spPr>
          <a:xfrm>
            <a:off x="8058150" y="285750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-29.51%p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9E22ED-31CC-4613-8C65-8657EFD1F13B}"/>
              </a:ext>
            </a:extLst>
          </p:cNvPr>
          <p:cNvSpPr>
            <a:spLocks noGrp="1"/>
          </p:cNvSpPr>
          <p:nvPr/>
        </p:nvSpPr>
        <p:spPr>
          <a:xfrm>
            <a:off x="8058150" y="3390900"/>
            <a:ext cx="3086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Korean vs English gap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4FEA4F3-852E-45A5-B3A6-DC3436099BC5}"/>
              </a:ext>
            </a:extLst>
          </p:cNvPr>
          <p:cNvSpPr>
            <a:spLocks noGrp="1"/>
          </p:cNvSpPr>
          <p:nvPr/>
        </p:nvSpPr>
        <p:spPr>
          <a:xfrm>
            <a:off x="7886700" y="417195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B5B44C-D5A4-4BAD-B304-F95AA2BE6730}"/>
              </a:ext>
            </a:extLst>
          </p:cNvPr>
          <p:cNvSpPr>
            <a:spLocks noGrp="1"/>
          </p:cNvSpPr>
          <p:nvPr/>
        </p:nvSpPr>
        <p:spPr>
          <a:xfrm>
            <a:off x="7886700" y="4171950"/>
            <a:ext cx="34290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A309486-0D1A-432C-A7CC-6268D4F4C2D4}"/>
              </a:ext>
            </a:extLst>
          </p:cNvPr>
          <p:cNvSpPr>
            <a:spLocks noGrp="1"/>
          </p:cNvSpPr>
          <p:nvPr/>
        </p:nvSpPr>
        <p:spPr>
          <a:xfrm>
            <a:off x="8058150" y="434340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-49.75%p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CB1B2D-DC07-46EB-A460-19066EA4EA65}"/>
              </a:ext>
            </a:extLst>
          </p:cNvPr>
          <p:cNvSpPr>
            <a:spLocks noGrp="1"/>
          </p:cNvSpPr>
          <p:nvPr/>
        </p:nvSpPr>
        <p:spPr>
          <a:xfrm>
            <a:off x="8058150" y="4876800"/>
            <a:ext cx="3086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 vs English gap</a:t>
            </a:r>
          </a:p>
        </p:txBody>
      </p:sp>
    </p:spTree>
    <p:extLst>
      <p:ext uri="{BB962C8B-B14F-4D97-AF65-F5344CB8AC3E}">
        <p14:creationId xmlns:p14="http://schemas.microsoft.com/office/powerpoint/2010/main" val="114834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DFBA4C-9D05-42C3-ADAF-A616A5433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28A72E5-93CD-4A2C-B5C0-7D28CFD9AFA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0A2C6AD-96DD-4A47-8BF5-5EC122513BD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C5944C8-64FE-4100-9EB9-1CD7A7065810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09B43E-1A6F-4F0C-BE34-CFCA6315B5D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0C81AF-97F5-4762-BF8E-4EF7F0C0965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431C49-854A-44F4-988A-928B5488974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C5E3C6-4909-442F-A6FB-DE7FF582528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무엇을 특히 놓치는가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E750EB-90C4-42DE-89D5-2B112F8735A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0D147C-D886-41DE-8F73-93C85542443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4B4498-51BE-4D86-A510-FD8EEE9AF017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91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session, court, allergy, company, job_title에서 실패율이 극단적으로 높다.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8083094-C583-47F6-A670-242810469EF1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7981950" cy="3524250"/>
          </a:xfrm>
          <a:prstGeom prst="roundRect">
            <a:avLst>
              <a:gd name="adj" fmla="val 216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33450" y="2667000"/>
          <a:ext cx="75247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7319746-3875-4B86-8656-4041183FE416}"/>
              </a:ext>
            </a:extLst>
          </p:cNvPr>
          <p:cNvSpPr>
            <a:spLocks noGrp="1"/>
          </p:cNvSpPr>
          <p:nvPr/>
        </p:nvSpPr>
        <p:spPr>
          <a:xfrm>
            <a:off x="8991600" y="2362200"/>
            <a:ext cx="2457450" cy="3524250"/>
          </a:xfrm>
          <a:prstGeom prst="roundRect">
            <a:avLst>
              <a:gd name="adj" fmla="val 310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533D89-04B4-4373-8EF5-1228B72CA297}"/>
              </a:ext>
            </a:extLst>
          </p:cNvPr>
          <p:cNvSpPr>
            <a:spLocks noGrp="1"/>
          </p:cNvSpPr>
          <p:nvPr/>
        </p:nvSpPr>
        <p:spPr>
          <a:xfrm>
            <a:off x="9239250" y="262890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읽는 법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A959C56-2CAA-450A-B2BC-ADE74762F4F3}"/>
              </a:ext>
            </a:extLst>
          </p:cNvPr>
          <p:cNvSpPr>
            <a:spLocks noGrp="1"/>
          </p:cNvSpPr>
          <p:nvPr/>
        </p:nvSpPr>
        <p:spPr>
          <a:xfrm>
            <a:off x="9239250" y="300990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EE1423-91C2-4B39-ACA4-C6DF06B5398C}"/>
              </a:ext>
            </a:extLst>
          </p:cNvPr>
          <p:cNvSpPr>
            <a:spLocks noGrp="1"/>
          </p:cNvSpPr>
          <p:nvPr/>
        </p:nvSpPr>
        <p:spPr>
          <a:xfrm>
            <a:off x="9429750" y="2914650"/>
            <a:ext cx="17145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막대는 baseline A의 real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bypass rate(%)다.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74BBEAC-7852-46AA-BFD7-5712715E5209}"/>
              </a:ext>
            </a:extLst>
          </p:cNvPr>
          <p:cNvSpPr>
            <a:spLocks noGrp="1"/>
          </p:cNvSpPr>
          <p:nvPr/>
        </p:nvSpPr>
        <p:spPr>
          <a:xfrm>
            <a:off x="9239250" y="355092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76845E-03AA-4226-8002-602346A842F3}"/>
              </a:ext>
            </a:extLst>
          </p:cNvPr>
          <p:cNvSpPr>
            <a:spLocks noGrp="1"/>
          </p:cNvSpPr>
          <p:nvPr/>
        </p:nvSpPr>
        <p:spPr>
          <a:xfrm>
            <a:off x="9429750" y="3455670"/>
            <a:ext cx="17145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높을수록 기존 스택이 놓치는 비율이 크다.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E5C4936-A1A1-4D5D-89CB-B5C621AA923C}"/>
              </a:ext>
            </a:extLst>
          </p:cNvPr>
          <p:cNvSpPr>
            <a:spLocks noGrp="1"/>
          </p:cNvSpPr>
          <p:nvPr/>
        </p:nvSpPr>
        <p:spPr>
          <a:xfrm>
            <a:off x="9239250" y="3897630"/>
            <a:ext cx="76200" cy="762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162069-07D6-4AE2-BE1A-FAF775B31F69}"/>
              </a:ext>
            </a:extLst>
          </p:cNvPr>
          <p:cNvSpPr>
            <a:spLocks noGrp="1"/>
          </p:cNvSpPr>
          <p:nvPr/>
        </p:nvSpPr>
        <p:spPr>
          <a:xfrm>
            <a:off x="9429750" y="3802380"/>
            <a:ext cx="1714500" cy="426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상위 유형 대부분이 한국어 의미형 또는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문맥형 PII다.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A51DA83-C777-405A-8083-7ED5AF595347}"/>
              </a:ext>
            </a:extLst>
          </p:cNvPr>
          <p:cNvSpPr>
            <a:spLocks noGrp="1"/>
          </p:cNvSpPr>
          <p:nvPr/>
        </p:nvSpPr>
        <p:spPr>
          <a:xfrm>
            <a:off x="9239250" y="48196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7D16E7-E5EA-4A6C-A206-85C7982E1429}"/>
              </a:ext>
            </a:extLst>
          </p:cNvPr>
          <p:cNvSpPr>
            <a:spLocks noGrp="1"/>
          </p:cNvSpPr>
          <p:nvPr/>
        </p:nvSpPr>
        <p:spPr>
          <a:xfrm>
            <a:off x="9239250" y="4819650"/>
            <a:ext cx="1714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DEBD54-5A20-4C4C-969B-076689CEDDB4}"/>
              </a:ext>
            </a:extLst>
          </p:cNvPr>
          <p:cNvSpPr>
            <a:spLocks noGrp="1"/>
          </p:cNvSpPr>
          <p:nvPr/>
        </p:nvSpPr>
        <p:spPr>
          <a:xfrm>
            <a:off x="9410700" y="4933950"/>
            <a:ext cx="137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95.89%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0CCCDB-31FA-4965-AA5D-CE38A0C96BE6}"/>
              </a:ext>
            </a:extLst>
          </p:cNvPr>
          <p:cNvSpPr>
            <a:spLocks noGrp="1"/>
          </p:cNvSpPr>
          <p:nvPr/>
        </p:nvSpPr>
        <p:spPr>
          <a:xfrm>
            <a:off x="9410700" y="520065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session bypass</a:t>
            </a:r>
          </a:p>
        </p:txBody>
      </p:sp>
    </p:spTree>
    <p:extLst>
      <p:ext uri="{BB962C8B-B14F-4D97-AF65-F5344CB8AC3E}">
        <p14:creationId xmlns:p14="http://schemas.microsoft.com/office/powerpoint/2010/main" val="111362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BC0985-695E-419B-B03B-DCEC2DEBAE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4D421A4-6F7D-4F89-BE1B-FB3E9BF40FA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FF17837-3A8B-4F85-AC0B-592819E7A19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28580A0-B4B3-4DF2-8CE6-F453A5B26F8C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6C796A-FBD8-4447-8FB7-980C6B9132F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05078E-8598-4E53-89D6-CC035505040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CF9DE3-5381-4F80-BE43-FCFC31D55C8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6F757C-F945-44E2-8E65-EBEEC1736DD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전체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4EB7AAE-6450-4F96-B5A0-32B75AE6FD8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A5F669-CED1-4CA4-B906-B73A5BE29FD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F6868A-EAA6-4E7B-B438-F5D5386F42F9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전체 10k 기준에서도 C(+L0)가 B(+judge)보다 높다.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ACEB1D5-6C5B-4F26-A705-BB04BD48D8FB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1353A83-5376-4200-B238-753F4F638C2A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06DB6D-1952-463C-A502-DB8BD1C4C4FA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71F2A9E-A228-42AC-8B75-3A5113C11459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B33B5A7-1739-460E-9DE1-16DC6E85082D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E4877D-0E9B-445F-885B-40EDC0603731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0644241-B6E4-4882-8F79-7AD4CD722203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D94BA02-ACC2-4FEE-BD8A-83A144582D62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0317AD-C3D7-42D3-897A-CC90DFF6568D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8E32B3F-8A3D-4561-A78C-9A35B45E6FDE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C3A7094-30F5-43B7-9925-0BF1B9629C23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7E94BD-4F0A-4E80-8955-FA7DF6602434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EEA22AE-8783-4FD1-A846-102F50BE7718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81300"/>
          <a:ext cx="67818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80D27CA-F6DF-4DFE-9BB2-22269D85537A}"/>
              </a:ext>
            </a:extLst>
          </p:cNvPr>
          <p:cNvSpPr>
            <a:spLocks noGrp="1"/>
          </p:cNvSpPr>
          <p:nvPr/>
        </p:nvSpPr>
        <p:spPr>
          <a:xfrm>
            <a:off x="8286750" y="259080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1C5EFD-7415-4E28-9C49-D6C516E7A3F7}"/>
              </a:ext>
            </a:extLst>
          </p:cNvPr>
          <p:cNvSpPr>
            <a:spLocks noGrp="1"/>
          </p:cNvSpPr>
          <p:nvPr/>
        </p:nvSpPr>
        <p:spPr>
          <a:xfrm>
            <a:off x="8286750" y="2590800"/>
            <a:ext cx="2952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9C84890-0097-4567-B245-1D0FAA19C305}"/>
              </a:ext>
            </a:extLst>
          </p:cNvPr>
          <p:cNvSpPr>
            <a:spLocks noGrp="1"/>
          </p:cNvSpPr>
          <p:nvPr/>
        </p:nvSpPr>
        <p:spPr>
          <a:xfrm>
            <a:off x="8458200" y="2762250"/>
            <a:ext cx="2609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0E168-C232-4212-A5B3-FA00D93B642B}"/>
              </a:ext>
            </a:extLst>
          </p:cNvPr>
          <p:cNvSpPr>
            <a:spLocks noGrp="1"/>
          </p:cNvSpPr>
          <p:nvPr/>
        </p:nvSpPr>
        <p:spPr>
          <a:xfrm>
            <a:off x="8458200" y="3295650"/>
            <a:ext cx="2609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existing stack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7CDFA99-75B0-4150-A6C9-3BD71111D475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B8F2E1A-2462-45BF-A88D-59F15AD86C8A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2952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664830-904A-4A25-A552-CFC9EA3749B5}"/>
              </a:ext>
            </a:extLst>
          </p:cNvPr>
          <p:cNvSpPr>
            <a:spLocks noGrp="1"/>
          </p:cNvSpPr>
          <p:nvPr/>
        </p:nvSpPr>
        <p:spPr>
          <a:xfrm>
            <a:off x="8458200" y="4114800"/>
            <a:ext cx="2609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+3.36%p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0AE632E-C1E8-499D-886B-FC737372B948}"/>
              </a:ext>
            </a:extLst>
          </p:cNvPr>
          <p:cNvSpPr>
            <a:spLocks noGrp="1"/>
          </p:cNvSpPr>
          <p:nvPr/>
        </p:nvSpPr>
        <p:spPr>
          <a:xfrm>
            <a:off x="8458200" y="4648200"/>
            <a:ext cx="2609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vs B overall</a:t>
            </a:r>
          </a:p>
        </p:txBody>
      </p:sp>
    </p:spTree>
    <p:extLst>
      <p:ext uri="{BB962C8B-B14F-4D97-AF65-F5344CB8AC3E}">
        <p14:creationId xmlns:p14="http://schemas.microsoft.com/office/powerpoint/2010/main" val="1771251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39BDA0-057A-4C30-ABB3-7CC4D045FF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C068FE9-327C-4DA8-9733-1C7BB8014A0B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4D0DE74-2DAF-4E38-ABCE-F317756E4A9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7EF785A-C5A0-47CB-A9AB-8E30E2D8E416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6BD112-B631-49EF-9B6B-F36968AFC2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DB9AC4-1193-408D-B5A1-889CDB4A965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C8A90F-3E24-4072-8BD4-91266F89577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2F1F27-0F71-42D8-B8AA-7A2C9B2EA3F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한국어/영어 분리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448D76C-2CC5-417D-82B8-B1D861305B5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01A298-4C12-48B9-83C9-A0A2EE27D48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F86D3C-0169-4801-98AE-2DE39AB4A3F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77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English는 이미 포화 상태고, 한국어가 실제 개선 구간이다.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EBAD89F-9DF5-4B37-A8E0-2188860A90EB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323725B-AB33-4502-94CD-D42AA05E88E6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B89F7A-150C-4E57-8B83-21FB2DC34D6E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D6DE7C-CEA2-483F-B842-9DEDFFE96AB0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17D9205-B635-4359-9106-96BC7B75D570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EB0DE2-047B-442E-824A-768716E2F65A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7CF6343-9EB6-4FA3-8C51-605AAA32EECC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4DD5806-A66B-43D4-84E1-1C044BF61DCF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344A480-0767-4621-A15F-FAAD238AFF56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2989B3-2BC4-487C-98A0-B2754860832F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A5F845A-0688-496B-8386-DF421DEFCCD8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923813-FF76-4353-8FFC-04CEFDEAE023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A171760-B122-4F3A-83B2-10CCBF5B1665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8096250" cy="3333750"/>
          </a:xfrm>
          <a:prstGeom prst="roundRect">
            <a:avLst>
              <a:gd name="adj" fmla="val 228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24150"/>
          <a:ext cx="763905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A12B7DD-D56D-44CD-B9D4-23FB11701B91}"/>
              </a:ext>
            </a:extLst>
          </p:cNvPr>
          <p:cNvSpPr>
            <a:spLocks noGrp="1"/>
          </p:cNvSpPr>
          <p:nvPr/>
        </p:nvSpPr>
        <p:spPr>
          <a:xfrm>
            <a:off x="9086850" y="2609850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4AFBD7-E7C0-4656-8D57-A895E69998C2}"/>
              </a:ext>
            </a:extLst>
          </p:cNvPr>
          <p:cNvSpPr>
            <a:spLocks noGrp="1"/>
          </p:cNvSpPr>
          <p:nvPr/>
        </p:nvSpPr>
        <p:spPr>
          <a:xfrm>
            <a:off x="9086850" y="2609850"/>
            <a:ext cx="224790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9628295-93FA-46F0-9138-4EAC294CD183}"/>
              </a:ext>
            </a:extLst>
          </p:cNvPr>
          <p:cNvSpPr>
            <a:spLocks noGrp="1"/>
          </p:cNvSpPr>
          <p:nvPr/>
        </p:nvSpPr>
        <p:spPr>
          <a:xfrm>
            <a:off x="9258300" y="278130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A7B0FFE-E9D2-498E-BDB1-8FF0A2FD4457}"/>
              </a:ext>
            </a:extLst>
          </p:cNvPr>
          <p:cNvSpPr>
            <a:spLocks noGrp="1"/>
          </p:cNvSpPr>
          <p:nvPr/>
        </p:nvSpPr>
        <p:spPr>
          <a:xfrm>
            <a:off x="9258300" y="33147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English ceiling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B94F0C0-616B-46D5-8B3C-7FF189447547}"/>
              </a:ext>
            </a:extLst>
          </p:cNvPr>
          <p:cNvSpPr>
            <a:spLocks noGrp="1"/>
          </p:cNvSpPr>
          <p:nvPr/>
        </p:nvSpPr>
        <p:spPr>
          <a:xfrm>
            <a:off x="9086850" y="4057650"/>
            <a:ext cx="22479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3ED61D0-2290-4EA3-B29E-37D894C1C4DD}"/>
              </a:ext>
            </a:extLst>
          </p:cNvPr>
          <p:cNvSpPr>
            <a:spLocks noGrp="1"/>
          </p:cNvSpPr>
          <p:nvPr/>
        </p:nvSpPr>
        <p:spPr>
          <a:xfrm>
            <a:off x="9086850" y="4057650"/>
            <a:ext cx="22479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BC51E3-207B-4D59-BC47-F8994CD0C6AC}"/>
              </a:ext>
            </a:extLst>
          </p:cNvPr>
          <p:cNvSpPr>
            <a:spLocks noGrp="1"/>
          </p:cNvSpPr>
          <p:nvPr/>
        </p:nvSpPr>
        <p:spPr>
          <a:xfrm>
            <a:off x="9258300" y="422910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96.08%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6759D70-58DF-49C5-B791-026BD7036AE5}"/>
              </a:ext>
            </a:extLst>
          </p:cNvPr>
          <p:cNvSpPr>
            <a:spLocks noGrp="1"/>
          </p:cNvSpPr>
          <p:nvPr/>
        </p:nvSpPr>
        <p:spPr>
          <a:xfrm>
            <a:off x="9258300" y="47625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Korean full stack</a:t>
            </a:r>
          </a:p>
        </p:txBody>
      </p:sp>
    </p:spTree>
    <p:extLst>
      <p:ext uri="{BB962C8B-B14F-4D97-AF65-F5344CB8AC3E}">
        <p14:creationId xmlns:p14="http://schemas.microsoft.com/office/powerpoint/2010/main" val="1142182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23D068-A8AD-43A0-944C-4BED032E82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4BC8A00-D9A7-421A-BF0C-404E1785503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BD98B81-F337-47A4-8E8C-EC7154B43D7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C93C022-1DBB-4E59-AD3A-D13EE752975A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05B511-69AD-4D0E-8D06-CA7DC07E4A2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3C3C7A-9D1A-451F-9B7D-C01811C6554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20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0CAB2C-6E3B-411C-AA87-267BC776DFB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FB928A-3802-4D91-89B1-A048701045C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KR semantic 정면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EC7B22E-7F30-41C3-AE19-1C9D240A1A7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317A3D-E41A-4F53-B4F7-194B63E79BF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B73F72-9A38-4F45-BD5A-7EA5CE65D84E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34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L0가 GPT-4o-mini judge를 KR semantic에서 +8.99%p 능가한다.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675D3E8-0660-4E3F-B970-9217764AFED3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8A90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AB7FE58-E200-41B7-82FC-41BC21F6F4FF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95250" cy="95250"/>
          </a:xfrm>
          <a:prstGeom prst="ellipse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08E957-25F0-480E-B102-1D21BD858397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DF6F245-55DE-4874-A1F3-D4C0F93BF25D}"/>
              </a:ext>
            </a:extLst>
          </p:cNvPr>
          <p:cNvSpPr>
            <a:spLocks noGrp="1"/>
          </p:cNvSpPr>
          <p:nvPr/>
        </p:nvSpPr>
        <p:spPr>
          <a:xfrm>
            <a:off x="1828800" y="20764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03A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6A908E2-D521-465F-AD02-E329C419C934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95250" cy="95250"/>
          </a:xfrm>
          <a:prstGeom prst="ellipse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FFE009-005E-4E82-8155-39D49A256B42}"/>
              </a:ext>
            </a:extLst>
          </p:cNvPr>
          <p:cNvSpPr>
            <a:spLocks noGrp="1"/>
          </p:cNvSpPr>
          <p:nvPr/>
        </p:nvSpPr>
        <p:spPr>
          <a:xfrm>
            <a:off x="2114550" y="2143125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A5378C6-50B1-4EAA-A28A-A41E8657E0DC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007ABCF-7824-439B-A47F-8526598F4CAD}"/>
              </a:ext>
            </a:extLst>
          </p:cNvPr>
          <p:cNvSpPr>
            <a:spLocks noGrp="1"/>
          </p:cNvSpPr>
          <p:nvPr/>
        </p:nvSpPr>
        <p:spPr>
          <a:xfrm>
            <a:off x="2990850" y="2171700"/>
            <a:ext cx="95250" cy="95250"/>
          </a:xfrm>
          <a:prstGeom prst="ellipse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C891A3-EE2A-4BF3-8AAD-4BB7B8794F8F}"/>
              </a:ext>
            </a:extLst>
          </p:cNvPr>
          <p:cNvSpPr>
            <a:spLocks noGrp="1"/>
          </p:cNvSpPr>
          <p:nvPr/>
        </p:nvSpPr>
        <p:spPr>
          <a:xfrm>
            <a:off x="316230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D15854D-960E-4EC4-8217-9A80685F0F13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E824A68-CFA3-44EC-AE6C-09FEE8E6A1F3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AA0BB9-656E-4367-B536-639B2D68758A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Full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E25F9DD-80C9-4B5E-9527-ACE55F44E2A7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933450" y="2781300"/>
          <a:ext cx="67818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EA0159-472D-46E6-A0B4-496AD56C0FA7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1051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3CEC4F-064A-4958-9A1F-050D89EA812D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1051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6BB5C05-49AD-4B04-B979-0DD3E5BFDF79}"/>
              </a:ext>
            </a:extLst>
          </p:cNvPr>
          <p:cNvSpPr>
            <a:spLocks noGrp="1"/>
          </p:cNvSpPr>
          <p:nvPr/>
        </p:nvSpPr>
        <p:spPr>
          <a:xfrm>
            <a:off x="8401050" y="27622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3F8D44-907F-467F-A7F3-54D4DE9279E4}"/>
              </a:ext>
            </a:extLst>
          </p:cNvPr>
          <p:cNvSpPr>
            <a:spLocks noGrp="1"/>
          </p:cNvSpPr>
          <p:nvPr/>
        </p:nvSpPr>
        <p:spPr>
          <a:xfrm>
            <a:off x="8401050" y="329565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existing stack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EE83CA7-B196-4E71-BF88-9A0AE01A97EB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310515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05B3C47-FBDA-42FC-BCBF-7D9A12E18309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31051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6A24A2-D48E-41ED-8704-745282B37E89}"/>
              </a:ext>
            </a:extLst>
          </p:cNvPr>
          <p:cNvSpPr>
            <a:spLocks noGrp="1"/>
          </p:cNvSpPr>
          <p:nvPr/>
        </p:nvSpPr>
        <p:spPr>
          <a:xfrm>
            <a:off x="8401050" y="41148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78D1266-EBAA-4DE9-BA56-96D00E947AA3}"/>
              </a:ext>
            </a:extLst>
          </p:cNvPr>
          <p:cNvSpPr>
            <a:spLocks noGrp="1"/>
          </p:cNvSpPr>
          <p:nvPr/>
        </p:nvSpPr>
        <p:spPr>
          <a:xfrm>
            <a:off x="8401050" y="46482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vs B on KR semantic</a:t>
            </a:r>
          </a:p>
        </p:txBody>
      </p:sp>
    </p:spTree>
    <p:extLst>
      <p:ext uri="{BB962C8B-B14F-4D97-AF65-F5344CB8AC3E}">
        <p14:creationId xmlns:p14="http://schemas.microsoft.com/office/powerpoint/2010/main" val="1553849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7E5090-711E-4C8C-9D7D-8FAEC275C9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FB1B790-053D-47D4-9E37-0F61AF29439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CB5ABE0-D8BB-45D7-A3CC-2A426946537F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250B796-3435-427D-A827-5D2410BE9B98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920E7F-9E5E-4C01-91CD-E9A17F8DE51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79C72B-A103-4A96-96A7-F577C247A19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21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E19200-707F-45D0-9B6C-B865B2F91D2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F45F37-C508-4729-B29A-0976E0AFBC6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L0(v0) 단독 성능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638CBDE-66E4-4063-86A1-8867602859B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858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D68583-4395-4396-AC70-F705BCC8B24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FDE0BD-9CAA-4346-97D1-166D5B084E0B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53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L0는 standalone 엔진이 아니라 한국어 보강 계층으로 보는 것이 맞다.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D5BB49-9BB6-4A88-A3C3-DB3E0EE55DCB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B4F0BC-02AE-474A-8C30-49C5DFEB6C52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2381250" cy="57150"/>
          </a:xfrm>
          <a:prstGeom prst="rect">
            <a:avLst/>
          </a:prstGeom>
          <a:solidFill>
            <a:srgbClr val="8A90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DD1459-5731-41E5-84D0-35E465CECFB8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30.96%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2D0D22-C6B0-4484-BA1E-1003E1A82AE9}"/>
              </a:ext>
            </a:extLst>
          </p:cNvPr>
          <p:cNvSpPr>
            <a:spLocks noGrp="1"/>
          </p:cNvSpPr>
          <p:nvPr/>
        </p:nvSpPr>
        <p:spPr>
          <a:xfrm>
            <a:off x="10477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overall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10D441F-0D08-49C9-BE8B-74C1C27EA1A7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EE0A0B-8943-49BA-BB0D-AF052942E15D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238125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1C0639-7A9B-4269-8589-75093F38CFBA}"/>
              </a:ext>
            </a:extLst>
          </p:cNvPr>
          <p:cNvSpPr>
            <a:spLocks noGrp="1"/>
          </p:cNvSpPr>
          <p:nvPr/>
        </p:nvSpPr>
        <p:spPr>
          <a:xfrm>
            <a:off x="36766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47.54%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ED4F86-6660-4E49-A13F-9031AF0DB7CB}"/>
              </a:ext>
            </a:extLst>
          </p:cNvPr>
          <p:cNvSpPr>
            <a:spLocks noGrp="1"/>
          </p:cNvSpPr>
          <p:nvPr/>
        </p:nvSpPr>
        <p:spPr>
          <a:xfrm>
            <a:off x="36766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1CFB0EE-22E3-43AF-88AB-3748C7BF7F6C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668EEF-9046-425D-A9FF-B28D69C5DA0F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1F54656-A955-4AB0-B984-4FAC660D33D4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80.65%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175972-F696-4D42-B38F-E98CBAC9F87D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semantic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D3BB894-271F-46BE-869F-55B38BE1B76E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3812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6A76C5-6159-415D-9662-0E3C2FE6A708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3812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BF81E96-E197-4B81-A535-A22B034E9800}"/>
              </a:ext>
            </a:extLst>
          </p:cNvPr>
          <p:cNvSpPr>
            <a:spLocks noGrp="1"/>
          </p:cNvSpPr>
          <p:nvPr/>
        </p:nvSpPr>
        <p:spPr>
          <a:xfrm>
            <a:off x="8934450" y="2686050"/>
            <a:ext cx="2038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0.00%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ABCBCD-49A5-4B02-AC83-9818B271EBF5}"/>
              </a:ext>
            </a:extLst>
          </p:cNvPr>
          <p:cNvSpPr>
            <a:spLocks noGrp="1"/>
          </p:cNvSpPr>
          <p:nvPr/>
        </p:nvSpPr>
        <p:spPr>
          <a:xfrm>
            <a:off x="8934450" y="3219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D1FD4B3-F1ED-4EB1-A2FA-F3B9A73F2F2B}"/>
              </a:ext>
            </a:extLst>
          </p:cNvPr>
          <p:cNvSpPr>
            <a:spLocks noGrp="1"/>
          </p:cNvSpPr>
          <p:nvPr/>
        </p:nvSpPr>
        <p:spPr>
          <a:xfrm>
            <a:off x="876300" y="4457700"/>
            <a:ext cx="10267950" cy="1295400"/>
          </a:xfrm>
          <a:prstGeom prst="roundRect">
            <a:avLst>
              <a:gd name="adj" fmla="val 5882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EBFB454-E391-47C6-BCBC-AE68D0B3CB03}"/>
              </a:ext>
            </a:extLst>
          </p:cNvPr>
          <p:cNvSpPr>
            <a:spLocks noGrp="1"/>
          </p:cNvSpPr>
          <p:nvPr/>
        </p:nvSpPr>
        <p:spPr>
          <a:xfrm>
            <a:off x="1104900" y="47815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3F088DE-D248-4281-9C12-CD338A31EA51}"/>
              </a:ext>
            </a:extLst>
          </p:cNvPr>
          <p:cNvSpPr>
            <a:spLocks noGrp="1"/>
          </p:cNvSpPr>
          <p:nvPr/>
        </p:nvSpPr>
        <p:spPr>
          <a:xfrm>
            <a:off x="1295400" y="468630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KR semantic만 놓고 보면 80.65%로 강한 편이다.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A98BD0C-E850-4789-9E1B-3B74847D463A}"/>
              </a:ext>
            </a:extLst>
          </p:cNvPr>
          <p:cNvSpPr>
            <a:spLocks noGrp="1"/>
          </p:cNvSpPr>
          <p:nvPr/>
        </p:nvSpPr>
        <p:spPr>
          <a:xfrm>
            <a:off x="1104900" y="512826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9DF128-BF03-4A5B-A4D5-A34E598FCA75}"/>
              </a:ext>
            </a:extLst>
          </p:cNvPr>
          <p:cNvSpPr>
            <a:spLocks noGrp="1"/>
          </p:cNvSpPr>
          <p:nvPr/>
        </p:nvSpPr>
        <p:spPr>
          <a:xfrm>
            <a:off x="1295400" y="503301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하지만 EN 0.00%, overall 30.96%이기 때문에 전체 보호 엔진으로 말하면 과장된다.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B4CE13B-848E-4665-A746-EFCB33E855AD}"/>
              </a:ext>
            </a:extLst>
          </p:cNvPr>
          <p:cNvSpPr>
            <a:spLocks noGrp="1"/>
          </p:cNvSpPr>
          <p:nvPr/>
        </p:nvSpPr>
        <p:spPr>
          <a:xfrm>
            <a:off x="1104900" y="547497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185A11-DED1-41C2-9E3E-D7B3A1882EAF}"/>
              </a:ext>
            </a:extLst>
          </p:cNvPr>
          <p:cNvSpPr>
            <a:spLocks noGrp="1"/>
          </p:cNvSpPr>
          <p:nvPr/>
        </p:nvSpPr>
        <p:spPr>
          <a:xfrm>
            <a:off x="1295400" y="5379720"/>
            <a:ext cx="96393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따라서 L0의 정체성은 '한국어 augmentation layer'가 가장 정확하다.</a:t>
            </a:r>
          </a:p>
        </p:txBody>
      </p:sp>
    </p:spTree>
    <p:extLst>
      <p:ext uri="{BB962C8B-B14F-4D97-AF65-F5344CB8AC3E}">
        <p14:creationId xmlns:p14="http://schemas.microsoft.com/office/powerpoint/2010/main" val="648789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8DC891-1DE0-4DAE-8EFD-7B89C1C9C7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50270FB-F17F-4540-8741-BFF62E5E876C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16C7AF5-1ADD-46AF-8922-442E6592799B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11C8899-3876-47DF-BFC5-4E8211E7319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817D50-4962-4DD7-B6C7-393B939B770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6B6BDB-F670-4471-BEDD-914C817CA9A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22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54CD5E-5E8E-47C7-8701-C658DD0B9C8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9A076B-AE9F-4179-8DBA-F855C7A091A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단독 성능의 해석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2475AD-CECB-4569-8300-0D9E030D347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FC4CCC-1FA9-48F3-84AC-9764205563E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5ED76-2602-4E6A-9636-BACDB8B4067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77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L0의 강점과 한계를 같이 보여줘야 발표 논리가 단단해진다.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8342608-85BE-47B9-8C54-8713CDDA0CBC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86F502-58C9-413E-98E9-4877524844C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95250" cy="17907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079E95-8E24-4107-AC28-AA5FD4B520EE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잘하는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D4FDB8-060E-43CA-B3D5-06401511D45A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semantic 80.65% 한국어 의미형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PII 보강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A43D71E-330D-4A70-A23D-13ACF6A0C1DB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FEBA22-8D79-4B59-8F7F-5359829A7200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95250" cy="179070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57B4D7-19DF-42E4-9AAE-2FBF40D1A1FD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의도적으로 안 하는 것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9A715F-AAB5-4ACB-91B8-11FDF06986F6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EN 0.00% 영어는 기존 스택에 맡김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457D0EB-A6DD-46A0-AB50-453B989B53BE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89AFA7-03A8-4DA1-B601-8BA88B31836F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95250" cy="17907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922603-E4AC-4302-9539-09E69A18EF73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12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약한 것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E3AD46-0578-4149-B206-F19247220B4B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3105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checksum 18.58% 체크섬형은 기존</a:t>
            </a:r>
          </a:p>
          <a:p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레이어가 더 강함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65CAB95-95EA-45D7-9CFA-82FF063FE59A}"/>
              </a:ext>
            </a:extLst>
          </p:cNvPr>
          <p:cNvSpPr>
            <a:spLocks noGrp="1"/>
          </p:cNvSpPr>
          <p:nvPr/>
        </p:nvSpPr>
        <p:spPr>
          <a:xfrm>
            <a:off x="3886200" y="4819650"/>
            <a:ext cx="4419600" cy="800100"/>
          </a:xfrm>
          <a:prstGeom prst="roundRect">
            <a:avLst>
              <a:gd name="adj" fmla="val 9524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8470AF-B735-4AA6-A039-F3F422C76228}"/>
              </a:ext>
            </a:extLst>
          </p:cNvPr>
          <p:cNvSpPr>
            <a:spLocks noGrp="1"/>
          </p:cNvSpPr>
          <p:nvPr/>
        </p:nvSpPr>
        <p:spPr>
          <a:xfrm>
            <a:off x="3886200" y="4819650"/>
            <a:ext cx="44196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EB6483-4ED7-423F-BEFF-58D13D69122D}"/>
              </a:ext>
            </a:extLst>
          </p:cNvPr>
          <p:cNvSpPr>
            <a:spLocks noGrp="1"/>
          </p:cNvSpPr>
          <p:nvPr/>
        </p:nvSpPr>
        <p:spPr>
          <a:xfrm>
            <a:off x="4057650" y="4933950"/>
            <a:ext cx="407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보호 엔진이 아니라 한국어 보강 계층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36340B-AA08-4089-A442-E474299DD6CA}"/>
              </a:ext>
            </a:extLst>
          </p:cNvPr>
          <p:cNvSpPr>
            <a:spLocks noGrp="1"/>
          </p:cNvSpPr>
          <p:nvPr/>
        </p:nvSpPr>
        <p:spPr>
          <a:xfrm>
            <a:off x="4057650" y="5200650"/>
            <a:ext cx="407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발표 framing</a:t>
            </a:r>
          </a:p>
        </p:txBody>
      </p:sp>
    </p:spTree>
    <p:extLst>
      <p:ext uri="{BB962C8B-B14F-4D97-AF65-F5344CB8AC3E}">
        <p14:creationId xmlns:p14="http://schemas.microsoft.com/office/powerpoint/2010/main" val="280276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F076E7-2175-44E4-A53F-708E4FB641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776507C-F416-415F-BA19-677838E6C16E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7D44EBE-74B5-4873-90C5-66EC61007302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07ECA31-1CF1-46E0-A453-CA78FE20DE2D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3BC253-FEEC-4C94-86ED-96535E5229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68CABF-8795-42BD-8837-6F2ED5FE0FD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23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A05E16-49BC-478F-A2AF-809789C4775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1FE1E2-EEFB-4652-B696-023508BE266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통계 검정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3D754D-9AE5-4797-AC01-E9EE06F152E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477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9C86E3-5A31-4B2B-9A76-BFE829B0B05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58EF7E-EFF4-4628-A11F-35903B690E38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153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B(+judge)보다 C(+L0)만 맞힌 케이스가 훨씬 더 많다.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72818FD-C76F-47A9-885C-50D12949B622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572250" cy="3048000"/>
          </a:xfrm>
          <a:prstGeom prst="roundRect">
            <a:avLst>
              <a:gd name="adj" fmla="val 25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90600" y="2762250"/>
          <a:ext cx="600075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5EEA21-CB06-42AF-B58C-1E92FBA02E2F}"/>
              </a:ext>
            </a:extLst>
          </p:cNvPr>
          <p:cNvSpPr>
            <a:spLocks noGrp="1"/>
          </p:cNvSpPr>
          <p:nvPr/>
        </p:nvSpPr>
        <p:spPr>
          <a:xfrm>
            <a:off x="7658100" y="2400300"/>
            <a:ext cx="3676650" cy="30480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CC0FCF-BC88-4BC3-B29B-0C49C2FFD6AE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768D82-6D49-46F1-8937-14E7AE0743CC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14287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6AB13C-5277-48FD-A9DB-52B4BD6FFEDA}"/>
              </a:ext>
            </a:extLst>
          </p:cNvPr>
          <p:cNvSpPr>
            <a:spLocks noGrp="1"/>
          </p:cNvSpPr>
          <p:nvPr/>
        </p:nvSpPr>
        <p:spPr>
          <a:xfrm>
            <a:off x="8153400" y="2857500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291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51843A-AD00-42EB-A7F2-F62B301C6058}"/>
              </a:ext>
            </a:extLst>
          </p:cNvPr>
          <p:cNvSpPr>
            <a:spLocks noGrp="1"/>
          </p:cNvSpPr>
          <p:nvPr/>
        </p:nvSpPr>
        <p:spPr>
          <a:xfrm>
            <a:off x="8153400" y="32194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B only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6C9C580-FAEA-4A5A-AC73-63D828EF4F07}"/>
              </a:ext>
            </a:extLst>
          </p:cNvPr>
          <p:cNvSpPr>
            <a:spLocks noGrp="1"/>
          </p:cNvSpPr>
          <p:nvPr/>
        </p:nvSpPr>
        <p:spPr>
          <a:xfrm>
            <a:off x="9582150" y="27241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D79512-C4BC-485B-A765-605D3518A5B7}"/>
              </a:ext>
            </a:extLst>
          </p:cNvPr>
          <p:cNvSpPr>
            <a:spLocks noGrp="1"/>
          </p:cNvSpPr>
          <p:nvPr/>
        </p:nvSpPr>
        <p:spPr>
          <a:xfrm>
            <a:off x="9582150" y="2724150"/>
            <a:ext cx="1428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7C6B5E4-B3EC-4E70-BE1C-3069373290D9}"/>
              </a:ext>
            </a:extLst>
          </p:cNvPr>
          <p:cNvSpPr>
            <a:spLocks noGrp="1"/>
          </p:cNvSpPr>
          <p:nvPr/>
        </p:nvSpPr>
        <p:spPr>
          <a:xfrm>
            <a:off x="9753600" y="2857500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627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7DAC86-32F9-4DA7-95FF-C7AC7C4843DA}"/>
              </a:ext>
            </a:extLst>
          </p:cNvPr>
          <p:cNvSpPr>
            <a:spLocks noGrp="1"/>
          </p:cNvSpPr>
          <p:nvPr/>
        </p:nvSpPr>
        <p:spPr>
          <a:xfrm>
            <a:off x="9753600" y="32194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C only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188C3F8-E2EC-4175-84A5-01A06FB9F7B2}"/>
              </a:ext>
            </a:extLst>
          </p:cNvPr>
          <p:cNvSpPr>
            <a:spLocks noGrp="1"/>
          </p:cNvSpPr>
          <p:nvPr/>
        </p:nvSpPr>
        <p:spPr>
          <a:xfrm>
            <a:off x="7981950" y="3848100"/>
            <a:ext cx="30289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365D4B-7798-4F89-BB59-BA779C30EA13}"/>
              </a:ext>
            </a:extLst>
          </p:cNvPr>
          <p:cNvSpPr>
            <a:spLocks noGrp="1"/>
          </p:cNvSpPr>
          <p:nvPr/>
        </p:nvSpPr>
        <p:spPr>
          <a:xfrm>
            <a:off x="7981950" y="3848100"/>
            <a:ext cx="30289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C9D98F-118A-4C9A-9DBE-41F04A56BCD5}"/>
              </a:ext>
            </a:extLst>
          </p:cNvPr>
          <p:cNvSpPr>
            <a:spLocks noGrp="1"/>
          </p:cNvSpPr>
          <p:nvPr/>
        </p:nvSpPr>
        <p:spPr>
          <a:xfrm>
            <a:off x="8153400" y="39814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336건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895C48-033C-4510-BF11-E59AED89B55C}"/>
              </a:ext>
            </a:extLst>
          </p:cNvPr>
          <p:cNvSpPr>
            <a:spLocks noGrp="1"/>
          </p:cNvSpPr>
          <p:nvPr/>
        </p:nvSpPr>
        <p:spPr>
          <a:xfrm>
            <a:off x="8153400" y="4343400"/>
            <a:ext cx="2686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E0C054-B958-4251-BE1B-3C675C075DE1}"/>
              </a:ext>
            </a:extLst>
          </p:cNvPr>
          <p:cNvSpPr>
            <a:spLocks noGrp="1"/>
          </p:cNvSpPr>
          <p:nvPr/>
        </p:nvSpPr>
        <p:spPr>
          <a:xfrm>
            <a:off x="7981950" y="5048250"/>
            <a:ext cx="3028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 &lt; 2.04e-28</a:t>
            </a:r>
          </a:p>
        </p:txBody>
      </p:sp>
    </p:spTree>
    <p:extLst>
      <p:ext uri="{BB962C8B-B14F-4D97-AF65-F5344CB8AC3E}">
        <p14:creationId xmlns:p14="http://schemas.microsoft.com/office/powerpoint/2010/main" val="103856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0F4FAE-3C19-46E8-A46E-EE3CB5455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251ABD1-108D-40A8-B2F2-191C6DF3DD1F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D5EBC50-A033-492A-9101-BA24538D28CA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17A2284-1BE1-4896-9F75-3256F84346F5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65F1AB-7684-4026-BD27-6272F7440A4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F69505-DDFC-4730-8C42-5820209EDC0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24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940257-1840-40B1-90C1-AC03E47FB78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2BDA35-DE39-4887-8620-C1AB680F28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Ablation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58383E-F31E-4A0E-8A0C-9ED94F0F2D9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69AA78-A025-4A5C-B4B6-97639FD8F12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82384C-0D5C-4E5A-98F3-567B11131C1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558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 개선의 약 96%가 사전에서 발생했다.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679217-8572-45F3-8A7E-BE53DA90FDF5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19450"/>
          </a:xfrm>
          <a:prstGeom prst="roundRect">
            <a:avLst>
              <a:gd name="adj" fmla="val 2367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52500" y="2762250"/>
          <a:ext cx="67437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D837E64-5387-4588-B34B-8311B19299B9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366B93-D661-478B-9961-B292AD1F7866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5C134D-F26D-4F06-9828-FF0204689AAD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89C203-96C3-4078-907A-F03D91BF1E17}"/>
              </a:ext>
            </a:extLst>
          </p:cNvPr>
          <p:cNvSpPr>
            <a:spLocks noGrp="1"/>
          </p:cNvSpPr>
          <p:nvPr/>
        </p:nvSpPr>
        <p:spPr>
          <a:xfrm>
            <a:off x="8458200" y="29146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 단독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DE07401-78A6-4F8E-B93B-A533DAFAB9FA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6E8808-B438-412B-AA6E-6BC813F5AB1C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C56C88-09C3-410D-8455-B0712F2D7280}"/>
              </a:ext>
            </a:extLst>
          </p:cNvPr>
          <p:cNvSpPr>
            <a:spLocks noGrp="1"/>
          </p:cNvSpPr>
          <p:nvPr/>
        </p:nvSpPr>
        <p:spPr>
          <a:xfrm>
            <a:off x="8458200" y="37338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6693E8-A989-4121-B932-4AEE2FE0F2B5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 단독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35CF7D0-0AD0-44F8-A38C-F327C153C6F6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6229FA-7355-46E9-9548-A4D204780E24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03AE57-2248-4CA0-B0F5-7693E0B369F7}"/>
              </a:ext>
            </a:extLst>
          </p:cNvPr>
          <p:cNvSpPr>
            <a:spLocks noGrp="1"/>
          </p:cNvSpPr>
          <p:nvPr/>
        </p:nvSpPr>
        <p:spPr>
          <a:xfrm>
            <a:off x="84582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+1.14%p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DF76F-BFD3-44F8-A014-55C64D1C3CDE}"/>
              </a:ext>
            </a:extLst>
          </p:cNvPr>
          <p:cNvSpPr>
            <a:spLocks noGrp="1"/>
          </p:cNvSpPr>
          <p:nvPr/>
        </p:nvSpPr>
        <p:spPr>
          <a:xfrm>
            <a:off x="8458200" y="50863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시너지</a:t>
            </a:r>
          </a:p>
        </p:txBody>
      </p:sp>
    </p:spTree>
    <p:extLst>
      <p:ext uri="{BB962C8B-B14F-4D97-AF65-F5344CB8AC3E}">
        <p14:creationId xmlns:p14="http://schemas.microsoft.com/office/powerpoint/2010/main" val="2104766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6D8F01-2EC8-4694-A978-DCCE6807A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7E575C-7FE2-49F6-970E-50CF0F836FC3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793DA78-6F8E-4CDC-922A-C9E149F5FFE4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4FF9C3B-D5E3-431E-9432-713EC9B9BDE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0305D2-F250-4E34-904B-C9471F5ECE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3DEFDB-4509-47BB-B8BF-AFB85D2A801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25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35F6DA-892F-4863-A293-2B5B798F39FA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5D5CA3-7CE7-4BCE-BE9A-56856A3E340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지연과 비용 비교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A0B0D48-C8D4-4C85-AECD-2B5C25B2A9F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0CA38B-CF31-47E9-97A8-36732CAA7BB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68CE19-63E6-490D-9DC3-7CE0288D7534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C(+L0)는 B(+judge)보다 더 빠르고 더 싸다.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BA08C8-9002-41C7-9D73-AC285EF66BC6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49911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5AD835-32EC-4103-B898-70393B5A66A9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p99 latency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529C756-4620-4971-9E4F-98C699828CF8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20193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21B6F5-348A-4E85-994A-4EEC45DDC362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201930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512A02-2A82-4374-B553-18F1BC5519AF}"/>
              </a:ext>
            </a:extLst>
          </p:cNvPr>
          <p:cNvSpPr>
            <a:spLocks noGrp="1"/>
          </p:cNvSpPr>
          <p:nvPr/>
        </p:nvSpPr>
        <p:spPr>
          <a:xfrm>
            <a:off x="1123950" y="327660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4,819ms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2CCD0C-00E6-43E3-9705-0A88F58AC2AB}"/>
              </a:ext>
            </a:extLst>
          </p:cNvPr>
          <p:cNvSpPr>
            <a:spLocks noGrp="1"/>
          </p:cNvSpPr>
          <p:nvPr/>
        </p:nvSpPr>
        <p:spPr>
          <a:xfrm>
            <a:off x="1123950" y="3810000"/>
            <a:ext cx="1676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B + judge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8637DF2-3277-4531-B115-5342E222B97A}"/>
              </a:ext>
            </a:extLst>
          </p:cNvPr>
          <p:cNvSpPr>
            <a:spLocks noGrp="1"/>
          </p:cNvSpPr>
          <p:nvPr/>
        </p:nvSpPr>
        <p:spPr>
          <a:xfrm>
            <a:off x="3276600" y="3105150"/>
            <a:ext cx="20193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28875A-64F1-4B8D-BDF4-A41C11942A7E}"/>
              </a:ext>
            </a:extLst>
          </p:cNvPr>
          <p:cNvSpPr>
            <a:spLocks noGrp="1"/>
          </p:cNvSpPr>
          <p:nvPr/>
        </p:nvSpPr>
        <p:spPr>
          <a:xfrm>
            <a:off x="3276600" y="3105150"/>
            <a:ext cx="20193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CE33B2-163E-4524-9C7C-CB10542CEF6A}"/>
              </a:ext>
            </a:extLst>
          </p:cNvPr>
          <p:cNvSpPr>
            <a:spLocks noGrp="1"/>
          </p:cNvSpPr>
          <p:nvPr/>
        </p:nvSpPr>
        <p:spPr>
          <a:xfrm>
            <a:off x="3448050" y="3276600"/>
            <a:ext cx="1676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830ms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1C2879-4074-4836-82B9-BCB7838D85B6}"/>
              </a:ext>
            </a:extLst>
          </p:cNvPr>
          <p:cNvSpPr>
            <a:spLocks noGrp="1"/>
          </p:cNvSpPr>
          <p:nvPr/>
        </p:nvSpPr>
        <p:spPr>
          <a:xfrm>
            <a:off x="3448050" y="3810000"/>
            <a:ext cx="1676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+ L0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42BD81-CC65-44ED-B554-BE9A908660AE}"/>
              </a:ext>
            </a:extLst>
          </p:cNvPr>
          <p:cNvSpPr>
            <a:spLocks noGrp="1"/>
          </p:cNvSpPr>
          <p:nvPr/>
        </p:nvSpPr>
        <p:spPr>
          <a:xfrm>
            <a:off x="2114550" y="4533900"/>
            <a:ext cx="201930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1E6B64-40F8-4E4A-ABAA-9BC469B7E5AE}"/>
              </a:ext>
            </a:extLst>
          </p:cNvPr>
          <p:cNvSpPr>
            <a:spLocks noGrp="1"/>
          </p:cNvSpPr>
          <p:nvPr/>
        </p:nvSpPr>
        <p:spPr>
          <a:xfrm>
            <a:off x="2114550" y="4533900"/>
            <a:ext cx="201930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F69732-6A7D-42F9-A59D-172A1BDD0E0D}"/>
              </a:ext>
            </a:extLst>
          </p:cNvPr>
          <p:cNvSpPr>
            <a:spLocks noGrp="1"/>
          </p:cNvSpPr>
          <p:nvPr/>
        </p:nvSpPr>
        <p:spPr>
          <a:xfrm>
            <a:off x="2286000" y="464820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135ms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17D1C2-35B4-42F6-8940-B7073A08C90D}"/>
              </a:ext>
            </a:extLst>
          </p:cNvPr>
          <p:cNvSpPr>
            <a:spLocks noGrp="1"/>
          </p:cNvSpPr>
          <p:nvPr/>
        </p:nvSpPr>
        <p:spPr>
          <a:xfrm>
            <a:off x="2286000" y="49149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L0 layer alone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4CA3408-DA4B-4DDF-8BE3-61A97339A5BE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52197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0F6DFF-C4D4-443C-A479-0071ECDD5F33}"/>
              </a:ext>
            </a:extLst>
          </p:cNvPr>
          <p:cNvSpPr>
            <a:spLocks noGrp="1"/>
          </p:cNvSpPr>
          <p:nvPr/>
        </p:nvSpPr>
        <p:spPr>
          <a:xfrm>
            <a:off x="6343650" y="26860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10k calls cost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C76B0D2-D4D3-4551-93B4-4E5CDD611749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215265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E746674-4DC4-4CBB-B152-6C6439E72184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21526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3417F67-6816-4011-A408-B08DD2BE5EFE}"/>
              </a:ext>
            </a:extLst>
          </p:cNvPr>
          <p:cNvSpPr>
            <a:spLocks noGrp="1"/>
          </p:cNvSpPr>
          <p:nvPr/>
        </p:nvSpPr>
        <p:spPr>
          <a:xfrm>
            <a:off x="6515100" y="327660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$1.35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522C294-29E5-463E-9026-E3AEB1027A1B}"/>
              </a:ext>
            </a:extLst>
          </p:cNvPr>
          <p:cNvSpPr>
            <a:spLocks noGrp="1"/>
          </p:cNvSpPr>
          <p:nvPr/>
        </p:nvSpPr>
        <p:spPr>
          <a:xfrm>
            <a:off x="6515100" y="3810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B + judge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5F1615F-ED88-4D88-8966-BD433478917C}"/>
              </a:ext>
            </a:extLst>
          </p:cNvPr>
          <p:cNvSpPr>
            <a:spLocks noGrp="1"/>
          </p:cNvSpPr>
          <p:nvPr/>
        </p:nvSpPr>
        <p:spPr>
          <a:xfrm>
            <a:off x="8820150" y="3105150"/>
            <a:ext cx="215265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A522CA8-44D0-40F5-B854-937FABF7D61F}"/>
              </a:ext>
            </a:extLst>
          </p:cNvPr>
          <p:cNvSpPr>
            <a:spLocks noGrp="1"/>
          </p:cNvSpPr>
          <p:nvPr/>
        </p:nvSpPr>
        <p:spPr>
          <a:xfrm>
            <a:off x="8820150" y="3105150"/>
            <a:ext cx="21526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4FB7DD9-55A8-4A25-B5B6-95D080A540EA}"/>
              </a:ext>
            </a:extLst>
          </p:cNvPr>
          <p:cNvSpPr>
            <a:spLocks noGrp="1"/>
          </p:cNvSpPr>
          <p:nvPr/>
        </p:nvSpPr>
        <p:spPr>
          <a:xfrm>
            <a:off x="8991600" y="3276600"/>
            <a:ext cx="1809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$0.08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3B23574-6E20-4DEE-BE1B-C7C7D93E1C28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+ L0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362FBB4-5DBF-449E-B900-665750F272EC}"/>
              </a:ext>
            </a:extLst>
          </p:cNvPr>
          <p:cNvSpPr>
            <a:spLocks noGrp="1"/>
          </p:cNvSpPr>
          <p:nvPr/>
        </p:nvSpPr>
        <p:spPr>
          <a:xfrm>
            <a:off x="7581900" y="4533900"/>
            <a:ext cx="2152650" cy="781050"/>
          </a:xfrm>
          <a:prstGeom prst="roundRect">
            <a:avLst>
              <a:gd name="adj" fmla="val 975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8E4C389-65FB-4E00-862F-308219C8BDB2}"/>
              </a:ext>
            </a:extLst>
          </p:cNvPr>
          <p:cNvSpPr>
            <a:spLocks noGrp="1"/>
          </p:cNvSpPr>
          <p:nvPr/>
        </p:nvSpPr>
        <p:spPr>
          <a:xfrm>
            <a:off x="7581900" y="4533900"/>
            <a:ext cx="21526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ECA5D58-E99E-48DA-9E33-258EE49CDBFA}"/>
              </a:ext>
            </a:extLst>
          </p:cNvPr>
          <p:cNvSpPr>
            <a:spLocks noGrp="1"/>
          </p:cNvSpPr>
          <p:nvPr/>
        </p:nvSpPr>
        <p:spPr>
          <a:xfrm>
            <a:off x="7753350" y="46482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judge 대비 대폭 절감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E980843-AB22-4F17-9B55-FB5BB0BF7CC9}"/>
              </a:ext>
            </a:extLst>
          </p:cNvPr>
          <p:cNvSpPr>
            <a:spLocks noGrp="1"/>
          </p:cNvSpPr>
          <p:nvPr/>
        </p:nvSpPr>
        <p:spPr>
          <a:xfrm>
            <a:off x="7753350" y="49149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운영 비용</a:t>
            </a:r>
          </a:p>
        </p:txBody>
      </p:sp>
    </p:spTree>
    <p:extLst>
      <p:ext uri="{BB962C8B-B14F-4D97-AF65-F5344CB8AC3E}">
        <p14:creationId xmlns:p14="http://schemas.microsoft.com/office/powerpoint/2010/main" val="1168600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FD2E8B-5CD5-45F6-98AE-5DD3261491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1535EBE-9302-4F57-A041-6009A383EEF2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30F52C8-E0FD-4797-9A97-4950B1F68C45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01C6ABA-A8D0-4394-A90E-DFA371FAB32D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EF0F71-9383-4FCC-9DFD-BEAE33530B6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7327A-E759-44BD-8E17-3B7CB182A72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26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7FE032-354C-486C-8B19-1B8C9890F3B0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F53694-113E-4BC1-9DC7-8B3249E77EB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Smart Cascade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661DFCA-3ED0-40BB-B514-C83BDB9198A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2AD6A1-D7CD-49BD-9F50-B1320E925E8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93BA10-98A1-4774-BB0F-C68D11C453B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10,000건 중 568건에만 judge를 호출해도 최종 TRUE rate는 그대로 유지된다.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B903482-A9C0-4C74-955E-B6657CF04A77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97155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E48092-2AD9-4E35-AA3A-BCA6D79ECD7F}"/>
              </a:ext>
            </a:extLst>
          </p:cNvPr>
          <p:cNvSpPr>
            <a:spLocks noGrp="1"/>
          </p:cNvSpPr>
          <p:nvPr/>
        </p:nvSpPr>
        <p:spPr>
          <a:xfrm>
            <a:off x="1257300" y="280035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0A2EFA-BD7A-4952-9C22-1E2CF472FD36}"/>
              </a:ext>
            </a:extLst>
          </p:cNvPr>
          <p:cNvSpPr>
            <a:spLocks noGrp="1"/>
          </p:cNvSpPr>
          <p:nvPr/>
        </p:nvSpPr>
        <p:spPr>
          <a:xfrm>
            <a:off x="3048000" y="28956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전체 케이스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F3774F-238B-42CF-AA87-82BC39E18984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8382000" cy="685800"/>
          </a:xfrm>
          <a:prstGeom prst="roundRect">
            <a:avLst>
              <a:gd name="adj" fmla="val 11111"/>
            </a:avLst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EBF016-9ABC-4941-A26C-B25F6D78F12B}"/>
              </a:ext>
            </a:extLst>
          </p:cNvPr>
          <p:cNvSpPr>
            <a:spLocks noGrp="1"/>
          </p:cNvSpPr>
          <p:nvPr/>
        </p:nvSpPr>
        <p:spPr>
          <a:xfrm>
            <a:off x="1924050" y="365760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9,432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86D480-2633-41A1-8180-E2EDDD7D800B}"/>
              </a:ext>
            </a:extLst>
          </p:cNvPr>
          <p:cNvSpPr>
            <a:spLocks noGrp="1"/>
          </p:cNvSpPr>
          <p:nvPr/>
        </p:nvSpPr>
        <p:spPr>
          <a:xfrm>
            <a:off x="3714750" y="37528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L0~L3에서 neutralized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30DCD1-05F3-4212-9301-1C20F45E4B66}"/>
              </a:ext>
            </a:extLst>
          </p:cNvPr>
          <p:cNvSpPr>
            <a:spLocks noGrp="1"/>
          </p:cNvSpPr>
          <p:nvPr/>
        </p:nvSpPr>
        <p:spPr>
          <a:xfrm>
            <a:off x="3143250" y="438150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98A355-2558-4C29-ACF5-6637CD4866E1}"/>
              </a:ext>
            </a:extLst>
          </p:cNvPr>
          <p:cNvSpPr>
            <a:spLocks noGrp="1"/>
          </p:cNvSpPr>
          <p:nvPr/>
        </p:nvSpPr>
        <p:spPr>
          <a:xfrm>
            <a:off x="3448050" y="451485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568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276435-985A-4277-9810-B22DB60DEDC5}"/>
              </a:ext>
            </a:extLst>
          </p:cNvPr>
          <p:cNvSpPr>
            <a:spLocks noGrp="1"/>
          </p:cNvSpPr>
          <p:nvPr/>
        </p:nvSpPr>
        <p:spPr>
          <a:xfrm>
            <a:off x="5238750" y="46101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 judge 호출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1B1F955-2642-4C20-9F27-66B2B01B5C52}"/>
              </a:ext>
            </a:extLst>
          </p:cNvPr>
          <p:cNvSpPr>
            <a:spLocks noGrp="1"/>
          </p:cNvSpPr>
          <p:nvPr/>
        </p:nvSpPr>
        <p:spPr>
          <a:xfrm>
            <a:off x="4286250" y="5238750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BA1CE5-C8CE-4694-99B3-FCC91A26A00D}"/>
              </a:ext>
            </a:extLst>
          </p:cNvPr>
          <p:cNvSpPr>
            <a:spLocks noGrp="1"/>
          </p:cNvSpPr>
          <p:nvPr/>
        </p:nvSpPr>
        <p:spPr>
          <a:xfrm>
            <a:off x="4591050" y="537210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291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2D6DBD-4521-4765-B7DB-20BEF82C03E0}"/>
              </a:ext>
            </a:extLst>
          </p:cNvPr>
          <p:cNvSpPr>
            <a:spLocks noGrp="1"/>
          </p:cNvSpPr>
          <p:nvPr/>
        </p:nvSpPr>
        <p:spPr>
          <a:xfrm>
            <a:off x="6381750" y="546735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L4가 추가 회수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D247E4-1923-4428-A4A3-8B7086D9EE2E}"/>
              </a:ext>
            </a:extLst>
          </p:cNvPr>
          <p:cNvSpPr>
            <a:spLocks noGrp="1"/>
          </p:cNvSpPr>
          <p:nvPr/>
        </p:nvSpPr>
        <p:spPr>
          <a:xfrm>
            <a:off x="8858250" y="23050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4C6AAD-C74C-44DD-A073-E0E2A31C5633}"/>
              </a:ext>
            </a:extLst>
          </p:cNvPr>
          <p:cNvSpPr>
            <a:spLocks noGrp="1"/>
          </p:cNvSpPr>
          <p:nvPr/>
        </p:nvSpPr>
        <p:spPr>
          <a:xfrm>
            <a:off x="8858250" y="2305050"/>
            <a:ext cx="2381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A0BF5B-A440-4567-81E6-184F271C5D38}"/>
              </a:ext>
            </a:extLst>
          </p:cNvPr>
          <p:cNvSpPr>
            <a:spLocks noGrp="1"/>
          </p:cNvSpPr>
          <p:nvPr/>
        </p:nvSpPr>
        <p:spPr>
          <a:xfrm>
            <a:off x="9029700" y="24384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8B2319-4EED-4CA1-BA97-A3F12331E1AC}"/>
              </a:ext>
            </a:extLst>
          </p:cNvPr>
          <p:cNvSpPr>
            <a:spLocks noGrp="1"/>
          </p:cNvSpPr>
          <p:nvPr/>
        </p:nvSpPr>
        <p:spPr>
          <a:xfrm>
            <a:off x="9029700" y="28003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L4 호출 절감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20EE298-AD30-4C17-9CCE-EA00A695BA23}"/>
              </a:ext>
            </a:extLst>
          </p:cNvPr>
          <p:cNvSpPr>
            <a:spLocks noGrp="1"/>
          </p:cNvSpPr>
          <p:nvPr/>
        </p:nvSpPr>
        <p:spPr>
          <a:xfrm>
            <a:off x="8858250" y="339090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AD48F7-8346-4090-AC03-AC441D404A06}"/>
              </a:ext>
            </a:extLst>
          </p:cNvPr>
          <p:cNvSpPr>
            <a:spLocks noGrp="1"/>
          </p:cNvSpPr>
          <p:nvPr/>
        </p:nvSpPr>
        <p:spPr>
          <a:xfrm>
            <a:off x="8858250" y="3390900"/>
            <a:ext cx="238125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AB08C3-3358-4B0A-AFA2-883CB22FFE54}"/>
              </a:ext>
            </a:extLst>
          </p:cNvPr>
          <p:cNvSpPr>
            <a:spLocks noGrp="1"/>
          </p:cNvSpPr>
          <p:nvPr/>
        </p:nvSpPr>
        <p:spPr>
          <a:xfrm>
            <a:off x="9029700" y="352425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97.23%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F272B44-E5B7-4F96-87ED-2693B480DEA0}"/>
              </a:ext>
            </a:extLst>
          </p:cNvPr>
          <p:cNvSpPr>
            <a:spLocks noGrp="1"/>
          </p:cNvSpPr>
          <p:nvPr/>
        </p:nvSpPr>
        <p:spPr>
          <a:xfrm>
            <a:off x="9029700" y="38862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최종 TRUE 유지</a:t>
            </a:r>
          </a:p>
        </p:txBody>
      </p:sp>
    </p:spTree>
    <p:extLst>
      <p:ext uri="{BB962C8B-B14F-4D97-AF65-F5344CB8AC3E}">
        <p14:creationId xmlns:p14="http://schemas.microsoft.com/office/powerpoint/2010/main" val="1353764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F783A6-F548-404D-9F02-25747A073F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EB65349-5202-4647-8C27-7E7B88C2979F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141E996-B7A6-49F4-A1E3-1FF60499C71C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B7AC36D-46FB-45EB-87E8-22AD77D2ED6E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01E7C6-278C-4177-8A78-33D99D689DF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C40B43-E7AD-4B62-BFFD-7CCA6E3C595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27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BDD790-9A8D-4AD9-BED8-85BF08C84BE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A3881D-B1E9-4C78-A3F4-74E24C865B6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강건성 검증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F8897E-FCF7-4C43-98DD-274EF70A5D1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382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92D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15B229-933D-44A6-B73F-643C9A910B2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2320E9-1934-4B55-B7F9-E3F7B232EA4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805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semantic에서 B-C 격차가 +8.99%p에서 +10.65%p로 오히려 커졌다.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1DCAC8A-6272-444E-B2A0-D76512666287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7239000" cy="3200400"/>
          </a:xfrm>
          <a:prstGeom prst="roundRect">
            <a:avLst>
              <a:gd name="adj" fmla="val 238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Chart"/>
          <p:cNvGraphicFramePr/>
          <p:nvPr/>
        </p:nvGraphicFramePr>
        <p:xfrm>
          <a:off x="933450" y="2724150"/>
          <a:ext cx="67818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511B81F-86C9-461F-91F7-1ECA07917C24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ED0DD4-1469-4506-9CD6-D41B824BBFD5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857500" cy="57150"/>
          </a:xfrm>
          <a:prstGeom prst="rect">
            <a:avLst/>
          </a:prstGeom>
          <a:solidFill>
            <a:srgbClr val="203A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81F63F-B3C6-47DC-9DF0-ED99391F3581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9FE0F6-171A-4495-AF4F-72572767C893}"/>
              </a:ext>
            </a:extLst>
          </p:cNvPr>
          <p:cNvSpPr>
            <a:spLocks noGrp="1"/>
          </p:cNvSpPr>
          <p:nvPr/>
        </p:nvSpPr>
        <p:spPr>
          <a:xfrm>
            <a:off x="8458200" y="29146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v1 gap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1DE8B9-7AAD-41A9-9F18-16A9D8BED1E3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B5FFBD-2116-41ED-B7B8-85301EE8524A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063507-9979-41C2-A73A-4A9E09962733}"/>
              </a:ext>
            </a:extLst>
          </p:cNvPr>
          <p:cNvSpPr>
            <a:spLocks noGrp="1"/>
          </p:cNvSpPr>
          <p:nvPr/>
        </p:nvSpPr>
        <p:spPr>
          <a:xfrm>
            <a:off x="8458200" y="37338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+10.65%p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A543FD7-1953-401E-8BD5-9A528F5E4F30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gap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1DE2467-4B9B-493E-B2FF-840716126E0E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686DA1-5186-4CD8-917C-83D610C69B35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28575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009160-29CB-4C44-B29F-589551FA0BE6}"/>
              </a:ext>
            </a:extLst>
          </p:cNvPr>
          <p:cNvSpPr>
            <a:spLocks noGrp="1"/>
          </p:cNvSpPr>
          <p:nvPr/>
        </p:nvSpPr>
        <p:spPr>
          <a:xfrm>
            <a:off x="84582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94.99%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EF0A22-42C8-4F83-84B7-92B066945FA2}"/>
              </a:ext>
            </a:extLst>
          </p:cNvPr>
          <p:cNvSpPr>
            <a:spLocks noGrp="1"/>
          </p:cNvSpPr>
          <p:nvPr/>
        </p:nvSpPr>
        <p:spPr>
          <a:xfrm>
            <a:off x="8458200" y="508635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overall C</a:t>
            </a:r>
          </a:p>
        </p:txBody>
      </p:sp>
    </p:spTree>
    <p:extLst>
      <p:ext uri="{BB962C8B-B14F-4D97-AF65-F5344CB8AC3E}">
        <p14:creationId xmlns:p14="http://schemas.microsoft.com/office/powerpoint/2010/main" val="352069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34B2C4-0D73-4235-A325-2319D807D7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5224C41-9F69-4945-9D33-F80A5C1C94DD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C9A49B4-0FF7-44B3-B28D-3016F2226B61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0BD78CB-D432-4C54-A499-07285D59ACC9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2EA205-6393-4E4B-88C3-1AFD1A1E8F5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99F369-FC37-4CEB-99A2-5CD41CA8E09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28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6718B4-9C37-40E6-88CD-9559F5D6938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F8A6B9-A1A2-437A-8C16-0A8895ED2FB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False Positive와 운영 가능성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0BE05A-DE37-4E56-B3B5-96E4CE6D1F0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191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22A6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B9FD7B-3D48-4AD6-B6AE-89FF0C79667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B63A6C-DC66-42FC-8C85-BAED8EC567F1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786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컨텍스트 조건을 넣은 뒤 clean Korean docs 기준 FP가 26%에서 2%로 줄었다.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029F9F-843F-4ADA-A4D9-6EA18F2BA1D2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1E1896-88C2-4205-8718-1FA1FE97682F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7622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9D0278-90AC-4F8B-BA6C-5ED3882ED847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26%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9FB489-A632-4497-90BF-DD22B38D5167}"/>
              </a:ext>
            </a:extLst>
          </p:cNvPr>
          <p:cNvSpPr>
            <a:spLocks noGrp="1"/>
          </p:cNvSpPr>
          <p:nvPr/>
        </p:nvSpPr>
        <p:spPr>
          <a:xfrm>
            <a:off x="11430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초기 FP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06E6528-36E5-4129-A3AA-1D2C6A79AE43}"/>
              </a:ext>
            </a:extLst>
          </p:cNvPr>
          <p:cNvSpPr>
            <a:spLocks noGrp="1"/>
          </p:cNvSpPr>
          <p:nvPr/>
        </p:nvSpPr>
        <p:spPr>
          <a:xfrm>
            <a:off x="47053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9BB67E-1FD4-49B3-A35A-A20477651FF9}"/>
              </a:ext>
            </a:extLst>
          </p:cNvPr>
          <p:cNvSpPr>
            <a:spLocks noGrp="1"/>
          </p:cNvSpPr>
          <p:nvPr/>
        </p:nvSpPr>
        <p:spPr>
          <a:xfrm>
            <a:off x="4705350" y="2686050"/>
            <a:ext cx="27622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6A3288-BD68-4D8C-A9DC-C2ADAC193430}"/>
              </a:ext>
            </a:extLst>
          </p:cNvPr>
          <p:cNvSpPr>
            <a:spLocks noGrp="1"/>
          </p:cNvSpPr>
          <p:nvPr/>
        </p:nvSpPr>
        <p:spPr>
          <a:xfrm>
            <a:off x="48768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3FA9FA-F6AF-45C7-A4A8-AE622FE916CA}"/>
              </a:ext>
            </a:extLst>
          </p:cNvPr>
          <p:cNvSpPr>
            <a:spLocks noGrp="1"/>
          </p:cNvSpPr>
          <p:nvPr/>
        </p:nvSpPr>
        <p:spPr>
          <a:xfrm>
            <a:off x="48768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개선 후 FP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4C1525D-CA46-4F7B-A3D0-B494392C3E25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2762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92BE73-E2FD-4CCB-ABB6-5B503BEC09A8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2762250" cy="5715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439606-5210-4A5D-8AFD-B7AEBD950872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1A0769-2CCD-492C-A50E-20D0C0C061D0}"/>
              </a:ext>
            </a:extLst>
          </p:cNvPr>
          <p:cNvSpPr>
            <a:spLocks noGrp="1"/>
          </p:cNvSpPr>
          <p:nvPr/>
        </p:nvSpPr>
        <p:spPr>
          <a:xfrm>
            <a:off x="8610600" y="33909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정상 한국어 문서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81BB314-0DDE-45AB-8276-0EB9E2FBA124}"/>
              </a:ext>
            </a:extLst>
          </p:cNvPr>
          <p:cNvSpPr>
            <a:spLocks noGrp="1"/>
          </p:cNvSpPr>
          <p:nvPr/>
        </p:nvSpPr>
        <p:spPr>
          <a:xfrm>
            <a:off x="8610600" y="4038600"/>
            <a:ext cx="241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clean set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69855F7-8CB5-4BB8-A92A-EE5FA6A34092}"/>
              </a:ext>
            </a:extLst>
          </p:cNvPr>
          <p:cNvSpPr>
            <a:spLocks noGrp="1"/>
          </p:cNvSpPr>
          <p:nvPr/>
        </p:nvSpPr>
        <p:spPr>
          <a:xfrm>
            <a:off x="971550" y="4686300"/>
            <a:ext cx="102298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34C7020-2179-4AC8-A591-0A8FBE3068F0}"/>
              </a:ext>
            </a:extLst>
          </p:cNvPr>
          <p:cNvSpPr>
            <a:spLocks noGrp="1"/>
          </p:cNvSpPr>
          <p:nvPr/>
        </p:nvSpPr>
        <p:spPr>
          <a:xfrm>
            <a:off x="1200150" y="49149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개선 포인트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A2F5B17-412E-4AF7-87AB-D95712294096}"/>
              </a:ext>
            </a:extLst>
          </p:cNvPr>
          <p:cNvSpPr>
            <a:spLocks noGrp="1"/>
          </p:cNvSpPr>
          <p:nvPr/>
        </p:nvSpPr>
        <p:spPr>
          <a:xfrm>
            <a:off x="1200150" y="523875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E5B884-16B9-41E7-9212-724DE5A518CC}"/>
              </a:ext>
            </a:extLst>
          </p:cNvPr>
          <p:cNvSpPr>
            <a:spLocks noGrp="1"/>
          </p:cNvSpPr>
          <p:nvPr/>
        </p:nvSpPr>
        <p:spPr>
          <a:xfrm>
            <a:off x="1390650" y="5143500"/>
            <a:ext cx="95631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2글자 이하 키워드는 단독 매칭이 아니라 컨텍스트 조건을 붙였다.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9114E6C-BC8D-4662-A7FF-730EA3DBE18B}"/>
              </a:ext>
            </a:extLst>
          </p:cNvPr>
          <p:cNvSpPr>
            <a:spLocks noGrp="1"/>
          </p:cNvSpPr>
          <p:nvPr/>
        </p:nvSpPr>
        <p:spPr>
          <a:xfrm>
            <a:off x="1200150" y="55664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284865-5168-40AA-9350-3349E96F06D6}"/>
              </a:ext>
            </a:extLst>
          </p:cNvPr>
          <p:cNvSpPr>
            <a:spLocks noGrp="1"/>
          </p:cNvSpPr>
          <p:nvPr/>
        </p:nvSpPr>
        <p:spPr>
          <a:xfrm>
            <a:off x="1390650" y="5471160"/>
            <a:ext cx="9563100" cy="2324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예: '개발부', '경영지원팀' 같은 정상 조직 표현의 과탐을 줄였다.</a:t>
            </a:r>
          </a:p>
        </p:txBody>
      </p:sp>
    </p:spTree>
    <p:extLst>
      <p:ext uri="{BB962C8B-B14F-4D97-AF65-F5344CB8AC3E}">
        <p14:creationId xmlns:p14="http://schemas.microsoft.com/office/powerpoint/2010/main" val="1014608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5C6002-A175-4B6B-A481-1C41B8D27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AC245F3-6BAA-461D-834D-6B1793DD8C2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577AFD5-4035-4917-8B5A-63E7363837E6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3274F9E-AEF8-44DA-A87B-138C7C5D77DF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B65893-10F7-4785-8F1B-7D0E743BFB7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74B884-C4A4-42D7-9F55-0EC4D74A582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18625B-F461-44B5-A1D4-F31A70E2AEC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5A0162-24B5-4ED0-9CD0-81FDD1FD6C9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01828"/>
                </a:solidFill>
              </a:defRPr>
            </a:pPr>
            <a:r>
              <a:rPr lang="ko-KR" altLang="en-US" dirty="0"/>
              <a:t>보완할 점 </a:t>
            </a:r>
            <a:r>
              <a:rPr lang="en-US" altLang="ko-KR" dirty="0"/>
              <a:t>/ </a:t>
            </a:r>
            <a:r>
              <a:rPr lang="ko-KR" altLang="en-US" dirty="0"/>
              <a:t>남은 과제 </a:t>
            </a:r>
            <a:endParaRPr sz="2325" b="1" dirty="0">
              <a:solidFill>
                <a:srgbClr val="101828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D126A7C-9BAD-485C-B86C-B84CD6DDE1C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272D30-F058-4407-B9B1-0FEDBAF6F5A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FD678-6478-45CB-AD86-30D924E969A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901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1D2939"/>
                </a:solidFill>
              </a:defRPr>
            </a:pPr>
            <a:r>
              <a:rPr lang="en-US" altLang="ko-KR" dirty="0"/>
              <a:t>1.</a:t>
            </a:r>
            <a:r>
              <a:rPr lang="ko-KR" altLang="en-US" dirty="0"/>
              <a:t>민감한 </a:t>
            </a:r>
            <a:r>
              <a:rPr lang="en-US" altLang="ko-KR" dirty="0"/>
              <a:t>PII / </a:t>
            </a:r>
            <a:r>
              <a:rPr lang="ko-KR" altLang="en-US" dirty="0"/>
              <a:t>민감하지 않은 </a:t>
            </a:r>
            <a:r>
              <a:rPr lang="en-US" altLang="ko-KR" dirty="0"/>
              <a:t>PII </a:t>
            </a:r>
            <a:r>
              <a:rPr lang="ko-KR" altLang="en-US" dirty="0"/>
              <a:t>경계</a:t>
            </a:r>
            <a:r>
              <a:rPr lang="en-US" altLang="ko-KR" dirty="0"/>
              <a:t>.</a:t>
            </a:r>
            <a:endParaRPr sz="1125" b="1" dirty="0">
              <a:solidFill>
                <a:srgbClr val="1D2939"/>
              </a:solidFill>
            </a:endParaRPr>
          </a:p>
        </p:txBody>
      </p:sp>
      <p:pic>
        <p:nvPicPr>
          <p:cNvPr id="10" name="그림 9" descr="The image displays a prescription slip with patient's information, diagnosis of a cold, and prescribed medication, Tylenol, with dosage instructions.&#10;&#10;AI 생성 콘텐츠는 정확하지 않을 수 있습니다.">
            <a:extLst>
              <a:ext uri="{FF2B5EF4-FFF2-40B4-BE49-F238E27FC236}">
                <a16:creationId xmlns:a16="http://schemas.microsoft.com/office/drawing/2014/main" id="{1C6BD08D-47AA-1DC1-BE15-B4CC8856D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13" y="2157989"/>
            <a:ext cx="3859036" cy="3323841"/>
          </a:xfrm>
          <a:prstGeom prst="rect">
            <a:avLst/>
          </a:prstGeom>
        </p:spPr>
      </p:pic>
      <p:pic>
        <p:nvPicPr>
          <p:cNvPr id="41" name="그림 40" descr="The image shows a Korean prescription form with the patient's name, date of birth, diagnosis of pneumonia, and a prescription for 650mg Tylenol to be taken 1 pill, 3 times a day for 3 days.&#10;&#10;AI 생성 콘텐츠는 정확하지 않을 수 있습니다.">
            <a:extLst>
              <a:ext uri="{FF2B5EF4-FFF2-40B4-BE49-F238E27FC236}">
                <a16:creationId xmlns:a16="http://schemas.microsoft.com/office/drawing/2014/main" id="{05342E3D-C32F-0B85-D293-DFF5BAF81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291" y="2379060"/>
            <a:ext cx="3637973" cy="301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07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02E6-A7E2-EA87-9461-D74DE499F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FCDAD112-0B7D-C02A-4D08-46C6915242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052D0F-A9CB-D363-7A43-BF05425F0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2BD651D-546A-FEF6-F5C2-604605DA5F11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DB428AB-858C-7032-EBDF-DB9E106C20D2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E428793-DCA6-51CA-67E5-BDAFFFFBC1C4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139634-4804-7680-A94E-6F7DE8914F7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6D898F-5135-049B-DDA7-3687748CB0A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AEA1EF-4BD5-077D-7188-CCC828955A3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4262E3-FA85-80C1-814F-29F04FB110D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01828"/>
                </a:solidFill>
              </a:defRPr>
            </a:pPr>
            <a:r>
              <a:rPr lang="ko-KR" altLang="en-US" dirty="0"/>
              <a:t>보완할 점 </a:t>
            </a:r>
            <a:r>
              <a:rPr lang="en-US" altLang="ko-KR" dirty="0"/>
              <a:t>/ </a:t>
            </a:r>
            <a:r>
              <a:rPr lang="ko-KR" altLang="en-US" dirty="0"/>
              <a:t>남은 과제 </a:t>
            </a:r>
            <a:endParaRPr lang="ko-KR" altLang="en-US" sz="2325" b="1" dirty="0">
              <a:solidFill>
                <a:srgbClr val="101828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651D9E-2356-478C-593D-385B84FEC61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3D25A4-0079-E8CB-8EC6-98FB47B96E2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B4EA73-316B-CCD7-3A51-46181AED7C47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901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1D2939"/>
                </a:solidFill>
              </a:defRPr>
            </a:pPr>
            <a:r>
              <a:rPr lang="en-US" altLang="ko-KR" dirty="0"/>
              <a:t>2.</a:t>
            </a:r>
            <a:r>
              <a:rPr lang="ko-KR" altLang="en-US" dirty="0"/>
              <a:t>검증 파이프라인</a:t>
            </a:r>
            <a:endParaRPr sz="1125" b="1" dirty="0">
              <a:solidFill>
                <a:srgbClr val="1D2939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355B563-57EC-CC11-BA25-CEB056C1D676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ECFDF3"/>
          </a:solidFill>
          <a:ln w="9525">
            <a:solidFill>
              <a:srgbClr val="ABEF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7CE9FCE-DB50-B8C2-AA87-3F7C4AE2648D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45A0811-115C-43D7-2BE2-709E170F93D8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87655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E6E577C-9FF2-C91A-A5A1-4E84B6819CF3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8765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42C6CEE-5FFF-2CD1-29BD-CC2AD8528128}"/>
              </a:ext>
            </a:extLst>
          </p:cNvPr>
          <p:cNvSpPr>
            <a:spLocks noGrp="1"/>
          </p:cNvSpPr>
          <p:nvPr/>
        </p:nvSpPr>
        <p:spPr>
          <a:xfrm>
            <a:off x="2209800" y="5410200"/>
            <a:ext cx="2445068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01828"/>
                </a:solidFill>
              </a:defRPr>
            </a:pPr>
            <a:r>
              <a:rPr lang="en-US" altLang="ko-KR" sz="2500" dirty="0"/>
              <a:t>Microsoft Presidio</a:t>
            </a:r>
            <a:endParaRPr sz="2500" b="1" dirty="0">
              <a:solidFill>
                <a:srgbClr val="101828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0112D71-3993-4584-7209-90353D9E954A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262890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D021E52-5DC1-83DD-1137-1BB16660EB6C}"/>
              </a:ext>
            </a:extLst>
          </p:cNvPr>
          <p:cNvSpPr>
            <a:spLocks noGrp="1"/>
          </p:cNvSpPr>
          <p:nvPr/>
        </p:nvSpPr>
        <p:spPr>
          <a:xfrm>
            <a:off x="7886699" y="5295900"/>
            <a:ext cx="2628899" cy="45719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162B292-DD7B-77A6-0B1D-76092A17684E}"/>
              </a:ext>
            </a:extLst>
          </p:cNvPr>
          <p:cNvSpPr>
            <a:spLocks noGrp="1"/>
          </p:cNvSpPr>
          <p:nvPr/>
        </p:nvSpPr>
        <p:spPr>
          <a:xfrm>
            <a:off x="7954240" y="5389418"/>
            <a:ext cx="26860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01828"/>
                </a:solidFill>
              </a:defRPr>
            </a:pPr>
            <a:r>
              <a:rPr lang="en-US" altLang="ko-KR" sz="2500" dirty="0"/>
              <a:t>Azure AI Language </a:t>
            </a:r>
          </a:p>
          <a:p>
            <a:pPr>
              <a:defRPr sz="1500" b="1">
                <a:solidFill>
                  <a:srgbClr val="101828"/>
                </a:solidFill>
              </a:defRPr>
            </a:pPr>
            <a:r>
              <a:rPr lang="en-US" altLang="ko-KR" dirty="0"/>
              <a:t>(</a:t>
            </a:r>
            <a:r>
              <a:rPr lang="ko-KR" altLang="en-US" dirty="0"/>
              <a:t>언어 서비스 </a:t>
            </a:r>
            <a:r>
              <a:rPr lang="en-US" altLang="ko-KR" dirty="0"/>
              <a:t>- PII Redaction)</a:t>
            </a:r>
            <a:endParaRPr sz="1500" b="1" dirty="0">
              <a:solidFill>
                <a:srgbClr val="101828"/>
              </a:solidFill>
            </a:endParaRPr>
          </a:p>
        </p:txBody>
      </p:sp>
      <p:pic>
        <p:nvPicPr>
          <p:cNvPr id="1026" name="Picture 2" descr="Presidio Expands Partnership with Microsoft to Accelerate Hybrid Cloud  Innovation and Adoption - Presidio">
            <a:extLst>
              <a:ext uri="{FF2B5EF4-FFF2-40B4-BE49-F238E27FC236}">
                <a16:creationId xmlns:a16="http://schemas.microsoft.com/office/drawing/2014/main" id="{41F8ACBA-487E-85D6-5CFC-5079D1937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26" y="2452688"/>
            <a:ext cx="4755573" cy="246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icing - Azure Language in Foundry Tools | Microsoft Azure">
            <a:extLst>
              <a:ext uri="{FF2B5EF4-FFF2-40B4-BE49-F238E27FC236}">
                <a16:creationId xmlns:a16="http://schemas.microsoft.com/office/drawing/2014/main" id="{E9EA4080-8846-50ED-F042-7808E7559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356" y="2474119"/>
            <a:ext cx="4018644" cy="210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155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78DE-DC9F-BFA1-9097-73B2CBC7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B53DEEFA-6958-A424-F56F-5B755FBE33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548128-84AF-B27E-5921-FF18E436D6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1134B6B-D8F6-3F12-3176-B2931E96B834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00500" cy="2857500"/>
          </a:xfrm>
          <a:prstGeom prst="ellipse">
            <a:avLst/>
          </a:prstGeom>
          <a:solidFill>
            <a:srgbClr val="FFF4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2C2BD61-B8DA-E940-FA70-BC5A2CA27537}"/>
              </a:ext>
            </a:extLst>
          </p:cNvPr>
          <p:cNvSpPr>
            <a:spLocks noGrp="1"/>
          </p:cNvSpPr>
          <p:nvPr/>
        </p:nvSpPr>
        <p:spPr>
          <a:xfrm>
            <a:off x="9334500" y="4953000"/>
            <a:ext cx="3429000" cy="2476500"/>
          </a:xfrm>
          <a:prstGeom prst="ellipse">
            <a:avLst/>
          </a:prstGeom>
          <a:solidFill>
            <a:srgbClr val="E8F7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7B09874-D6DC-64F8-5A3D-69F5434EE05D}"/>
              </a:ext>
            </a:extLst>
          </p:cNvPr>
          <p:cNvSpPr>
            <a:spLocks noGrp="1"/>
          </p:cNvSpPr>
          <p:nvPr/>
        </p:nvSpPr>
        <p:spPr>
          <a:xfrm>
            <a:off x="10287000" y="-381000"/>
            <a:ext cx="2095500" cy="1714500"/>
          </a:xfrm>
          <a:prstGeom prst="ellipse">
            <a:avLst/>
          </a:prstGeom>
          <a:solidFill>
            <a:srgbClr val="EA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9396A9-8DE9-D232-839F-82573D1A948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738554-5D19-026D-7C17-6AB396781A1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42AE47-3083-A3D6-A687-D8C33A733CA4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D109A2-50B2-0FCE-981D-5938D53B43D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중간발표 시점의 성과와 남은 과제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BF1948E-9E6C-D09D-4576-308CDEB68AA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D4A7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279844-086D-991F-0E99-5E7FBC4A3E7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6200" cy="381000"/>
          </a:xfrm>
          <a:prstGeom prst="rect">
            <a:avLst/>
          </a:prstGeom>
          <a:solidFill>
            <a:srgbClr val="D4A7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168C79-C1D0-79AC-7FA5-D5A46D83D5EF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901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939"/>
                </a:solidFill>
              </a:defRPr>
            </a:pPr>
            <a:r>
              <a:rPr sz="1125" b="1" dirty="0" err="1">
                <a:solidFill>
                  <a:srgbClr val="1D2939"/>
                </a:solidFill>
              </a:rPr>
              <a:t>중간발표에서는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이미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증명한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부분을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선명하게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말하고</a:t>
            </a:r>
            <a:r>
              <a:rPr sz="1125" b="1" dirty="0">
                <a:solidFill>
                  <a:srgbClr val="1D2939"/>
                </a:solidFill>
              </a:rPr>
              <a:t>, </a:t>
            </a:r>
            <a:r>
              <a:rPr sz="1125" b="1" dirty="0" err="1">
                <a:solidFill>
                  <a:srgbClr val="1D2939"/>
                </a:solidFill>
              </a:rPr>
              <a:t>남은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과제는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과장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없이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적는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것이</a:t>
            </a:r>
            <a:r>
              <a:rPr sz="1125" b="1" dirty="0">
                <a:solidFill>
                  <a:srgbClr val="1D2939"/>
                </a:solidFill>
              </a:rPr>
              <a:t> </a:t>
            </a:r>
            <a:r>
              <a:rPr sz="1125" b="1" dirty="0" err="1">
                <a:solidFill>
                  <a:srgbClr val="1D2939"/>
                </a:solidFill>
              </a:rPr>
              <a:t>중요하다</a:t>
            </a:r>
            <a:r>
              <a:rPr sz="1125" b="1" dirty="0">
                <a:solidFill>
                  <a:srgbClr val="1D2939"/>
                </a:solidFill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92B33B-2E9E-E711-DEF5-495D955C0FD0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ECFDF3"/>
          </a:solidFill>
          <a:ln w="9525">
            <a:solidFill>
              <a:srgbClr val="ABEF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202D08B-A465-F03D-8DB5-B0AEB090D4FC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43500" cy="3638550"/>
          </a:xfrm>
          <a:prstGeom prst="roundRect">
            <a:avLst>
              <a:gd name="adj" fmla="val 2094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CEDA51-1E5B-D0B7-EC83-8258C680F7DE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이미 증명한 것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1731363-19FB-25E6-489A-1202964A7617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CEA07E-A8EF-CC44-A284-E0EA9B0EC3BF}"/>
              </a:ext>
            </a:extLst>
          </p:cNvPr>
          <p:cNvSpPr>
            <a:spLocks noGrp="1"/>
          </p:cNvSpPr>
          <p:nvPr/>
        </p:nvSpPr>
        <p:spPr>
          <a:xfrm>
            <a:off x="1123950" y="295275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한국어 vs 영어 성능 격차를 10k benchmark로 확인했다.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B74CC1A-1D94-7809-FC53-9CFCB6B05471}"/>
              </a:ext>
            </a:extLst>
          </p:cNvPr>
          <p:cNvSpPr>
            <a:spLocks noGrp="1"/>
          </p:cNvSpPr>
          <p:nvPr/>
        </p:nvSpPr>
        <p:spPr>
          <a:xfrm>
            <a:off x="933450" y="34251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228951-A96B-2D92-7960-86F0AD58FCB0}"/>
              </a:ext>
            </a:extLst>
          </p:cNvPr>
          <p:cNvSpPr>
            <a:spLocks noGrp="1"/>
          </p:cNvSpPr>
          <p:nvPr/>
        </p:nvSpPr>
        <p:spPr>
          <a:xfrm>
            <a:off x="1123950" y="332994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KR semantic에서 L0가 judge보다 높다는 점을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증명했다.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955CA81-4C34-0A0A-BD8F-6C344035F0FF}"/>
              </a:ext>
            </a:extLst>
          </p:cNvPr>
          <p:cNvSpPr>
            <a:spLocks noGrp="1"/>
          </p:cNvSpPr>
          <p:nvPr/>
        </p:nvSpPr>
        <p:spPr>
          <a:xfrm>
            <a:off x="933450" y="400812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286EDA8-3E2E-06B3-4BBD-594A906E6C96}"/>
              </a:ext>
            </a:extLst>
          </p:cNvPr>
          <p:cNvSpPr>
            <a:spLocks noGrp="1"/>
          </p:cNvSpPr>
          <p:nvPr/>
        </p:nvSpPr>
        <p:spPr>
          <a:xfrm>
            <a:off x="1123950" y="391287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McNemar로 B vs C 차이가 통계적으로 유의함을 보였다.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48A4AF6-650D-253C-DFE7-63A998E4E46D}"/>
              </a:ext>
            </a:extLst>
          </p:cNvPr>
          <p:cNvSpPr>
            <a:spLocks noGrp="1"/>
          </p:cNvSpPr>
          <p:nvPr/>
        </p:nvSpPr>
        <p:spPr>
          <a:xfrm>
            <a:off x="933450" y="438531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234BAD-6838-D61C-3668-7B5853D2F8AC}"/>
              </a:ext>
            </a:extLst>
          </p:cNvPr>
          <p:cNvSpPr>
            <a:spLocks noGrp="1"/>
          </p:cNvSpPr>
          <p:nvPr/>
        </p:nvSpPr>
        <p:spPr>
          <a:xfrm>
            <a:off x="1123950" y="4290060"/>
            <a:ext cx="4286250" cy="4495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latency, cost, smart cascade, FP로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운영성도 제시했다.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18FB90-082D-DC9B-77B9-2126CC08244D}"/>
              </a:ext>
            </a:extLst>
          </p:cNvPr>
          <p:cNvSpPr>
            <a:spLocks noGrp="1"/>
          </p:cNvSpPr>
          <p:nvPr/>
        </p:nvSpPr>
        <p:spPr>
          <a:xfrm>
            <a:off x="6610350" y="253365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 dirty="0" err="1">
                <a:solidFill>
                  <a:srgbClr val="101828"/>
                </a:solidFill>
              </a:rPr>
              <a:t>최종발표</a:t>
            </a:r>
            <a:r>
              <a:rPr sz="1800" b="1" dirty="0">
                <a:solidFill>
                  <a:srgbClr val="101828"/>
                </a:solidFill>
              </a:rPr>
              <a:t> 전 </a:t>
            </a:r>
            <a:r>
              <a:rPr sz="1800" b="1" dirty="0" err="1">
                <a:solidFill>
                  <a:srgbClr val="101828"/>
                </a:solidFill>
              </a:rPr>
              <a:t>보강할</a:t>
            </a:r>
            <a:r>
              <a:rPr sz="1800" b="1" dirty="0">
                <a:solidFill>
                  <a:srgbClr val="101828"/>
                </a:solidFill>
              </a:rPr>
              <a:t> 것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C828484-5761-1DD0-60C1-00533EF1F78C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291326-9C16-19B8-C728-15C848DE67C5}"/>
              </a:ext>
            </a:extLst>
          </p:cNvPr>
          <p:cNvSpPr>
            <a:spLocks noGrp="1"/>
          </p:cNvSpPr>
          <p:nvPr/>
        </p:nvSpPr>
        <p:spPr>
          <a:xfrm>
            <a:off x="6800850" y="295275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1D2939"/>
                </a:solidFill>
              </a:defRPr>
            </a:pPr>
            <a:r>
              <a:rPr lang="en-US" altLang="ko-KR" sz="1400" dirty="0"/>
              <a:t>1.</a:t>
            </a:r>
            <a:r>
              <a:rPr lang="ko-KR" altLang="en-US" sz="1400" dirty="0"/>
              <a:t>민감한 </a:t>
            </a:r>
            <a:r>
              <a:rPr lang="en-US" altLang="ko-KR" sz="1400" dirty="0"/>
              <a:t>PII / </a:t>
            </a:r>
            <a:r>
              <a:rPr lang="ko-KR" altLang="en-US" sz="1400" dirty="0"/>
              <a:t>민감하지 않은 </a:t>
            </a:r>
            <a:r>
              <a:rPr lang="en-US" altLang="ko-KR" sz="1400" dirty="0"/>
              <a:t>PII </a:t>
            </a:r>
            <a:r>
              <a:rPr lang="ko-KR" altLang="en-US" sz="1400" dirty="0"/>
              <a:t>경계</a:t>
            </a:r>
            <a:r>
              <a:rPr lang="en-US" altLang="ko-KR" sz="1400" dirty="0"/>
              <a:t> </a:t>
            </a:r>
            <a:endParaRPr lang="ko-KR" altLang="en-US" sz="1400" b="1" dirty="0">
              <a:solidFill>
                <a:srgbClr val="1D2939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E56577F-9706-5E7C-B0C9-00BE52FA9706}"/>
              </a:ext>
            </a:extLst>
          </p:cNvPr>
          <p:cNvSpPr>
            <a:spLocks noGrp="1"/>
          </p:cNvSpPr>
          <p:nvPr/>
        </p:nvSpPr>
        <p:spPr>
          <a:xfrm>
            <a:off x="6610350" y="342519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FFC1609-63D9-692B-3A7D-642F329F06E9}"/>
              </a:ext>
            </a:extLst>
          </p:cNvPr>
          <p:cNvSpPr>
            <a:spLocks noGrp="1"/>
          </p:cNvSpPr>
          <p:nvPr/>
        </p:nvSpPr>
        <p:spPr>
          <a:xfrm>
            <a:off x="6800850" y="332994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1D2939"/>
                </a:solidFill>
              </a:defRPr>
            </a:pPr>
            <a:r>
              <a:rPr lang="en-US" altLang="ko-KR" sz="1400" dirty="0"/>
              <a:t>2.</a:t>
            </a:r>
            <a:r>
              <a:rPr lang="ko-KR" altLang="en-US" sz="1400" dirty="0"/>
              <a:t>검증 파이프라인</a:t>
            </a:r>
            <a:r>
              <a:rPr lang="en-US" altLang="ko-KR" sz="1400" dirty="0"/>
              <a:t> </a:t>
            </a:r>
            <a:r>
              <a:rPr lang="ko-KR" altLang="en-US" sz="1400" dirty="0"/>
              <a:t>수정</a:t>
            </a:r>
            <a:endParaRPr lang="ko-KR" altLang="en-US" sz="1400" b="1" dirty="0">
              <a:solidFill>
                <a:srgbClr val="1D2939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D5B409D-4A14-A5C7-08BA-C147E097B9D0}"/>
              </a:ext>
            </a:extLst>
          </p:cNvPr>
          <p:cNvSpPr>
            <a:spLocks noGrp="1"/>
          </p:cNvSpPr>
          <p:nvPr/>
        </p:nvSpPr>
        <p:spPr>
          <a:xfrm>
            <a:off x="6610350" y="3802380"/>
            <a:ext cx="76200" cy="76200"/>
          </a:xfrm>
          <a:prstGeom prst="ellipse">
            <a:avLst/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92C051A-3F03-5084-A9EF-E3A131093ABD}"/>
              </a:ext>
            </a:extLst>
          </p:cNvPr>
          <p:cNvSpPr>
            <a:spLocks noGrp="1"/>
          </p:cNvSpPr>
          <p:nvPr/>
        </p:nvSpPr>
        <p:spPr>
          <a:xfrm>
            <a:off x="6800850" y="3707130"/>
            <a:ext cx="42862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101828"/>
                </a:solidFill>
              </a:defRPr>
            </a:pPr>
            <a:r>
              <a:rPr lang="en-US" altLang="ko-KR" sz="1400" b="1" dirty="0"/>
              <a:t>3.</a:t>
            </a:r>
            <a:r>
              <a:rPr lang="ko-KR" altLang="en-US" sz="1400" b="1" dirty="0"/>
              <a:t>한국어 </a:t>
            </a:r>
            <a:r>
              <a:rPr lang="en-US" altLang="ko-KR" sz="1400" b="1" dirty="0"/>
              <a:t>PII </a:t>
            </a:r>
            <a:r>
              <a:rPr lang="ko-KR" altLang="en-US" sz="1400" b="1" dirty="0"/>
              <a:t>보호 엔진 제작</a:t>
            </a:r>
            <a:endParaRPr sz="1400" b="1" dirty="0">
              <a:solidFill>
                <a:srgbClr val="101828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C37F654-A8E4-8983-29A6-FFC0B5F71D04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1ECE80-42CC-22B3-CC41-010D5E809416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28600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34A6630-68C5-5A37-E640-DF944BE8E7A5}"/>
              </a:ext>
            </a:extLst>
          </p:cNvPr>
          <p:cNvSpPr>
            <a:spLocks noGrp="1"/>
          </p:cNvSpPr>
          <p:nvPr/>
        </p:nvSpPr>
        <p:spPr>
          <a:xfrm>
            <a:off x="2209800" y="541020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중간발표 완료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CC32B57-1D8A-2109-3312-EAE498A7720B}"/>
              </a:ext>
            </a:extLst>
          </p:cNvPr>
          <p:cNvSpPr>
            <a:spLocks noGrp="1"/>
          </p:cNvSpPr>
          <p:nvPr/>
        </p:nvSpPr>
        <p:spPr>
          <a:xfrm>
            <a:off x="2209800" y="5676900"/>
            <a:ext cx="1943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핵심 가설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3E661A-C00F-2135-87FB-13C67CF25DCC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2095500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E4C01DE-E41C-FB3D-481C-E2E82EFDE4F0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2095500" cy="571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2744486-BCEF-41CF-E96C-FEEFDC71BCB3}"/>
              </a:ext>
            </a:extLst>
          </p:cNvPr>
          <p:cNvSpPr>
            <a:spLocks noGrp="1"/>
          </p:cNvSpPr>
          <p:nvPr/>
        </p:nvSpPr>
        <p:spPr>
          <a:xfrm>
            <a:off x="8058150" y="54102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최종발표 과제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8A0396-5C4C-944D-EE4D-F323E8C22B80}"/>
              </a:ext>
            </a:extLst>
          </p:cNvPr>
          <p:cNvSpPr>
            <a:spLocks noGrp="1"/>
          </p:cNvSpPr>
          <p:nvPr/>
        </p:nvSpPr>
        <p:spPr>
          <a:xfrm>
            <a:off x="8058150" y="5676900"/>
            <a:ext cx="175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확장 검증</a:t>
            </a:r>
          </a:p>
        </p:txBody>
      </p:sp>
    </p:spTree>
    <p:extLst>
      <p:ext uri="{BB962C8B-B14F-4D97-AF65-F5344CB8AC3E}">
        <p14:creationId xmlns:p14="http://schemas.microsoft.com/office/powerpoint/2010/main" val="4114437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055A06-455A-4DEE-BC1A-93F6945605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C6DF38-74CF-4CFF-87C1-79295F27BC6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마무리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2D47DC-BD56-44EA-8F3B-9B11166AE61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30 / 30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733134-9D58-4854-9805-67085FC6CD3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820400" cy="14288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79C160-2441-47E1-8BE9-44248A00B11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결론 및 Q&amp;A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0C91E1-9FE8-4EB0-B880-A7C16886EF3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56C3F80-E550-48F9-94C8-E635BFD2C751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0637C40-E5C1-496D-8036-05AE8F0BC843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39BAAD-59C0-493B-ABAC-7105D88DFE85}"/>
              </a:ext>
            </a:extLst>
          </p:cNvPr>
          <p:cNvSpPr>
            <a:spLocks noGrp="1"/>
          </p:cNvSpPr>
          <p:nvPr/>
        </p:nvSpPr>
        <p:spPr>
          <a:xfrm>
            <a:off x="990600" y="18859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영어는 잘 막지만 한국어 텍스트형 PII는 공백이 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9FE2D-5D39-4760-99A3-0993FB38B172}"/>
              </a:ext>
            </a:extLst>
          </p:cNvPr>
          <p:cNvSpPr>
            <a:spLocks noGrp="1"/>
          </p:cNvSpPr>
          <p:nvPr/>
        </p:nvSpPr>
        <p:spPr>
          <a:xfrm>
            <a:off x="990600" y="29908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Layer 0가 그 공백을 메운다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CB8960-D7CF-47D8-BF8C-7AA3E1B99B23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그리고 LLM judge보다 더 싸고 빠르며 KR semantic에서 더 잘 잡는다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C1E4180-37A3-4F6F-A46A-015FEBC1231B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36C49-2149-4F27-8DB1-C2F749D2B0F7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2190750" cy="57150"/>
          </a:xfrm>
          <a:prstGeom prst="rect">
            <a:avLst/>
          </a:prstGeom>
          <a:solidFill>
            <a:srgbClr val="2E6A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E565CC-68DB-466E-996C-281ED0531CB0}"/>
              </a:ext>
            </a:extLst>
          </p:cNvPr>
          <p:cNvSpPr>
            <a:spLocks noGrp="1"/>
          </p:cNvSpPr>
          <p:nvPr/>
        </p:nvSpPr>
        <p:spPr>
          <a:xfrm>
            <a:off x="17335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400646-2CC9-473A-80E8-639D855C4268}"/>
              </a:ext>
            </a:extLst>
          </p:cNvPr>
          <p:cNvSpPr>
            <a:spLocks noGrp="1"/>
          </p:cNvSpPr>
          <p:nvPr/>
        </p:nvSpPr>
        <p:spPr>
          <a:xfrm>
            <a:off x="17335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EN baseline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ABF61E-1399-42C7-91D6-B84DEFB24AAF}"/>
              </a:ext>
            </a:extLst>
          </p:cNvPr>
          <p:cNvSpPr>
            <a:spLocks noGrp="1"/>
          </p:cNvSpPr>
          <p:nvPr/>
        </p:nvSpPr>
        <p:spPr>
          <a:xfrm>
            <a:off x="43434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119E976-4630-45EB-8D55-ADF0A299687E}"/>
              </a:ext>
            </a:extLst>
          </p:cNvPr>
          <p:cNvSpPr>
            <a:spLocks noGrp="1"/>
          </p:cNvSpPr>
          <p:nvPr/>
        </p:nvSpPr>
        <p:spPr>
          <a:xfrm>
            <a:off x="4343400" y="5295900"/>
            <a:ext cx="2190750" cy="57150"/>
          </a:xfrm>
          <a:prstGeom prst="rect">
            <a:avLst/>
          </a:prstGeom>
          <a:solidFill>
            <a:srgbClr val="D92D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0A2427-987F-4915-ABAC-5FEEB8252B1A}"/>
              </a:ext>
            </a:extLst>
          </p:cNvPr>
          <p:cNvSpPr>
            <a:spLocks noGrp="1"/>
          </p:cNvSpPr>
          <p:nvPr/>
        </p:nvSpPr>
        <p:spPr>
          <a:xfrm>
            <a:off x="45148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BCABB2-BD0E-47A1-9E14-B0C16F59F70D}"/>
              </a:ext>
            </a:extLst>
          </p:cNvPr>
          <p:cNvSpPr>
            <a:spLocks noGrp="1"/>
          </p:cNvSpPr>
          <p:nvPr/>
        </p:nvSpPr>
        <p:spPr>
          <a:xfrm>
            <a:off x="45148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 baseline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41B91B5-D568-4CF3-9118-BB8BB6798EA7}"/>
              </a:ext>
            </a:extLst>
          </p:cNvPr>
          <p:cNvSpPr>
            <a:spLocks noGrp="1"/>
          </p:cNvSpPr>
          <p:nvPr/>
        </p:nvSpPr>
        <p:spPr>
          <a:xfrm>
            <a:off x="7124700" y="5295900"/>
            <a:ext cx="2190750" cy="971550"/>
          </a:xfrm>
          <a:prstGeom prst="roundRect">
            <a:avLst>
              <a:gd name="adj" fmla="val 78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92F770-64A5-4ED7-AD77-AC3A74FA1E1E}"/>
              </a:ext>
            </a:extLst>
          </p:cNvPr>
          <p:cNvSpPr>
            <a:spLocks noGrp="1"/>
          </p:cNvSpPr>
          <p:nvPr/>
        </p:nvSpPr>
        <p:spPr>
          <a:xfrm>
            <a:off x="7124700" y="5295900"/>
            <a:ext cx="2190750" cy="57150"/>
          </a:xfrm>
          <a:prstGeom prst="rect">
            <a:avLst/>
          </a:prstGeom>
          <a:solidFill>
            <a:srgbClr val="22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0F757B-F609-4CF8-A568-B1699BAD8CC5}"/>
              </a:ext>
            </a:extLst>
          </p:cNvPr>
          <p:cNvSpPr>
            <a:spLocks noGrp="1"/>
          </p:cNvSpPr>
          <p:nvPr/>
        </p:nvSpPr>
        <p:spPr>
          <a:xfrm>
            <a:off x="7296150" y="5429250"/>
            <a:ext cx="1847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004FBF-4273-4DDB-869D-C9EF930B6A46}"/>
              </a:ext>
            </a:extLst>
          </p:cNvPr>
          <p:cNvSpPr>
            <a:spLocks noGrp="1"/>
          </p:cNvSpPr>
          <p:nvPr/>
        </p:nvSpPr>
        <p:spPr>
          <a:xfrm>
            <a:off x="7296150" y="5791200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semantic with L0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2F0E4C-F0E1-4218-AF41-E222541165FB}"/>
              </a:ext>
            </a:extLst>
          </p:cNvPr>
          <p:cNvSpPr>
            <a:spLocks noGrp="1"/>
          </p:cNvSpPr>
          <p:nvPr/>
        </p:nvSpPr>
        <p:spPr>
          <a:xfrm>
            <a:off x="10553700" y="59245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98A2B3"/>
                </a:solidFill>
              </a:defRPr>
            </a:pPr>
            <a:r>
              <a:rPr sz="1350" b="1">
                <a:solidFill>
                  <a:srgbClr val="98A2B3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690791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3875</Words>
  <Application>Microsoft Office PowerPoint</Application>
  <DocSecurity>0</DocSecurity>
  <PresentationFormat>와이드스크린</PresentationFormat>
  <Paragraphs>623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양유상</cp:lastModifiedBy>
  <cp:revision>2</cp:revision>
  <dcterms:created xsi:type="dcterms:W3CDTF">2026-04-24T09:07:01Z</dcterms:created>
  <dcterms:modified xsi:type="dcterms:W3CDTF">2026-04-24T10:15:32Z</dcterms:modified>
</cp:coreProperties>
</file>