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1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2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3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4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5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6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7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slides/charts/chart8.xml" ContentType="application/vnd.openxmlformats-officedocument.drawingml.chart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e19e256ff84c1f" /><Relationship Type="http://schemas.openxmlformats.org/officeDocument/2006/relationships/extended-properties" Target="/docProps/app.xml" Id="R4e1358a4f9c24cbb" /><Relationship Type="http://schemas.openxmlformats.org/officeDocument/2006/relationships/officeDocument" Target="/ppt/presentation.xml" Id="Rc9aa7c39048346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4e21292637495a"/>
  </p:sldMasterIdLst>
  <p:notesMasterIdLst>
    <p:notesMasterId xmlns:r="http://schemas.openxmlformats.org/officeDocument/2006/relationships" r:id="R81526b9bc93c42b5"/>
  </p:notesMasterIdLst>
  <p:sldIdLst>
    <p:sldId xmlns:r="http://schemas.openxmlformats.org/officeDocument/2006/relationships" id="256" r:id="R7468f1fea0b84f31"/>
    <p:sldId xmlns:r="http://schemas.openxmlformats.org/officeDocument/2006/relationships" id="257" r:id="R505c75722816437b"/>
    <p:sldId xmlns:r="http://schemas.openxmlformats.org/officeDocument/2006/relationships" id="258" r:id="R7240c5add42a4d6d"/>
    <p:sldId xmlns:r="http://schemas.openxmlformats.org/officeDocument/2006/relationships" id="259" r:id="Rffa69c90f4f2421e"/>
    <p:sldId xmlns:r="http://schemas.openxmlformats.org/officeDocument/2006/relationships" id="260" r:id="R486e120c2c5f4204"/>
    <p:sldId xmlns:r="http://schemas.openxmlformats.org/officeDocument/2006/relationships" id="261" r:id="Rf46fc6ef77ef4542"/>
    <p:sldId xmlns:r="http://schemas.openxmlformats.org/officeDocument/2006/relationships" id="262" r:id="Ra32dc34a6f634b76"/>
    <p:sldId xmlns:r="http://schemas.openxmlformats.org/officeDocument/2006/relationships" id="263" r:id="Rbfb20fd3a6034d04"/>
    <p:sldId xmlns:r="http://schemas.openxmlformats.org/officeDocument/2006/relationships" id="264" r:id="R6a469ba623ab4cd8"/>
    <p:sldId xmlns:r="http://schemas.openxmlformats.org/officeDocument/2006/relationships" id="265" r:id="R642ce99879574b66"/>
    <p:sldId xmlns:r="http://schemas.openxmlformats.org/officeDocument/2006/relationships" id="266" r:id="R34dace5d302d4db4"/>
    <p:sldId xmlns:r="http://schemas.openxmlformats.org/officeDocument/2006/relationships" id="267" r:id="R7b77743347bb4fb7"/>
    <p:sldId xmlns:r="http://schemas.openxmlformats.org/officeDocument/2006/relationships" id="268" r:id="Reb2cb3cbf51d469c"/>
    <p:sldId xmlns:r="http://schemas.openxmlformats.org/officeDocument/2006/relationships" id="269" r:id="Rf9e309d995e649a7"/>
    <p:sldId xmlns:r="http://schemas.openxmlformats.org/officeDocument/2006/relationships" id="270" r:id="R14fd8c58a14f42f0"/>
    <p:sldId xmlns:r="http://schemas.openxmlformats.org/officeDocument/2006/relationships" id="271" r:id="Rab91cae8f36643eb"/>
    <p:sldId xmlns:r="http://schemas.openxmlformats.org/officeDocument/2006/relationships" id="272" r:id="R33085190417c484d"/>
    <p:sldId xmlns:r="http://schemas.openxmlformats.org/officeDocument/2006/relationships" id="273" r:id="R529c2fb676f44cf1"/>
    <p:sldId xmlns:r="http://schemas.openxmlformats.org/officeDocument/2006/relationships" id="274" r:id="Re6912dc2edc04147"/>
    <p:sldId xmlns:r="http://schemas.openxmlformats.org/officeDocument/2006/relationships" id="275" r:id="R6fd2584d6fb24b8e"/>
    <p:sldId xmlns:r="http://schemas.openxmlformats.org/officeDocument/2006/relationships" id="276" r:id="R03bdf673c0924e0c"/>
    <p:sldId xmlns:r="http://schemas.openxmlformats.org/officeDocument/2006/relationships" id="277" r:id="R9d53617e988e43ad"/>
    <p:sldId xmlns:r="http://schemas.openxmlformats.org/officeDocument/2006/relationships" id="278" r:id="R77af06d6256f412f"/>
    <p:sldId xmlns:r="http://schemas.openxmlformats.org/officeDocument/2006/relationships" id="279" r:id="R0f823117cfbf4036"/>
    <p:sldId xmlns:r="http://schemas.openxmlformats.org/officeDocument/2006/relationships" id="280" r:id="R94fe0222c6f54841"/>
    <p:sldId xmlns:r="http://schemas.openxmlformats.org/officeDocument/2006/relationships" id="281" r:id="R67e8271ef57f43fe"/>
    <p:sldId xmlns:r="http://schemas.openxmlformats.org/officeDocument/2006/relationships" id="282" r:id="R79006f912e84463f"/>
    <p:sldId xmlns:r="http://schemas.openxmlformats.org/officeDocument/2006/relationships" id="283" r:id="Rccf77eff19ae45aa"/>
    <p:sldId xmlns:r="http://schemas.openxmlformats.org/officeDocument/2006/relationships" id="284" r:id="Rac9e3e9dce884401"/>
    <p:sldId xmlns:r="http://schemas.openxmlformats.org/officeDocument/2006/relationships" id="285" r:id="R094ec663e0514c9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4e21292637495a" /><Relationship Type="http://schemas.openxmlformats.org/officeDocument/2006/relationships/theme" Target="/ppt/theme/theme1.xml" Id="R1427b0b15c6c4b9c" /><Relationship Type="http://schemas.openxmlformats.org/officeDocument/2006/relationships/notesMaster" Target="/ppt/notesMasters/notesMaster1.xml" Id="R81526b9bc93c42b5" /><Relationship Type="http://schemas.openxmlformats.org/officeDocument/2006/relationships/presProps" Target="/ppt/presProps.xml" Id="R1049285c91ff41c8" /><Relationship Type="http://schemas.openxmlformats.org/officeDocument/2006/relationships/viewProps" Target="/ppt/viewProps.xml" Id="R8e37f74445204b42" /><Relationship Type="http://schemas.openxmlformats.org/officeDocument/2006/relationships/tableStyles" Target="/ppt/tableStyles.xml" Id="R92f36d9840304178" /><Relationship Type="http://schemas.openxmlformats.org/officeDocument/2006/relationships/slide" Target="/ppt/slides/slide1.xml" Id="R7468f1fea0b84f31" /><Relationship Type="http://schemas.openxmlformats.org/officeDocument/2006/relationships/slide" Target="/ppt/slides/slide2.xml" Id="R505c75722816437b" /><Relationship Type="http://schemas.openxmlformats.org/officeDocument/2006/relationships/slide" Target="/ppt/slides/slide3.xml" Id="R7240c5add42a4d6d" /><Relationship Type="http://schemas.openxmlformats.org/officeDocument/2006/relationships/slide" Target="/ppt/slides/slide4.xml" Id="Rffa69c90f4f2421e" /><Relationship Type="http://schemas.openxmlformats.org/officeDocument/2006/relationships/slide" Target="/ppt/slides/slide5.xml" Id="R486e120c2c5f4204" /><Relationship Type="http://schemas.openxmlformats.org/officeDocument/2006/relationships/slide" Target="/ppt/slides/slide6.xml" Id="Rf46fc6ef77ef4542" /><Relationship Type="http://schemas.openxmlformats.org/officeDocument/2006/relationships/slide" Target="/ppt/slides/slide7.xml" Id="Ra32dc34a6f634b76" /><Relationship Type="http://schemas.openxmlformats.org/officeDocument/2006/relationships/slide" Target="/ppt/slides/slide8.xml" Id="Rbfb20fd3a6034d04" /><Relationship Type="http://schemas.openxmlformats.org/officeDocument/2006/relationships/slide" Target="/ppt/slides/slide9.xml" Id="R6a469ba623ab4cd8" /><Relationship Type="http://schemas.openxmlformats.org/officeDocument/2006/relationships/slide" Target="/ppt/slides/slide10.xml" Id="R642ce99879574b66" /><Relationship Type="http://schemas.openxmlformats.org/officeDocument/2006/relationships/slide" Target="/ppt/slides/slide11.xml" Id="R34dace5d302d4db4" /><Relationship Type="http://schemas.openxmlformats.org/officeDocument/2006/relationships/slide" Target="/ppt/slides/slide12.xml" Id="R7b77743347bb4fb7" /><Relationship Type="http://schemas.openxmlformats.org/officeDocument/2006/relationships/slide" Target="/ppt/slides/slide13.xml" Id="Reb2cb3cbf51d469c" /><Relationship Type="http://schemas.openxmlformats.org/officeDocument/2006/relationships/slide" Target="/ppt/slides/slide14.xml" Id="Rf9e309d995e649a7" /><Relationship Type="http://schemas.openxmlformats.org/officeDocument/2006/relationships/slide" Target="/ppt/slides/slide15.xml" Id="R14fd8c58a14f42f0" /><Relationship Type="http://schemas.openxmlformats.org/officeDocument/2006/relationships/slide" Target="/ppt/slides/slide16.xml" Id="Rab91cae8f36643eb" /><Relationship Type="http://schemas.openxmlformats.org/officeDocument/2006/relationships/slide" Target="/ppt/slides/slide17.xml" Id="R33085190417c484d" /><Relationship Type="http://schemas.openxmlformats.org/officeDocument/2006/relationships/slide" Target="/ppt/slides/slide18.xml" Id="R529c2fb676f44cf1" /><Relationship Type="http://schemas.openxmlformats.org/officeDocument/2006/relationships/slide" Target="/ppt/slides/slide19.xml" Id="Re6912dc2edc04147" /><Relationship Type="http://schemas.openxmlformats.org/officeDocument/2006/relationships/slide" Target="/ppt/slides/slide20.xml" Id="R6fd2584d6fb24b8e" /><Relationship Type="http://schemas.openxmlformats.org/officeDocument/2006/relationships/slide" Target="/ppt/slides/slide21.xml" Id="R03bdf673c0924e0c" /><Relationship Type="http://schemas.openxmlformats.org/officeDocument/2006/relationships/slide" Target="/ppt/slides/slide22.xml" Id="R9d53617e988e43ad" /><Relationship Type="http://schemas.openxmlformats.org/officeDocument/2006/relationships/slide" Target="/ppt/slides/slide23.xml" Id="R77af06d6256f412f" /><Relationship Type="http://schemas.openxmlformats.org/officeDocument/2006/relationships/slide" Target="/ppt/slides/slide24.xml" Id="R0f823117cfbf4036" /><Relationship Type="http://schemas.openxmlformats.org/officeDocument/2006/relationships/slide" Target="/ppt/slides/slide25.xml" Id="R94fe0222c6f54841" /><Relationship Type="http://schemas.openxmlformats.org/officeDocument/2006/relationships/slide" Target="/ppt/slides/slide26.xml" Id="R67e8271ef57f43fe" /><Relationship Type="http://schemas.openxmlformats.org/officeDocument/2006/relationships/slide" Target="/ppt/slides/slide27.xml" Id="R79006f912e84463f" /><Relationship Type="http://schemas.openxmlformats.org/officeDocument/2006/relationships/slide" Target="/ppt/slides/slide28.xml" Id="Rccf77eff19ae45aa" /><Relationship Type="http://schemas.openxmlformats.org/officeDocument/2006/relationships/slide" Target="/ppt/slides/slide29.xml" Id="Rac9e3e9dce884401" /><Relationship Type="http://schemas.openxmlformats.org/officeDocument/2006/relationships/slide" Target="/ppt/slides/slide30.xml" Id="R094ec663e0514c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d8e19bca2384d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35887c0bb64429" /><Relationship Type="http://schemas.openxmlformats.org/officeDocument/2006/relationships/notesMaster" Target="/ppt/notesMasters/notesMaster1.xml" Id="R05500c51bac941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ca7182f4904701" /><Relationship Type="http://schemas.openxmlformats.org/officeDocument/2006/relationships/notesMaster" Target="/ppt/notesMasters/notesMaster1.xml" Id="R4a420379528740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450a2c0491466f" /><Relationship Type="http://schemas.openxmlformats.org/officeDocument/2006/relationships/notesMaster" Target="/ppt/notesMasters/notesMaster1.xml" Id="R987d4800960f4f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e82684af694c81" /><Relationship Type="http://schemas.openxmlformats.org/officeDocument/2006/relationships/notesMaster" Target="/ppt/notesMasters/notesMaster1.xml" Id="Rfd8bdfe1635946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21d47713a44bde" /><Relationship Type="http://schemas.openxmlformats.org/officeDocument/2006/relationships/notesMaster" Target="/ppt/notesMasters/notesMaster1.xml" Id="R1e15925d480944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7e09edbeb845b6" /><Relationship Type="http://schemas.openxmlformats.org/officeDocument/2006/relationships/notesMaster" Target="/ppt/notesMasters/notesMaster1.xml" Id="Rc5cb03c1a6a948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bf0a0d4ac5424e" /><Relationship Type="http://schemas.openxmlformats.org/officeDocument/2006/relationships/notesMaster" Target="/ppt/notesMasters/notesMaster1.xml" Id="R82a9bacd86804d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5103ab9edd4a68" /><Relationship Type="http://schemas.openxmlformats.org/officeDocument/2006/relationships/notesMaster" Target="/ppt/notesMasters/notesMaster1.xml" Id="R0764e7711b7442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1ac19f16354c8b" /><Relationship Type="http://schemas.openxmlformats.org/officeDocument/2006/relationships/notesMaster" Target="/ppt/notesMasters/notesMaster1.xml" Id="R70efe919105d413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47e4cf3fda4243" /><Relationship Type="http://schemas.openxmlformats.org/officeDocument/2006/relationships/notesMaster" Target="/ppt/notesMasters/notesMaster1.xml" Id="Rd82bb1f4c00f4f4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6a0ed02d15249ce" /><Relationship Type="http://schemas.openxmlformats.org/officeDocument/2006/relationships/notesMaster" Target="/ppt/notesMasters/notesMaster1.xml" Id="Rc9df67350e5f417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058fa607284707" /><Relationship Type="http://schemas.openxmlformats.org/officeDocument/2006/relationships/notesMaster" Target="/ppt/notesMasters/notesMaster1.xml" Id="Rd1b70d149b35458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1a077f9b8f24c5f" /><Relationship Type="http://schemas.openxmlformats.org/officeDocument/2006/relationships/notesMaster" Target="/ppt/notesMasters/notesMaster1.xml" Id="R44586b474e6a4d6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56ef34e64b44d8b" /><Relationship Type="http://schemas.openxmlformats.org/officeDocument/2006/relationships/notesMaster" Target="/ppt/notesMasters/notesMaster1.xml" Id="R39cdf923316f440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6d236ba8be04b0a" /><Relationship Type="http://schemas.openxmlformats.org/officeDocument/2006/relationships/notesMaster" Target="/ppt/notesMasters/notesMaster1.xml" Id="R88c9d91036e0483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8152da88ce94879" /><Relationship Type="http://schemas.openxmlformats.org/officeDocument/2006/relationships/notesMaster" Target="/ppt/notesMasters/notesMaster1.xml" Id="Rf8828b2fa41f4d6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47be3076821477b" /><Relationship Type="http://schemas.openxmlformats.org/officeDocument/2006/relationships/notesMaster" Target="/ppt/notesMasters/notesMaster1.xml" Id="R3a0226ab40754a6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178cc1185004566" /><Relationship Type="http://schemas.openxmlformats.org/officeDocument/2006/relationships/notesMaster" Target="/ppt/notesMasters/notesMaster1.xml" Id="R0ce9542ebb9b4ae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d3090bc86da44d8" /><Relationship Type="http://schemas.openxmlformats.org/officeDocument/2006/relationships/notesMaster" Target="/ppt/notesMasters/notesMaster1.xml" Id="Re82ebfe3f8a24de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3e7a8e0422c49ab" /><Relationship Type="http://schemas.openxmlformats.org/officeDocument/2006/relationships/notesMaster" Target="/ppt/notesMasters/notesMaster1.xml" Id="Re280436e5fd748c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69273d51774496c" /><Relationship Type="http://schemas.openxmlformats.org/officeDocument/2006/relationships/notesMaster" Target="/ppt/notesMasters/notesMaster1.xml" Id="Reecbf8e0462d440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a481809e19049ee" /><Relationship Type="http://schemas.openxmlformats.org/officeDocument/2006/relationships/notesMaster" Target="/ppt/notesMasters/notesMaster1.xml" Id="R7acf4e123019492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82b064f72214d08" /><Relationship Type="http://schemas.openxmlformats.org/officeDocument/2006/relationships/notesMaster" Target="/ppt/notesMasters/notesMaster1.xml" Id="Rab6c24e43dcf4f2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5e987a73f5040ee" /><Relationship Type="http://schemas.openxmlformats.org/officeDocument/2006/relationships/notesMaster" Target="/ppt/notesMasters/notesMaster1.xml" Id="R4a798b11ba21494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59d1f167bc94254" /><Relationship Type="http://schemas.openxmlformats.org/officeDocument/2006/relationships/notesMaster" Target="/ppt/notesMasters/notesMaster1.xml" Id="R7d90058510e749e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850f04d7c5648d6" /><Relationship Type="http://schemas.openxmlformats.org/officeDocument/2006/relationships/notesMaster" Target="/ppt/notesMasters/notesMaster1.xml" Id="R23300cb034064ae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e90f0831b074350" /><Relationship Type="http://schemas.openxmlformats.org/officeDocument/2006/relationships/notesMaster" Target="/ppt/notesMasters/notesMaster1.xml" Id="R8604114ced2a472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99c56bea11a4849" /><Relationship Type="http://schemas.openxmlformats.org/officeDocument/2006/relationships/notesMaster" Target="/ppt/notesMasters/notesMaster1.xml" Id="R21729ed940d9439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8a966f196094c1d" /><Relationship Type="http://schemas.openxmlformats.org/officeDocument/2006/relationships/notesMaster" Target="/ppt/notesMasters/notesMaster1.xml" Id="R1eb39571466449f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4f36345d84a40d2" /><Relationship Type="http://schemas.openxmlformats.org/officeDocument/2006/relationships/notesMaster" Target="/ppt/notesMasters/notesMaster1.xml" Id="Rf36378323e4944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 slide. Present the thesis first: Korean semantic PII is the gap, and L0 is the proposed gateway augmentation layer. Team-internal shorthand was v0, but visible slide terminology is Layer 0 (L0).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C:\Users\andyw\Desktop\My-AI-Security-Project\PII\results\summaries\run_e_final_summary.json</a:t>
            </a:r>
          </a:p>
          <a:p xmlns:a="http://schemas.openxmlformats.org/drawingml/2006/main">
            <a:r>
              <a:t>- C:\Users\andyw\Desktop\My-AI-Security-Project\paper\capstone_main_v1.md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set the three messages: KR/EN gap, why L0 exists, and why L0 is practical versus the judge.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C:\Users\andyw\Desktop\My-AI-Security-Project\PII\results\summaries\run_e_final_summary.json</a:t>
            </a:r>
          </a:p>
          <a:p xmlns:a="http://schemas.openxmlformats.org/drawingml/2006/main">
            <a:r>
              <a:t>- C:\Users\andyw\Desktop\My-AI-Security-Project\PII\results\phase1\phase1_latency_precise.json</a:t>
            </a:r>
          </a:p>
          <a:p xmlns:a="http://schemas.openxmlformats.org/drawingml/2006/main">
            <a:r>
              <a:t>- C:\Users\andyw\Desktop\My-AI-Security-Project\paper\capstone_main_v1.md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Agenda slide. Keep it short and frame the deck as one continuous narrative, not two disconnected mini-presentations.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C:\Users\andyw\Desktop\My-AI-Security-Project\paper\capstone_main_v1.md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Background slide using existing PPT assets from KDPII. The point is not yet the gateway stack; it is that Korean-specific PII starts harder than English.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 Fei et al., KDPII, IEEE Access (used through the existing project screenshot asset).</a:t>
            </a:r>
          </a:p>
          <a:p xmlns:a="http://schemas.openxmlformats.org/drawingml/2006/main">
            <a:r>
              <a:t>- Existing capstone PPT screenshots reused as context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existing no-guardrail gateway visual to pivot from the general background into the gateway-specific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Existing capstone PPT screenshots reused as context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keeps the old Bedrock experiment screenshots but rewrites the framing around what the audience should notice immediately.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Existing capstone PPT screenshots reused as context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Root-cause slide. Keep only the 10k-backed story in the main deck and move the old exploratory table out of the primary narrative.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C:\Users\andyw\Desktop\My-AI-Security-Project\PII\results\summaries\run_e_final_summary.json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the goal carefully: not a full standalone protection engine, but a Korean augmentation layer in front of the existing stack. Team-internal shorthand was v0; presentation terminology is Layer 0 (L0).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C:\Users\andyw\Desktop\My-AI-Security-Project\paper\capstone_main_v1.md</a:t>
            </a:r>
          </a:p>
          <a:p xmlns:a="http://schemas.openxmlformats.org/drawingml/2006/main">
            <a:r>
              <a:t>- C:\Users\andyw\Desktop\My-AI-Security-Project\PII\results\phase1\phase1_l0_standalone.json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Gateway context slide using the existing dark AI Gateway asset. The narrative point is deployment position, not architecture detail for its own sake.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Existing capstone PPT screenshots reused as context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makes the insertion point explicit. It is more important than showing every gateway subsystem.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C:\Users\andyw\Desktop\My-AI-Security-Project\paper\capstone_main_v1.md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Pipeline slide. Emphasize that the research contribution is L0, not the existence of the whole stack itself.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C:\Users\andyw\Desktop\My-AI-Security-Project\paper\capstone_main_v1.md</a:t>
            </a:r>
          </a:p>
          <a:p xmlns:a="http://schemas.openxmlformats.org/drawingml/2006/main">
            <a:r>
              <a:t>- C:\Users\andyw\Desktop\My-AI-Security-Project\PII\results\summaries\run_e_final_summary.json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Normalizer slide. Keep the examples simple and concrete; no need to enumerate all 13 steps in the oral talk.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C:\Users\andyw\Desktop\My-AI-Security-Project\paper\capstone_main_v1.md</a:t>
            </a:r>
          </a:p>
          <a:p xmlns:a="http://schemas.openxmlformats.org/drawingml/2006/main">
            <a:r>
              <a:t>- C:\Users\andyw\Desktop\My-AI-Security-Project\PII\results\phase3\phase3_ablation.json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Detector slide. Separate structured regex coverage from dictionary-driven semantic coverage so the audience understands why L0 is targeted to Korean semantic PII.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C:\Users\andyw\Desktop\My-AI-Security-Project\paper\capstone_main_v1.md</a:t>
            </a:r>
          </a:p>
          <a:p xmlns:a="http://schemas.openxmlformats.org/drawingml/2006/main">
            <a:r>
              <a:t>- C:\Users\andyw\Desktop\My-AI-Security-Project\PII\results\phase3\phase3_ablation.json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overview slide. The audience should leave this slide believing the benchmark design, not memorizing implementation details.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C:\Users\andyw\Desktop\My-AI-Security-Project\paper\capstone_main_v1.md</a:t>
            </a:r>
          </a:p>
          <a:p xmlns:a="http://schemas.openxmlformats.org/drawingml/2006/main">
            <a:r>
              <a:t>- C:\Users\andyw\Desktop\My-AI-Security-Project\PII\results\summaries\run_e_final_summary.json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Benchmark composition slide. Keep the count cards large and make Korean semantic PII stand out as the central slice.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C:\Users\andyw\Desktop\My-AI-Security-Project\PII\results\summaries\run_e_final_summary.json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main language-gap slide. The audience should immediately see that the real collapse is on Korean semantic PII, not English.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C:\Users\andyw\Desktop\My-AI-Security-Project\PII\results\summaries\run_e_final_summary.json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Hardest misses slide. Use bypass rate so the pain is obvious.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C:\Users\andyw\Desktop\My-AI-Security-Project\PII\results\summaries\run_e_final_summary.json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Overall 4-way slide. The core comparison is B versus C, not only A versus 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C:\Users\andyw\Desktop\My-AI-Security-Project\PII\results\summaries\run_e_final_summary.json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Language split slide. The key oral line is that English stays flat across configurations while Korean drives the gains.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C:\Users\andyw\Desktop\My-AI-Security-Project\PII\results\summaries\run_e_final_summary.json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Korean semantic head-to-head slide. This is the primary result figure for the midterm talk.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C:\Users\andyw\Desktop\My-AI-Security-Project\PII\results\summaries\run_e_final_summary.json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Standalone slide. This is the honesty slide that prevents overclaiming L0 as a full engine.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C:\Users\andyw\Desktop\My-AI-Security-Project\PII\results\phase1\phase1_l0_standalone.json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Interpretation slide. This is where you explicitly name L0 as a Korean augmentation layer.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C:\Users\andyw\Desktop\My-AI-Security-Project\PII\results\phase1\phase1_l0_standalone.json</a:t>
            </a:r>
          </a:p>
          <a:p xmlns:a="http://schemas.openxmlformats.org/drawingml/2006/main">
            <a:r>
              <a:t>- C:\Users\andyw\Desktop\My-AI-Security-Project\paper\capstone_main_v1.md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McNemar slide. Keep only B vs C; do not dilute the narrative with every pairwise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C:\Users\andyw\Desktop\My-AI-Security-Project\PII\results\phase1\phase1_mcnemar.json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Ablation slide. This is where you justify the dictionary-heavy design of L0.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C:\Users\andyw\Desktop\My-AI-Security-Project\PII\results\phase3\phase3_ablation.json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Latency/cost slide. Ambiguous per-config dollar cards were removed; the main slide keeps only directly grounded latency and smart-cascade cost-saving numbers.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C:\Users\andyw\Desktop\My-AI-Security-Project\PII\results\phase1\phase1_latency_precise.json</a:t>
            </a:r>
          </a:p>
          <a:p xmlns:a="http://schemas.openxmlformats.org/drawingml/2006/main">
            <a:r>
              <a:t>- C:\Users\andyw\Desktop\My-AI-Security-Project\PII\results\phase3\phase3_l4_smart_skip.json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Smart cascade slide. The core message is identical detection with much fewer judge calls.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C:\Users\andyw\Desktop\My-AI-Security-Project\PII\results\phase3\phase3_l4_smart_skip.json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Robustness slide. The point is that L0's advantage is not an artifact of one dataset snapshot.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C:\Users\andyw\Desktop\My-AI-Security-Project\PII\results\phase2\phase2_v4_final_4way.json</a:t>
            </a:r>
          </a:p>
          <a:p xmlns:a="http://schemas.openxmlformats.org/drawingml/2006/main">
            <a:r>
              <a:t>- C:\Users\andyw\Desktop\My-AI-Security-Project\PII\results\summaries\run_e_final_summary.json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False-positive slide. The main deck keeps only directly grounded numbers: 2% over 50 clean Korean docs, with 1 false-positive document. The earlier 26% exploratory figure stays out of the main deck until its source is reattached.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C:\Users\andyw\Desktop\My-AI-Security-Project\PII\results\phase1\phase1_fp_test.json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Midterm framing slide. Show progress and remaining scope without weakening the already-proven result 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C:\Users\andyw\Desktop\My-AI-Security-Project\paper\capstone_main_v1.md</a:t>
            </a:r>
          </a:p>
          <a:p xmlns:a="http://schemas.openxmlformats.org/drawingml/2006/main">
            <a:r>
              <a:t>- C:\Users\andyw\Desktop\My-AI-Security-Project\PII\results\phase2\phase2_v4_final_4way.json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 slide. Keep the close concise and metric-backed, then move to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C:\Users\andyw\Desktop\My-AI-Security-Project\PII\results\summaries\run_e_final_summary.json</a:t>
            </a:r>
          </a:p>
          <a:p xmlns:a="http://schemas.openxmlformats.org/drawingml/2006/main">
            <a:r>
              <a:t>- C:\Users\andyw\Desktop\My-AI-Security-Project\PII\results\phase1\phase1_latency_precise.json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8b6be10c8946a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CFAD8811-1802-4AA2-AA95-CD1D2A1B8399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36E016A8-E3CD-459D-8D2C-8A0285233A61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E5D015B-53AD-4FB7-BD39-7F7EC8223F0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7AF8B7-89CE-42C6-894E-86EDDB09570D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378b11aace14f50" /><Relationship Type="http://schemas.openxmlformats.org/officeDocument/2006/relationships/slideLayout" Target="/ppt/slideLayouts/slideLayout2.xml" Id="R4aaf19f8878649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B1AC1F-1B67-47CD-97E6-8F99CA3CE175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af19f8878649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28b9fbd60444d5" /><Relationship Type="http://schemas.openxmlformats.org/officeDocument/2006/relationships/notesSlide" Target="/ppt/notesSlides/notesSlide1.xml" Id="R20520bee205644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f5a0ab57c1477b" /><Relationship Type="http://schemas.openxmlformats.org/officeDocument/2006/relationships/notesSlide" Target="/ppt/notesSlides/notesSlide2.xml" Id="Rf8b6b284463041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d4bc4fdfd347fd" /><Relationship Type="http://schemas.openxmlformats.org/officeDocument/2006/relationships/notesSlide" Target="/ppt/notesSlides/notesSlide3.xml" Id="Rb2108a73c9c245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8b34c40d874e18" /><Relationship Type="http://schemas.openxmlformats.org/officeDocument/2006/relationships/image" Target="/ppt/media/image.png" Id="R64f2e769fd7f4d93" /><Relationship Type="http://schemas.openxmlformats.org/officeDocument/2006/relationships/notesSlide" Target="/ppt/notesSlides/notesSlide4.xml" Id="Rbcc079c04a504d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5f0c6590d94777" /><Relationship Type="http://schemas.openxmlformats.org/officeDocument/2006/relationships/image" Target="/ppt/media/image2.png" Id="R9a648033e2094da2" /><Relationship Type="http://schemas.openxmlformats.org/officeDocument/2006/relationships/notesSlide" Target="/ppt/notesSlides/notesSlide5.xml" Id="R4a9164854d664c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2f98f1fe6d4d64" /><Relationship Type="http://schemas.openxmlformats.org/officeDocument/2006/relationships/image" Target="/ppt/media/image3.png" Id="R6a7c693da17948c5" /><Relationship Type="http://schemas.openxmlformats.org/officeDocument/2006/relationships/image" Target="/ppt/media/image4.png" Id="Rfa6fb96211b74aaf" /><Relationship Type="http://schemas.openxmlformats.org/officeDocument/2006/relationships/notesSlide" Target="/ppt/notesSlides/notesSlide6.xml" Id="R0384d295852143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408116c0834140" /><Relationship Type="http://schemas.openxmlformats.org/officeDocument/2006/relationships/notesSlide" Target="/ppt/notesSlides/notesSlide7.xml" Id="R1c69d8f76c9b41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6ea040cc4a4bde" /><Relationship Type="http://schemas.openxmlformats.org/officeDocument/2006/relationships/notesSlide" Target="/ppt/notesSlides/notesSlide8.xml" Id="R9614766bf70042e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c7c4973b264324" /><Relationship Type="http://schemas.openxmlformats.org/officeDocument/2006/relationships/image" Target="/ppt/media/image5.png" Id="R17c5142942b444f3" /><Relationship Type="http://schemas.openxmlformats.org/officeDocument/2006/relationships/notesSlide" Target="/ppt/notesSlides/notesSlide9.xml" Id="R38c667206ea249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eb7aaa93724c24" /><Relationship Type="http://schemas.openxmlformats.org/officeDocument/2006/relationships/notesSlide" Target="/ppt/notesSlides/notesSlide10.xml" Id="Rcebaa71458c241c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c731ba83aa4f86" /><Relationship Type="http://schemas.openxmlformats.org/officeDocument/2006/relationships/notesSlide" Target="/ppt/notesSlides/notesSlide11.xml" Id="R738f931490cd465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204970823f40c1" /><Relationship Type="http://schemas.openxmlformats.org/officeDocument/2006/relationships/notesSlide" Target="/ppt/notesSlides/notesSlide12.xml" Id="Rc244eec0562a449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57c8e98bf84c5d" /><Relationship Type="http://schemas.openxmlformats.org/officeDocument/2006/relationships/notesSlide" Target="/ppt/notesSlides/notesSlide13.xml" Id="R339c8045fc664fe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c731ad73b543b2" /><Relationship Type="http://schemas.openxmlformats.org/officeDocument/2006/relationships/notesSlide" Target="/ppt/notesSlides/notesSlide14.xml" Id="R80df8508e04046b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ab86b95cdc4b57" /><Relationship Type="http://schemas.openxmlformats.org/officeDocument/2006/relationships/notesSlide" Target="/ppt/notesSlides/notesSlide15.xml" Id="Ra624cc8f31f44a7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bc0390c1b5428f" /><Relationship Type="http://schemas.openxmlformats.org/officeDocument/2006/relationships/chart" Target="/ppt/slides/charts/chart1.xml" Id="R5d1caf889b254628" /><Relationship Type="http://schemas.openxmlformats.org/officeDocument/2006/relationships/notesSlide" Target="/ppt/notesSlides/notesSlide16.xml" Id="R1199746cf507403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b4a2c37a4d4d6b" /><Relationship Type="http://schemas.openxmlformats.org/officeDocument/2006/relationships/chart" Target="/ppt/slides/charts/chart2.xml" Id="Rf0d1ae971b1b477b" /><Relationship Type="http://schemas.openxmlformats.org/officeDocument/2006/relationships/notesSlide" Target="/ppt/notesSlides/notesSlide17.xml" Id="R61206eaa262a488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d962950d0a47b7" /><Relationship Type="http://schemas.openxmlformats.org/officeDocument/2006/relationships/chart" Target="/ppt/slides/charts/chart3.xml" Id="R59603ad05c634995" /><Relationship Type="http://schemas.openxmlformats.org/officeDocument/2006/relationships/notesSlide" Target="/ppt/notesSlides/notesSlide18.xml" Id="Rdbb3c3b2f5c1491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7db34476e644cb" /><Relationship Type="http://schemas.openxmlformats.org/officeDocument/2006/relationships/chart" Target="/ppt/slides/charts/chart4.xml" Id="Rca95196d25e4425b" /><Relationship Type="http://schemas.openxmlformats.org/officeDocument/2006/relationships/notesSlide" Target="/ppt/notesSlides/notesSlide19.xml" Id="R2fc9df7196cb434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e9f2b4d74a48ad" /><Relationship Type="http://schemas.openxmlformats.org/officeDocument/2006/relationships/chart" Target="/ppt/slides/charts/chart5.xml" Id="Rc0df95838887427c" /><Relationship Type="http://schemas.openxmlformats.org/officeDocument/2006/relationships/notesSlide" Target="/ppt/notesSlides/notesSlide20.xml" Id="Re968da9c8bc74a8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ffdd487ca74b05" /><Relationship Type="http://schemas.openxmlformats.org/officeDocument/2006/relationships/notesSlide" Target="/ppt/notesSlides/notesSlide21.xml" Id="R8c7f65bb70cc4d0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2f99dc60064f16" /><Relationship Type="http://schemas.openxmlformats.org/officeDocument/2006/relationships/notesSlide" Target="/ppt/notesSlides/notesSlide22.xml" Id="R36e082b6ee104c9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0cc42b72924f17" /><Relationship Type="http://schemas.openxmlformats.org/officeDocument/2006/relationships/chart" Target="/ppt/slides/charts/chart6.xml" Id="Rd8ad06bd047e459d" /><Relationship Type="http://schemas.openxmlformats.org/officeDocument/2006/relationships/notesSlide" Target="/ppt/notesSlides/notesSlide23.xml" Id="R1db631a5ad0d4cc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dea0bd7b7d4604" /><Relationship Type="http://schemas.openxmlformats.org/officeDocument/2006/relationships/chart" Target="/ppt/slides/charts/chart7.xml" Id="Rb7f8252dd6434dab" /><Relationship Type="http://schemas.openxmlformats.org/officeDocument/2006/relationships/notesSlide" Target="/ppt/notesSlides/notesSlide24.xml" Id="R3c9b0412f9d74c1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3d946a2c3b40a1" /><Relationship Type="http://schemas.openxmlformats.org/officeDocument/2006/relationships/notesSlide" Target="/ppt/notesSlides/notesSlide25.xml" Id="Rf6d46834a0fb431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4866c967384043" /><Relationship Type="http://schemas.openxmlformats.org/officeDocument/2006/relationships/notesSlide" Target="/ppt/notesSlides/notesSlide26.xml" Id="Re12d2ef79655481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3e6b5192044bef" /><Relationship Type="http://schemas.openxmlformats.org/officeDocument/2006/relationships/chart" Target="/ppt/slides/charts/chart8.xml" Id="R0d38723b017545a8" /><Relationship Type="http://schemas.openxmlformats.org/officeDocument/2006/relationships/notesSlide" Target="/ppt/notesSlides/notesSlide27.xml" Id="Ra16dec3913794db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86d0e391104249" /><Relationship Type="http://schemas.openxmlformats.org/officeDocument/2006/relationships/notesSlide" Target="/ppt/notesSlides/notesSlide28.xml" Id="R409723212912492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011587ee1e4008" /><Relationship Type="http://schemas.openxmlformats.org/officeDocument/2006/relationships/notesSlide" Target="/ppt/notesSlides/notesSlide29.xml" Id="R11cb59727826468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7b8b398e20461e" /><Relationship Type="http://schemas.openxmlformats.org/officeDocument/2006/relationships/notesSlide" Target="/ppt/notesSlides/notesSlide30.xml" Id="R2852228fbf0e43d6" /></Relationships>
</file>

<file path=ppt/slides/charts/chart1.xml><?xml version="1.0" encoding="utf-8"?>
<c:chartSpace xmlns:c="http://schemas.openxmlformats.org/drawingml/2006/chart">
  <c:lang val="en-US"/>
  <c:roundedCorners val="0"/>
  <c:chart>
    <c:title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01828"/>
              </a:solidFill>
              <a:latin typeface="Malgun Gothic"/>
              <a:ea typeface="Malgun Gothic"/>
              <a:cs typeface="Malgun Gothic"/>
            </a:defRPr>
          </a:pPr>
        </a:p>
      </c:txPr>
    </c:title>
    <c:autoTitleDeleted val="0"/>
    <c:view3D/>
    <c:plotArea>
      <c:layout/>
      <c:barChart>
        <c:barDir val="col"/>
        <c:varyColors val="0"/>
        <c:ser>
          <c:idx val="0"/>
          <c:order val="0"/>
          <c:tx>
            <c:v>영어</c:v>
          </c:tx>
          <c:spPr>
            <a:solidFill xmlns:a="http://schemas.openxmlformats.org/drawingml/2006/main">
              <a:srgbClr val="2E6AE6"/>
            </a:solidFill>
            <a:ln xmlns:a="http://schemas.openxmlformats.org/drawingml/2006/main" w="9525">
              <a:solidFill>
                <a:srgbClr val="2E6AE6"/>
              </a:solidFill>
              <a:prstDash val="solid"/>
            </a:ln>
          </c:spPr>
          <c:cat>
            <c:strLit>
              <c:ptCount val="1"/>
              <c:pt idx="0">
                <c:v>TRUE 탐지율</c:v>
              </c:pt>
            </c:strLit>
          </c:cat>
          <c:val>
            <c:numLit>
              <c:formatCode/>
              <c:ptCount val="1"/>
              <c:pt idx="0">
                <c:v>99.37</c:v>
              </c:pt>
            </c:numLit>
          </c:val>
        </c:ser>
        <c:ser>
          <c:idx val="1"/>
          <c:order val="1"/>
          <c:tx>
            <c:v>한국어</c:v>
          </c:tx>
          <c:spPr>
            <a:solidFill xmlns:a="http://schemas.openxmlformats.org/drawingml/2006/main">
              <a:srgbClr val="F28C28"/>
            </a:solidFill>
            <a:ln xmlns:a="http://schemas.openxmlformats.org/drawingml/2006/main" w="9525">
              <a:solidFill>
                <a:srgbClr val="F28C28"/>
              </a:solidFill>
              <a:prstDash val="solid"/>
            </a:ln>
          </c:spPr>
          <c:cat>
            <c:strLit>
              <c:ptCount val="1"/>
              <c:pt idx="0">
                <c:v>TRUE 탐지율</c:v>
              </c:pt>
            </c:strLit>
          </c:cat>
          <c:val>
            <c:numLit>
              <c:formatCode/>
              <c:ptCount val="1"/>
              <c:pt idx="0">
                <c:v>69.86</c:v>
              </c:pt>
            </c:numLit>
          </c:val>
        </c:ser>
        <c:ser>
          <c:idx val="2"/>
          <c:order val="2"/>
          <c:tx>
            <c:v>한국어 의미형</c:v>
          </c:tx>
          <c:spPr>
            <a:solidFill xmlns:a="http://schemas.openxmlformats.org/drawingml/2006/main">
              <a:srgbClr val="D92D20"/>
            </a:solidFill>
            <a:ln xmlns:a="http://schemas.openxmlformats.org/drawingml/2006/main" w="9525">
              <a:solidFill>
                <a:srgbClr val="D92D20"/>
              </a:solidFill>
              <a:prstDash val="solid"/>
            </a:ln>
          </c:spPr>
          <c:cat>
            <c:strLit>
              <c:ptCount val="1"/>
              <c:pt idx="0">
                <c:v>TRUE 탐지율</c:v>
              </c:pt>
            </c:strLit>
          </c:cat>
          <c:val>
            <c:numLit>
              <c:formatCode/>
              <c:ptCount val="1"/>
              <c:pt idx="0">
                <c:v>49.62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101828"/>
                  </a:solidFill>
                  <a:latin typeface="Malgun Gothic"/>
                  <a:ea typeface="Malgun Gothic"/>
                  <a:cs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000000">
            <a:alpha val="0"/>
          </a:srgbClr>
        </a:solidFill>
      </c:spPr>
    </c:plotArea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title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01828"/>
              </a:solidFill>
              <a:latin typeface="Malgun Gothic"/>
              <a:ea typeface="Malgun Gothic"/>
              <a:cs typeface="Malgun Gothic"/>
            </a:defRPr>
          </a:pPr>
        </a:p>
      </c:txPr>
    </c:title>
    <c:autoTitleDeleted val="0"/>
    <c:view3D/>
    <c:plotArea>
      <c:layout/>
      <c:barChart>
        <c:barDir val="col"/>
        <c:varyColors val="0"/>
        <c:ser>
          <c:idx val="0"/>
          <c:order val="0"/>
          <c:tx>
            <c:v>Real bypass rate</c:v>
          </c:tx>
          <c:spPr>
            <a:solidFill xmlns:a="http://schemas.openxmlformats.org/drawingml/2006/main">
              <a:srgbClr val="D92D20"/>
            </a:solidFill>
            <a:ln xmlns:a="http://schemas.openxmlformats.org/drawingml/2006/main" w="9525">
              <a:solidFill>
                <a:srgbClr val="D92D20"/>
              </a:solidFill>
              <a:prstDash val="solid"/>
            </a:ln>
          </c:spPr>
          <c:cat>
            <c:strLit>
              <c:ptCount val="6"/>
              <c:pt idx="0">
                <c:v>session</c:v>
              </c:pt>
              <c:pt idx="1">
                <c:v>court</c:v>
              </c:pt>
              <c:pt idx="2">
                <c:v>allergy</c:v>
              </c:pt>
              <c:pt idx="3">
                <c:v>company</c:v>
              </c:pt>
              <c:pt idx="4">
                <c:v>job_title</c:v>
              </c:pt>
              <c:pt idx="5">
                <c:v>course_grade</c:v>
              </c:pt>
            </c:strLit>
          </c:cat>
          <c:val>
            <c:numLit>
              <c:formatCode/>
              <c:ptCount val="6"/>
              <c:pt idx="0">
                <c:v>95.89</c:v>
              </c:pt>
              <c:pt idx="1">
                <c:v>92.75</c:v>
              </c:pt>
              <c:pt idx="2">
                <c:v>92.31</c:v>
              </c:pt>
              <c:pt idx="3">
                <c:v>85.71</c:v>
              </c:pt>
              <c:pt idx="4">
                <c:v>82.35</c:v>
              </c:pt>
              <c:pt idx="5">
                <c:v>80.95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101828"/>
                  </a:solidFill>
                  <a:latin typeface="Malgun Gothic"/>
                  <a:ea typeface="Malgun Gothic"/>
                  <a:cs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000000">
            <a:alpha val="0"/>
          </a:srgbClr>
        </a:solidFill>
      </c:spPr>
    </c:plotArea>
    <c:plotVisOnly val="1"/>
  </c:chart>
</c:chartSpace>
</file>

<file path=ppt/slides/charts/chart3.xml><?xml version="1.0" encoding="utf-8"?>
<c:chartSpace xmlns:c="http://schemas.openxmlformats.org/drawingml/2006/chart">
  <c:lang val="en-US"/>
  <c:roundedCorners val="0"/>
  <c:chart>
    <c:title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01828"/>
              </a:solidFill>
              <a:latin typeface="Malgun Gothic"/>
              <a:ea typeface="Malgun Gothic"/>
              <a:cs typeface="Malgun Gothic"/>
            </a:defRPr>
          </a:pPr>
        </a:p>
      </c:txPr>
    </c:title>
    <c:autoTitleDeleted val="0"/>
    <c:view3D/>
    <c:plotArea>
      <c:layout/>
      <c:barChart>
        <c:barDir val="col"/>
        <c:varyColors val="0"/>
        <c:ser>
          <c:idx val="0"/>
          <c:order val="0"/>
          <c:tx>
            <c:v>A 기준선</c:v>
          </c:tx>
          <c:spPr>
            <a:solidFill xmlns:a="http://schemas.openxmlformats.org/drawingml/2006/main">
              <a:srgbClr val="8A9099"/>
            </a:solidFill>
            <a:ln xmlns:a="http://schemas.openxmlformats.org/drawingml/2006/main" w="9525">
              <a:solidFill>
                <a:srgbClr val="8A9099"/>
              </a:solidFill>
              <a:prstDash val="solid"/>
            </a:ln>
          </c:spPr>
          <c:cat>
            <c:strLit>
              <c:ptCount val="1"/>
              <c:pt idx="0">
                <c:v>10k 벤치마크</c:v>
              </c:pt>
            </c:strLit>
          </c:cat>
          <c:val>
            <c:numLit>
              <c:formatCode/>
              <c:ptCount val="1"/>
              <c:pt idx="0">
                <c:v>80.15</c:v>
              </c:pt>
            </c:numLit>
          </c:val>
        </c:ser>
        <c:ser>
          <c:idx val="1"/>
          <c:order val="1"/>
          <c:tx>
            <c:v>B + Judge</c:v>
          </c:tx>
          <c:spPr>
            <a:solidFill xmlns:a="http://schemas.openxmlformats.org/drawingml/2006/main">
              <a:srgbClr val="203A8E"/>
            </a:solidFill>
            <a:ln xmlns:a="http://schemas.openxmlformats.org/drawingml/2006/main" w="9525">
              <a:solidFill>
                <a:srgbClr val="203A8E"/>
              </a:solidFill>
              <a:prstDash val="solid"/>
            </a:ln>
          </c:spPr>
          <c:cat>
            <c:strLit>
              <c:ptCount val="1"/>
              <c:pt idx="0">
                <c:v>10k 벤치마크</c:v>
              </c:pt>
            </c:strLit>
          </c:cat>
          <c:val>
            <c:numLit>
              <c:formatCode/>
              <c:ptCount val="1"/>
              <c:pt idx="0">
                <c:v>90.96</c:v>
              </c:pt>
            </c:numLit>
          </c:val>
        </c:ser>
        <c:ser>
          <c:idx val="2"/>
          <c:order val="2"/>
          <c:tx>
            <c:v>C + L0</c:v>
          </c:tx>
          <c:spPr>
            <a:solidFill xmlns:a="http://schemas.openxmlformats.org/drawingml/2006/main">
              <a:srgbClr val="22A66A"/>
            </a:solidFill>
            <a:ln xmlns:a="http://schemas.openxmlformats.org/drawingml/2006/main" w="9525">
              <a:solidFill>
                <a:srgbClr val="22A66A"/>
              </a:solidFill>
              <a:prstDash val="solid"/>
            </a:ln>
          </c:spPr>
          <c:cat>
            <c:strLit>
              <c:ptCount val="1"/>
              <c:pt idx="0">
                <c:v>10k 벤치마크</c:v>
              </c:pt>
            </c:strLit>
          </c:cat>
          <c:val>
            <c:numLit>
              <c:formatCode/>
              <c:ptCount val="1"/>
              <c:pt idx="0">
                <c:v>94.32</c:v>
              </c:pt>
            </c:numLit>
          </c:val>
        </c:ser>
        <c:ser>
          <c:idx val="3"/>
          <c:order val="3"/>
          <c:tx>
            <c:v>D 전체</c:v>
          </c:tx>
          <c:spPr>
            <a:solidFill xmlns:a="http://schemas.openxmlformats.org/drawingml/2006/main">
              <a:srgbClr val="0F172A"/>
            </a:solidFill>
            <a:ln xmlns:a="http://schemas.openxmlformats.org/drawingml/2006/main" w="9525">
              <a:solidFill>
                <a:srgbClr val="0F172A"/>
              </a:solidFill>
              <a:prstDash val="solid"/>
            </a:ln>
          </c:spPr>
          <c:cat>
            <c:strLit>
              <c:ptCount val="1"/>
              <c:pt idx="0">
                <c:v>10k 벤치마크</c:v>
              </c:pt>
            </c:strLit>
          </c:cat>
          <c:val>
            <c:numLit>
              <c:formatCode/>
              <c:ptCount val="1"/>
              <c:pt idx="0">
                <c:v>97.23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101828"/>
                  </a:solidFill>
                  <a:latin typeface="Malgun Gothic"/>
                  <a:ea typeface="Malgun Gothic"/>
                  <a:cs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000000">
            <a:alpha val="0"/>
          </a:srgbClr>
        </a:solidFill>
      </c:spPr>
    </c:plotArea>
    <c:plotVisOnly val="1"/>
  </c:chart>
</c:chartSpace>
</file>

<file path=ppt/slides/charts/chart4.xml><?xml version="1.0" encoding="utf-8"?>
<c:chartSpace xmlns:c="http://schemas.openxmlformats.org/drawingml/2006/chart">
  <c:lang val="en-US"/>
  <c:roundedCorners val="0"/>
  <c:chart>
    <c:title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01828"/>
              </a:solidFill>
              <a:latin typeface="Malgun Gothic"/>
              <a:ea typeface="Malgun Gothic"/>
              <a:cs typeface="Malgun Gothic"/>
            </a:defRPr>
          </a:pPr>
        </a:p>
      </c:txPr>
    </c:title>
    <c:autoTitleDeleted val="0"/>
    <c:view3D/>
    <c:plotArea>
      <c:layout/>
      <c:barChart>
        <c:barDir val="col"/>
        <c:varyColors val="0"/>
        <c:ser>
          <c:idx val="0"/>
          <c:order val="0"/>
          <c:tx>
            <c:v>A 기준선</c:v>
          </c:tx>
          <c:spPr>
            <a:solidFill xmlns:a="http://schemas.openxmlformats.org/drawingml/2006/main">
              <a:srgbClr val="8A9099"/>
            </a:solidFill>
            <a:ln xmlns:a="http://schemas.openxmlformats.org/drawingml/2006/main" w="9525">
              <a:solidFill>
                <a:srgbClr val="8A9099"/>
              </a:solidFill>
              <a:prstDash val="solid"/>
            </a:ln>
          </c:spPr>
          <c:cat>
            <c:strLit>
              <c:ptCount val="2"/>
              <c:pt idx="0">
                <c:v>영어</c:v>
              </c:pt>
              <c:pt idx="1">
                <c:v>한국어</c:v>
              </c:pt>
            </c:strLit>
          </c:cat>
          <c:val>
            <c:numLit>
              <c:formatCode/>
              <c:ptCount val="2"/>
              <c:pt idx="0">
                <c:v>99.37</c:v>
              </c:pt>
              <c:pt idx="1">
                <c:v>69.86</c:v>
              </c:pt>
            </c:numLit>
          </c:val>
        </c:ser>
        <c:ser>
          <c:idx val="1"/>
          <c:order val="1"/>
          <c:tx>
            <c:v>B + Judge</c:v>
          </c:tx>
          <c:spPr>
            <a:solidFill xmlns:a="http://schemas.openxmlformats.org/drawingml/2006/main">
              <a:srgbClr val="203A8E"/>
            </a:solidFill>
            <a:ln xmlns:a="http://schemas.openxmlformats.org/drawingml/2006/main" w="9525">
              <a:solidFill>
                <a:srgbClr val="203A8E"/>
              </a:solidFill>
              <a:prstDash val="solid"/>
            </a:ln>
          </c:spPr>
          <c:cat>
            <c:strLit>
              <c:ptCount val="2"/>
              <c:pt idx="0">
                <c:v>영어</c:v>
              </c:pt>
              <c:pt idx="1">
                <c:v>한국어</c:v>
              </c:pt>
            </c:strLit>
          </c:cat>
          <c:val>
            <c:numLit>
              <c:formatCode/>
              <c:ptCount val="2"/>
              <c:pt idx="0">
                <c:v>99.37</c:v>
              </c:pt>
              <c:pt idx="1">
                <c:v>86.46</c:v>
              </c:pt>
            </c:numLit>
          </c:val>
        </c:ser>
        <c:ser>
          <c:idx val="2"/>
          <c:order val="2"/>
          <c:tx>
            <c:v>C + L0</c:v>
          </c:tx>
          <c:spPr>
            <a:solidFill xmlns:a="http://schemas.openxmlformats.org/drawingml/2006/main">
              <a:srgbClr val="22A66A"/>
            </a:solidFill>
            <a:ln xmlns:a="http://schemas.openxmlformats.org/drawingml/2006/main" w="9525">
              <a:solidFill>
                <a:srgbClr val="22A66A"/>
              </a:solidFill>
              <a:prstDash val="solid"/>
            </a:ln>
          </c:spPr>
          <c:cat>
            <c:strLit>
              <c:ptCount val="2"/>
              <c:pt idx="0">
                <c:v>영어</c:v>
              </c:pt>
              <c:pt idx="1">
                <c:v>한국어</c:v>
              </c:pt>
            </c:strLit>
          </c:cat>
          <c:val>
            <c:numLit>
              <c:formatCode/>
              <c:ptCount val="2"/>
              <c:pt idx="0">
                <c:v>99.37</c:v>
              </c:pt>
              <c:pt idx="1">
                <c:v>91.62</c:v>
              </c:pt>
            </c:numLit>
          </c:val>
        </c:ser>
        <c:ser>
          <c:idx val="3"/>
          <c:order val="3"/>
          <c:tx>
            <c:v>D 전체</c:v>
          </c:tx>
          <c:spPr>
            <a:solidFill xmlns:a="http://schemas.openxmlformats.org/drawingml/2006/main">
              <a:srgbClr val="0F172A"/>
            </a:solidFill>
            <a:ln xmlns:a="http://schemas.openxmlformats.org/drawingml/2006/main" w="9525">
              <a:solidFill>
                <a:srgbClr val="0F172A"/>
              </a:solidFill>
              <a:prstDash val="solid"/>
            </a:ln>
          </c:spPr>
          <c:cat>
            <c:strLit>
              <c:ptCount val="2"/>
              <c:pt idx="0">
                <c:v>영어</c:v>
              </c:pt>
              <c:pt idx="1">
                <c:v>한국어</c:v>
              </c:pt>
            </c:strLit>
          </c:cat>
          <c:val>
            <c:numLit>
              <c:formatCode/>
              <c:ptCount val="2"/>
              <c:pt idx="0">
                <c:v>99.37</c:v>
              </c:pt>
              <c:pt idx="1">
                <c:v>96.08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101828"/>
                  </a:solidFill>
                  <a:latin typeface="Malgun Gothic"/>
                  <a:ea typeface="Malgun Gothic"/>
                  <a:cs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000000">
            <a:alpha val="0"/>
          </a:srgbClr>
        </a:solidFill>
      </c:spPr>
    </c:plotArea>
    <c:plotVisOnly val="1"/>
  </c:chart>
</c:chartSpace>
</file>

<file path=ppt/slides/charts/chart5.xml><?xml version="1.0" encoding="utf-8"?>
<c:chartSpace xmlns:c="http://schemas.openxmlformats.org/drawingml/2006/chart">
  <c:lang val="en-US"/>
  <c:roundedCorners val="0"/>
  <c:chart>
    <c:title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01828"/>
              </a:solidFill>
              <a:latin typeface="Malgun Gothic"/>
              <a:ea typeface="Malgun Gothic"/>
              <a:cs typeface="Malgun Gothic"/>
            </a:defRPr>
          </a:pPr>
        </a:p>
      </c:txPr>
    </c:title>
    <c:autoTitleDeleted val="0"/>
    <c:view3D/>
    <c:plotArea>
      <c:layout/>
      <c:barChart>
        <c:barDir val="col"/>
        <c:varyColors val="0"/>
        <c:ser>
          <c:idx val="0"/>
          <c:order val="0"/>
          <c:tx>
            <c:v>A 기준선</c:v>
          </c:tx>
          <c:spPr>
            <a:solidFill xmlns:a="http://schemas.openxmlformats.org/drawingml/2006/main">
              <a:srgbClr val="8A9099"/>
            </a:solidFill>
            <a:ln xmlns:a="http://schemas.openxmlformats.org/drawingml/2006/main" w="9525">
              <a:solidFill>
                <a:srgbClr val="8A9099"/>
              </a:solidFill>
              <a:prstDash val="solid"/>
            </a:ln>
          </c:spPr>
          <c:cat>
            <c:strLit>
              <c:ptCount val="1"/>
              <c:pt idx="0">
                <c:v>한국어 의미형</c:v>
              </c:pt>
            </c:strLit>
          </c:cat>
          <c:val>
            <c:numLit>
              <c:formatCode/>
              <c:ptCount val="1"/>
              <c:pt idx="0">
                <c:v>49.62</c:v>
              </c:pt>
            </c:numLit>
          </c:val>
        </c:ser>
        <c:ser>
          <c:idx val="1"/>
          <c:order val="1"/>
          <c:tx>
            <c:v>B + Judge</c:v>
          </c:tx>
          <c:spPr>
            <a:solidFill xmlns:a="http://schemas.openxmlformats.org/drawingml/2006/main">
              <a:srgbClr val="203A8E"/>
            </a:solidFill>
            <a:ln xmlns:a="http://schemas.openxmlformats.org/drawingml/2006/main" w="9525">
              <a:solidFill>
                <a:srgbClr val="203A8E"/>
              </a:solidFill>
              <a:prstDash val="solid"/>
            </a:ln>
          </c:spPr>
          <c:cat>
            <c:strLit>
              <c:ptCount val="1"/>
              <c:pt idx="0">
                <c:v>한국어 의미형</c:v>
              </c:pt>
            </c:strLit>
          </c:cat>
          <c:val>
            <c:numLit>
              <c:formatCode/>
              <c:ptCount val="1"/>
              <c:pt idx="0">
                <c:v>87.4</c:v>
              </c:pt>
            </c:numLit>
          </c:val>
        </c:ser>
        <c:ser>
          <c:idx val="2"/>
          <c:order val="2"/>
          <c:tx>
            <c:v>C + L0</c:v>
          </c:tx>
          <c:spPr>
            <a:solidFill xmlns:a="http://schemas.openxmlformats.org/drawingml/2006/main">
              <a:srgbClr val="22A66A"/>
            </a:solidFill>
            <a:ln xmlns:a="http://schemas.openxmlformats.org/drawingml/2006/main" w="9525">
              <a:solidFill>
                <a:srgbClr val="22A66A"/>
              </a:solidFill>
              <a:prstDash val="solid"/>
            </a:ln>
          </c:spPr>
          <c:cat>
            <c:strLit>
              <c:ptCount val="1"/>
              <c:pt idx="0">
                <c:v>한국어 의미형</c:v>
              </c:pt>
            </c:strLit>
          </c:cat>
          <c:val>
            <c:numLit>
              <c:formatCode/>
              <c:ptCount val="1"/>
              <c:pt idx="0">
                <c:v>96.39</c:v>
              </c:pt>
            </c:numLit>
          </c:val>
        </c:ser>
        <c:ser>
          <c:idx val="3"/>
          <c:order val="3"/>
          <c:tx>
            <c:v>D 전체</c:v>
          </c:tx>
          <c:spPr>
            <a:solidFill xmlns:a="http://schemas.openxmlformats.org/drawingml/2006/main">
              <a:srgbClr val="0F172A"/>
            </a:solidFill>
            <a:ln xmlns:a="http://schemas.openxmlformats.org/drawingml/2006/main" w="9525">
              <a:solidFill>
                <a:srgbClr val="0F172A"/>
              </a:solidFill>
              <a:prstDash val="solid"/>
            </a:ln>
          </c:spPr>
          <c:cat>
            <c:strLit>
              <c:ptCount val="1"/>
              <c:pt idx="0">
                <c:v>한국어 의미형</c:v>
              </c:pt>
            </c:strLit>
          </c:cat>
          <c:val>
            <c:numLit>
              <c:formatCode/>
              <c:ptCount val="1"/>
              <c:pt idx="0">
                <c:v>98.85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101828"/>
                  </a:solidFill>
                  <a:latin typeface="Malgun Gothic"/>
                  <a:ea typeface="Malgun Gothic"/>
                  <a:cs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000000">
            <a:alpha val="0"/>
          </a:srgbClr>
        </a:solidFill>
      </c:spPr>
    </c:plotArea>
    <c:plotVisOnly val="1"/>
  </c:chart>
</c:chartSpace>
</file>

<file path=ppt/slides/charts/chart6.xml><?xml version="1.0" encoding="utf-8"?>
<c:chartSpace xmlns:c="http://schemas.openxmlformats.org/drawingml/2006/chart">
  <c:lang val="en-US"/>
  <c:roundedCorners val="0"/>
  <c:chart>
    <c:title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01828"/>
              </a:solidFill>
              <a:latin typeface="Malgun Gothic"/>
              <a:ea typeface="Malgun Gothic"/>
              <a:cs typeface="Malgun Gothic"/>
            </a:defRPr>
          </a:pPr>
        </a:p>
      </c:txPr>
    </c:title>
    <c:autoTitleDeleted val="0"/>
    <c:view3D/>
    <c:plotArea>
      <c:layout/>
      <c:barChart>
        <c:barDir val="col"/>
        <c:varyColors val="0"/>
        <c:ser>
          <c:idx val="0"/>
          <c:order val="0"/>
          <c:tx>
            <c:v>B only</c:v>
          </c:tx>
          <c:spPr>
            <a:solidFill xmlns:a="http://schemas.openxmlformats.org/drawingml/2006/main">
              <a:srgbClr val="203A8E"/>
            </a:solidFill>
            <a:ln xmlns:a="http://schemas.openxmlformats.org/drawingml/2006/main" w="9525">
              <a:solidFill>
                <a:srgbClr val="203A8E"/>
              </a:solidFill>
              <a:prstDash val="solid"/>
            </a:ln>
          </c:spPr>
          <c:cat>
            <c:strLit>
              <c:ptCount val="1"/>
              <c:pt idx="0">
                <c:v>Matched-pair wins</c:v>
              </c:pt>
            </c:strLit>
          </c:cat>
          <c:val>
            <c:numLit>
              <c:formatCode/>
              <c:ptCount val="1"/>
              <c:pt idx="0">
                <c:v>291</c:v>
              </c:pt>
            </c:numLit>
          </c:val>
        </c:ser>
        <c:ser>
          <c:idx val="1"/>
          <c:order val="1"/>
          <c:tx>
            <c:v>C only</c:v>
          </c:tx>
          <c:spPr>
            <a:solidFill xmlns:a="http://schemas.openxmlformats.org/drawingml/2006/main">
              <a:srgbClr val="22A66A"/>
            </a:solidFill>
            <a:ln xmlns:a="http://schemas.openxmlformats.org/drawingml/2006/main" w="9525">
              <a:solidFill>
                <a:srgbClr val="22A66A"/>
              </a:solidFill>
              <a:prstDash val="solid"/>
            </a:ln>
          </c:spPr>
          <c:cat>
            <c:strLit>
              <c:ptCount val="1"/>
              <c:pt idx="0">
                <c:v>Matched-pair wins</c:v>
              </c:pt>
            </c:strLit>
          </c:cat>
          <c:val>
            <c:numLit>
              <c:formatCode/>
              <c:ptCount val="1"/>
              <c:pt idx="0">
                <c:v>627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101828"/>
                  </a:solidFill>
                  <a:latin typeface="Malgun Gothic"/>
                  <a:ea typeface="Malgun Gothic"/>
                  <a:cs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000000">
            <a:alpha val="0"/>
          </a:srgbClr>
        </a:solidFill>
      </c:spPr>
    </c:plotArea>
    <c:plotVisOnly val="1"/>
  </c:chart>
</c:chartSpace>
</file>

<file path=ppt/slides/charts/chart7.xml><?xml version="1.0" encoding="utf-8"?>
<c:chartSpace xmlns:c="http://schemas.openxmlformats.org/drawingml/2006/chart">
  <c:lang val="en-US"/>
  <c:roundedCorners val="0"/>
  <c:chart>
    <c:title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01828"/>
              </a:solidFill>
              <a:latin typeface="Malgun Gothic"/>
              <a:ea typeface="Malgun Gothic"/>
              <a:cs typeface="Malgun Gothic"/>
            </a:defRPr>
          </a:pPr>
        </a:p>
      </c:txPr>
    </c:title>
    <c:autoTitleDeleted val="0"/>
    <c:view3D/>
    <c:plotArea>
      <c:layout/>
      <c:barChart>
        <c:barDir val="col"/>
        <c:varyColors val="0"/>
        <c:ser>
          <c:idx val="0"/>
          <c:order val="0"/>
          <c:tx>
            <c:v>한국어 의미형 TRUE</c:v>
          </c:tx>
          <c:spPr>
            <a:solidFill xmlns:a="http://schemas.openxmlformats.org/drawingml/2006/main">
              <a:srgbClr val="D92D20"/>
            </a:solidFill>
            <a:ln xmlns:a="http://schemas.openxmlformats.org/drawingml/2006/main" w="9525">
              <a:solidFill>
                <a:srgbClr val="D92D20"/>
              </a:solidFill>
              <a:prstDash val="solid"/>
            </a:ln>
          </c:spPr>
          <c:cat>
            <c:strLit>
              <c:ptCount val="4"/>
              <c:pt idx="0">
                <c:v>Baseline</c:v>
              </c:pt>
              <c:pt idx="1">
                <c:v>+정규화</c:v>
              </c:pt>
              <c:pt idx="2">
                <c:v>+사전</c:v>
              </c:pt>
              <c:pt idx="3">
                <c:v>+전체</c:v>
              </c:pt>
            </c:strLit>
          </c:cat>
          <c:val>
            <c:numLit>
              <c:formatCode/>
              <c:ptCount val="4"/>
              <c:pt idx="0">
                <c:v>49.62</c:v>
              </c:pt>
              <c:pt idx="1">
                <c:v>49.92</c:v>
              </c:pt>
              <c:pt idx="2">
                <c:v>87.71</c:v>
              </c:pt>
              <c:pt idx="3">
                <c:v>89.17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101828"/>
                  </a:solidFill>
                  <a:latin typeface="Malgun Gothic"/>
                  <a:ea typeface="Malgun Gothic"/>
                  <a:cs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000000">
            <a:alpha val="0"/>
          </a:srgbClr>
        </a:solidFill>
      </c:spPr>
    </c:plotArea>
    <c:plotVisOnly val="1"/>
  </c:chart>
</c:chartSpace>
</file>

<file path=ppt/slides/charts/chart8.xml><?xml version="1.0" encoding="utf-8"?>
<c:chartSpace xmlns:c="http://schemas.openxmlformats.org/drawingml/2006/chart">
  <c:lang val="en-US"/>
  <c:roundedCorners val="0"/>
  <c:chart>
    <c:title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01828"/>
              </a:solidFill>
              <a:latin typeface="Malgun Gothic"/>
              <a:ea typeface="Malgun Gothic"/>
              <a:cs typeface="Malgun Gothic"/>
            </a:defRPr>
          </a:pPr>
        </a:p>
      </c:txPr>
    </c:title>
    <c:autoTitleDeleted val="0"/>
    <c:view3D/>
    <c:plotArea>
      <c:layout/>
      <c:barChart>
        <c:barDir val="col"/>
        <c:varyColors val="0"/>
        <c:ser>
          <c:idx val="0"/>
          <c:order val="0"/>
          <c:tx>
            <c:v>B + Judge</c:v>
          </c:tx>
          <c:spPr>
            <a:solidFill xmlns:a="http://schemas.openxmlformats.org/drawingml/2006/main">
              <a:srgbClr val="203A8E"/>
            </a:solidFill>
            <a:ln xmlns:a="http://schemas.openxmlformats.org/drawingml/2006/main" w="9525">
              <a:solidFill>
                <a:srgbClr val="203A8E"/>
              </a:solidFill>
              <a:prstDash val="solid"/>
            </a:ln>
          </c:spPr>
          <c:cat>
            <c:strLit>
              <c:ptCount val="2"/>
              <c:pt idx="0">
                <c:v>v1 한국어 의미형</c:v>
              </c:pt>
              <c:pt idx="1">
                <c:v>v4 한국어 의미형</c:v>
              </c:pt>
            </c:strLit>
          </c:cat>
          <c:val>
            <c:numLit>
              <c:formatCode/>
              <c:ptCount val="2"/>
              <c:pt idx="0">
                <c:v>87.4</c:v>
              </c:pt>
              <c:pt idx="1">
                <c:v>84.76</c:v>
              </c:pt>
            </c:numLit>
          </c:val>
        </c:ser>
        <c:ser>
          <c:idx val="1"/>
          <c:order val="1"/>
          <c:tx>
            <c:v>C + L0</c:v>
          </c:tx>
          <c:spPr>
            <a:solidFill xmlns:a="http://schemas.openxmlformats.org/drawingml/2006/main">
              <a:srgbClr val="22A66A"/>
            </a:solidFill>
            <a:ln xmlns:a="http://schemas.openxmlformats.org/drawingml/2006/main" w="9525">
              <a:solidFill>
                <a:srgbClr val="22A66A"/>
              </a:solidFill>
              <a:prstDash val="solid"/>
            </a:ln>
          </c:spPr>
          <c:cat>
            <c:strLit>
              <c:ptCount val="2"/>
              <c:pt idx="0">
                <c:v>v1 한국어 의미형</c:v>
              </c:pt>
              <c:pt idx="1">
                <c:v>v4 한국어 의미형</c:v>
              </c:pt>
            </c:strLit>
          </c:cat>
          <c:val>
            <c:numLit>
              <c:formatCode/>
              <c:ptCount val="2"/>
              <c:pt idx="0">
                <c:v>96.39</c:v>
              </c:pt>
              <c:pt idx="1">
                <c:v>95.41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101828"/>
                  </a:solidFill>
                  <a:latin typeface="Malgun Gothic"/>
                  <a:ea typeface="Malgun Gothic"/>
                  <a:cs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000000">
            <a:alpha val="0"/>
          </a:srgbClr>
        </a:solidFill>
      </c:spPr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1C778B-6E51-40EE-A4C4-C56EE728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5DFD5C-8146-45AC-BA96-C903866E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999863-0B72-493C-A478-58EF8773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9DEA84-FEF7-4A8B-A30E-5B61D79A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92F34D-DCA5-470E-A871-8D75A000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5810250" cy="5295900"/>
          </a:xfrm>
          <a:prstGeom xmlns:a="http://schemas.openxmlformats.org/drawingml/2006/main" prst="roundRect">
            <a:avLst>
              <a:gd name="adj" fmla="val 1439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6BC95-EA73-4A5F-A5F1-424B6C13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5250" cy="529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2373F-3EFE-4BF6-967F-8BC8CD8B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334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A66A"/>
                </a:solidFill>
              </a:defRPr>
            </a:pPr>
            <a:r>
              <a:rPr sz="900" b="1">
                <a:solidFill>
                  <a:srgbClr val="22A66A"/>
                </a:solidFill>
              </a:rPr>
              <a:t>MIDTERM PRESENTATION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2A4B1B-EF3F-4BB4-9721-A76FF105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76350"/>
            <a:ext cx="4953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한국어 LLM 게이트웨이에서</a:t>
            </a:r>
          </a:p>
          <a:p xmlns:a="http://schemas.openxmlformats.org/drawingml/2006/main">
            <a:pPr algn="l"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계층형 PII 가드레일의 한계와 Layer 0 설계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316689-67FB-4010-B04B-56FC97F9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495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영어 중심 가드레일의 한국어 공백을 Layer 0 (L0)가 메운다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4DE542-6CEE-42AF-9E81-999A111F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259287-469E-43F7-87AE-823B61C1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10000"/>
            <a:ext cx="4648200" cy="426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영어는 이미 잘 막지만, 한국어 텍스트형 PII는 기존 스택에서 크게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무너진다.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FEEE1E-752E-47FE-85DD-B3E9520A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462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16E039-329B-4B67-8920-CEC99F9F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51020"/>
            <a:ext cx="4648200" cy="426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L0는 한국어 입력을 먼저 정규화하고, 한국어 의미형 PII를 사전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중심으로 보강한다.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0DD96F-52F9-4F67-B15C-00E86EFB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8729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DF69A1-E803-4F79-A789-9831B981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92040"/>
            <a:ext cx="4648200" cy="426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결과적으로 LLM Judge보다 더 빠르고 싸면서 한국어 의미형에서 더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높은 탐지율을 보였다.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F622A3-7A3F-4526-A068-2C9FDB4E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34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2026.04  |  CCIT 통합전공 캡스톤 중간발표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E6FB35-0799-4DD9-B3C2-A1844D4E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19150"/>
            <a:ext cx="4724400" cy="5295900"/>
          </a:xfrm>
          <a:prstGeom xmlns:a="http://schemas.openxmlformats.org/drawingml/2006/main" prst="roundRect">
            <a:avLst>
              <a:gd name="adj" fmla="val 1613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874EA6-A44D-4D05-BC6D-06DF3092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1238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>
              <a:alpha val="8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6322DF-7E9B-4FBE-89B0-4BA951B4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288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사용자 입력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5B8E0D-FA29-470F-A116-8A1AE490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619250"/>
            <a:ext cx="1238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8870BE-485E-40CB-ABC4-3D8E668D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288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Layer 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D23F5A-7656-4709-909A-1158985B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619250"/>
            <a:ext cx="857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8A90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157569-DEF7-4509-8E1F-3E389CC9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82880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L1~L3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CA449A-3875-43D8-B87B-116B7E3E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86100"/>
            <a:ext cx="1238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658716-16EB-4DFC-9EDD-16C7EF85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956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KR 의미형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C1AF38-0A17-4C43-8680-A02E4578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86100"/>
            <a:ext cx="1238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03A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F04C1F-CBB3-42B2-8EA9-9D3C6887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956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LLM judge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9AD3C9-20E7-4E5F-8143-798B4A5F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086100"/>
            <a:ext cx="857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>
              <a:alpha val="8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E11ADC-A8E0-40DE-B752-85621BE4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9565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외부 LLM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7C1BAA-CF2B-4EF7-B156-B8536FD8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14525"/>
            <a:ext cx="3048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8C3A45-8E9B-4BE4-B20B-72861EED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914525"/>
            <a:ext cx="3048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DD7100-1F97-4ACE-9739-23EF17B4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81375"/>
            <a:ext cx="3048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A0EC77-9792-44E7-AEFC-226D12E9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381375"/>
            <a:ext cx="3048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435E88-B43C-4B8E-9839-99C3F536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19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0D5DD"/>
                </a:solidFill>
              </a:defRPr>
            </a:pPr>
            <a:r>
              <a:rPr sz="900" b="1">
                <a:solidFill>
                  <a:srgbClr val="D0D5DD"/>
                </a:solidFill>
              </a:rPr>
              <a:t>핵심 숫자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D6A764-FAAB-42F0-AFDA-849A9661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686300"/>
            <a:ext cx="12573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2AFDD4-4283-47B1-8037-EFA34261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686300"/>
            <a:ext cx="1257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A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C2F09F-F7B8-465C-A77C-D2E422E8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819650"/>
            <a:ext cx="914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99.37%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854B20-CDEF-4AED-B868-21207561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1816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EN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DCEF05-315E-459D-999D-A1999A99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86300"/>
            <a:ext cx="139065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887B78-1779-4E81-A972-CC2CC297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86300"/>
            <a:ext cx="1390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B6B2E44-12C0-486A-8966-32AFE856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196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49.62%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85A48B-2664-4857-82BC-915808AF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816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KR 의미형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F7BFE70-3A2D-4BA9-AFE9-AF5D0472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686300"/>
            <a:ext cx="120015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BE1D169-63D3-446F-8697-CE42398F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686300"/>
            <a:ext cx="1200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E78F231-CE1E-4A83-AF2D-FFFAF63A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1965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96.39%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7BE54CB-9A66-40B5-9808-B32DA12B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816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L0+기존스택</a:t>
            </a:r>
          </a:p>
        </p:txBody>
      </p:sp>
    </p:spTree>
    <p:extLst>
      <p:ext uri="{BB962C8B-B14F-4D97-AF65-F5344CB8AC3E}">
        <p14:creationId xmlns:p14="http://schemas.microsoft.com/office/powerpoint/2010/main" val="6623434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194BF-5EB3-4F94-99EF-B769BEAD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6A2B8-BDBF-4853-B75E-13A8ADFF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5D9A2F-8E55-48BE-B16D-60108C3C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5E9AF1-C30A-4A26-BD93-C647EC5F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64C100-0B59-4FD5-87F3-355DAB05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개요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B44C3E-FD56-470C-8C83-1EA15C63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02 / 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20967F-FDFD-4DA4-A1B1-E1587A46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735A5F-3CE1-47A6-A483-0A7FA886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한 장 요약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D581EA-E1FF-4741-8249-89F504FB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발표 전체 결론을 먼저 보여주는 슬라이드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8D5000-0A81-42B6-9BB7-E0356F11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572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F28C2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F8464C-2389-4556-A687-6B8A4767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F5E2C2-A45F-461C-979C-4156ED69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824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영어는 이미 막지만, 한국어 텍스트형 PII는 기존 가드레일에서 큰 공백이 남는다.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E793D2-DB81-4C3E-8DD2-5C45E66B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31051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B767D4-565D-440C-993F-AC4A90A3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3105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A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B7E2C4-665D-41F7-8096-109A2A3B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28900"/>
            <a:ext cx="276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99.37%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EDD444-CE9A-45C8-8ADD-053507D7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62300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영어 TRUE 탐지율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738C66-E7A1-4678-A14C-50B7BCA7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기준선 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93A4C5-A65C-4A38-827D-1200C4C5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57450"/>
            <a:ext cx="31051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3E4D10-288C-4C2F-BDB8-60D3CF05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57450"/>
            <a:ext cx="3105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BAB84B-2806-482D-8DBF-C8F51E80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28900"/>
            <a:ext cx="276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49.62%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6E59C0-A0DD-4D83-8D96-71FB3F2A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62300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한국어 의미형 TRUE 탐지율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10A399-1CF3-4313-8F20-7BC680A8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10000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기준선 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1D9BF8-CF70-412A-8E76-5EE81395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57450"/>
            <a:ext cx="31051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F2457C-3C6D-4806-8452-2B4400D6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57450"/>
            <a:ext cx="3105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CE9682-9057-47A3-975D-5E26DFE3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28900"/>
            <a:ext cx="276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96.39%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925028-DF37-4A06-BDA8-1F964EC0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62300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L0 적용 후 의미형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762A3E-2906-4988-A28C-A88EA1FA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10000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C = L0 + 기존 스택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2BB211-8ECF-4CA4-A5F3-3871877F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104584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A87781-B904-4F56-B58D-0B530E8E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19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859474-925E-476C-B8E6-F27BFD2C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24400"/>
            <a:ext cx="9734550" cy="243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영어는 기준선만으로 99.37%를 기록했지만, 한국어 의미형 PII는 49.62%에 머물렀다.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91877F-599B-4691-8150-A73AB5C4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9684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B5A31E-C886-42CD-AFDC-292E5625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01590"/>
            <a:ext cx="9734550" cy="243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Layer 0를 기존 스택 앞단에 붙이면 한국어 의미형이 96.39%까지 올라가 LLM Judge보다 높았다.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C9B093-D95E-43F8-BBCF-8B87BDD3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7403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88684F-292F-48A7-A680-E9171177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478780"/>
            <a:ext cx="9734550" cy="243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그리고 p99 지연 830ms, L4 호출 94.32% 절감으로 Judge 대비 더 실용적인 운영 구성이 가능했다.</a:t>
            </a:r>
          </a:p>
        </p:txBody>
      </p:sp>
    </p:spTree>
    <p:extLst>
      <p:ext uri="{BB962C8B-B14F-4D97-AF65-F5344CB8AC3E}">
        <p14:creationId xmlns:p14="http://schemas.microsoft.com/office/powerpoint/2010/main" val="18015395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39CC00-B973-4A5D-9336-1F8028AE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2BD61E-F56F-4B53-B587-7A229D8D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D56520-5218-48B2-AC39-3B4684FC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853429-3454-4FE5-A52A-AF01465C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727909-F0E8-4D0D-8DD9-D1C96D1F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개요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8EEE17-6177-451D-801D-7F2A6B68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03 / 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8854FF-F45F-4D2B-9155-74D4DEDD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FC2DE6-9443-4AD1-B3A4-DAF445C8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목차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26407E-C704-4B99-AA92-A608C35E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문제에서 운영성까지 한 흐름으로 간다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CAD4EC-935F-44BC-BD55-47E2C49E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28800"/>
            <a:ext cx="9906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225A3A-0AA6-4C71-82CD-DAA0396A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28800"/>
            <a:ext cx="1143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84830D-144C-47D7-8B70-601ED313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288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BDA61D-29AD-4698-8678-C987AB4A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43100"/>
            <a:ext cx="800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605CCC-46DF-41CE-947D-E390A0D6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002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문제 정의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07714E-B1B3-45D4-8818-3A8C05F7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19300"/>
            <a:ext cx="552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왜 한국어가 영어보다 더 취약한가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02FA40-6983-4BD3-89D6-752FD24E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90800"/>
            <a:ext cx="9906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3FDAA6-FE40-40B9-89F4-807A7F77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90800"/>
            <a:ext cx="1143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8C00D7-9FDE-4B68-80AF-CDEEA45B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908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C448A2-F86A-4358-9EC6-070E3C6F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05100"/>
            <a:ext cx="800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1B863C-902D-43BC-B73B-3284C843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622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설계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DFAC80-79F6-4625-805B-C68FAD22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81300"/>
            <a:ext cx="552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왜 Layer 0를 게이트웨이에 넣었는가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C2DEEA-B683-4FD4-957C-51FDF88D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52800"/>
            <a:ext cx="9906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945B90-DA35-4A2F-A7AB-025F82A2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52800"/>
            <a:ext cx="1143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54639A-5D18-4DFF-969A-D4A8E333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528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47E504-1DD9-4E30-854B-7D794A37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67100"/>
            <a:ext cx="800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46E80C-8BC7-479C-8EA3-539DE93F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242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평가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46B38E-E424-4C63-B0B9-5954AEC1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43300"/>
            <a:ext cx="552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왜 이 결과를 믿을 수 있는가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A980F3-854A-4176-8577-4EADC03F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14800"/>
            <a:ext cx="9906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F96C13-F36A-4E2D-A90F-BD290FB1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14800"/>
            <a:ext cx="1143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285326-EEF8-4C68-ACEC-AECCA7A6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148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8E0E83-BD8B-407B-A7D3-C9A5E921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800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536E02-4A63-43D5-BA34-0473B59D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862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결과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B00AA4-9859-4BA4-9900-DEAC18B8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05300"/>
            <a:ext cx="552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4-way 비교와 한국어 의미형 핵심 결과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D7E63E-908D-4DED-A5A9-AC844798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76800"/>
            <a:ext cx="9906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8E21B9-51BE-4A2D-A621-BF3F8CFE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76800"/>
            <a:ext cx="1143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A5A4E6-3B97-4EDB-9ED5-626390E0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768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3C8837-F153-4221-AF09-F8307407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91100"/>
            <a:ext cx="800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05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5FE7E9-9D78-44FB-A922-11D3C1B9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482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운영성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A2F703-5700-43C9-8FE4-F54AB161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67300"/>
            <a:ext cx="552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지연, 비용, cascade, FP, robustness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B128B4-62A2-4979-8E9B-5CC1B63B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38800"/>
            <a:ext cx="9906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EAECF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A42A55-3FBC-4B6A-AC3E-0DD31C34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38800"/>
            <a:ext cx="1143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84BFF10-42A6-4F7B-9A98-CF321B89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388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53DDCA8-AAB8-4A8D-8E68-DF966047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753100"/>
            <a:ext cx="800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06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AF95D15-1F85-4185-B61E-DA92FA82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8102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중간발표 정리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1BE4333-B8B9-4786-8F00-3F6F4A6E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829300"/>
            <a:ext cx="552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현재까지 증명한 것과 남은 과제</a:t>
            </a:r>
          </a:p>
        </p:txBody>
      </p:sp>
    </p:spTree>
    <p:extLst>
      <p:ext uri="{BB962C8B-B14F-4D97-AF65-F5344CB8AC3E}">
        <p14:creationId xmlns:p14="http://schemas.microsoft.com/office/powerpoint/2010/main" val="9941306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4D5E7-1C53-4EA0-80AD-60712ED3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06EBE-4A0E-4FF2-AAF4-7D1A3BC9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B137C0-0DA4-41FA-B68C-EF23A4FC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D753A9-BA32-4907-8A72-4BAF767A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E0F37-4F9E-4B67-BF47-7A64A1AC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문제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04CA2C-1C09-4FA2-B6C0-A87C62FA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04 / 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C5AD23-11A3-451A-9B0B-F0D9181E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1E558B-99CC-4143-992C-EDA27258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프로젝트 시작 배경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9F1F32-B5E5-4466-8330-0FFE86D0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문제의 출발점은 한국어 PII 자체의 난도였다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B4B065-B52B-4A9D-9235-6C6E7F2B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572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F28C2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D1436D-41DA-4581-9071-79DE42B0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9D301C-FDE9-467E-9679-F1A155F1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824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한국어 PII는 모델이 원래부터 어려워하는 영역이었고, 그 위에 영어 기반 가드레일이 다시 얹혀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822F9B-24AF-42AD-B006-C9D2726F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2672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736058-88EE-4BDA-BB4E-826A36BF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E6C742-138F-4C43-9270-1BD05EEA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3619500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KDPII는 한국어 대화형 PII 비식별화를 정면으로</a:t>
            </a:r>
          </a:p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다룬 공개 연구다.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E52C6F-9181-4C20-9192-234360FD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5468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1611AE-6B2B-42B2-964E-EC7B1CC5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59430"/>
            <a:ext cx="3619500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해당 연구는 영어 범용 PII보다 한국어 특화 PII에서</a:t>
            </a:r>
          </a:p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성능이 유의하게 낮음을 보여준다.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686ECD-EA60-4EAA-96BA-E16A53A5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761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753261-3923-4AED-AA1E-54F6E8AA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42360"/>
            <a:ext cx="3619500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즉, 한국어 LLM 보안 문제는 애초에 더 어려운 데이터</a:t>
            </a:r>
          </a:p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분포에서 시작한다.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8BA777-65DB-43EE-B969-2B5472F8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논문 근거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835331-02EA-4FAE-93D0-131B55A1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4054"/>
                </a:solidFill>
              </a:defRPr>
            </a:pPr>
            <a:r>
              <a:rPr sz="900" b="0">
                <a:solidFill>
                  <a:srgbClr val="344054"/>
                </a:solidFill>
              </a:rPr>
              <a:t>IEEE Access, KDPII (기존 PPT 자산 재활용)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377D37-355E-4CA9-BE4B-A88D085C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09800"/>
            <a:ext cx="619125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1BD3C8-803D-4ACB-832F-CBC38E09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486400"/>
            <a:ext cx="619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48826A-F710-4048-8367-958223F9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686425"/>
            <a:ext cx="567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KDPII: 주요 언어모델은 범용 PII보다 한국어 특화 PII 인식에서 더 낮은 성능을 보였다.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f2e769fd7f4d93"/>
          <a:stretch xmlns:a="http://schemas.openxmlformats.org/drawingml/2006/main"/>
        </p:blipFill>
        <p:spPr>
          <a:xfrm xmlns:a="http://schemas.openxmlformats.org/drawingml/2006/main">
            <a:off x="5448300" y="2447479"/>
            <a:ext cx="5886450" cy="20963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1040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39849-0E9D-4506-8554-5DA7DFDE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51880D-1698-4CD9-8C5A-767A24FA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0CC278-3A47-48D4-9FF4-D67B2F18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A8346B-69E9-4FD6-B3D0-63A5CA0F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F6B715-1C7D-4B99-B7FA-2CC5798F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문제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10E71F-7BA6-4781-829F-9D6BB51A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05 / 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4DDA61-833D-46A0-B5A5-76400565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CD2F3E-34F4-432D-B209-8E57CB11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그렇다면 가드레일은 어떨까?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B68C13-4293-4A95-91C6-33537A55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모델이 못 잡는다면, 게이트웨이 앞단 방어가 먼저 작동해야 한다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1D7AEF-D400-4B57-8F5D-FD74ED8E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905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11D9A1-2BF8-44A8-B445-998FB242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28656C-4ADF-4AEE-A97D-D02FF6FE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5581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모델이 못 잡으면 게이트웨이 앞단이 막아야 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E42D50-DD8B-4F0E-82DB-5BB4BB2C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0957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529814-9003-4207-A416-2FED4F4E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B57CDF-D4ED-4C6E-8E51-68793FF6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3448050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기업 환경에서는 사용자 입력이 외부 LLM으로 가기</a:t>
            </a:r>
          </a:p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전에 게이트웨이를 통과한다.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E71D50-46DA-402C-8EEE-2937831E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7848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6D8923-EBB5-4F72-A231-027E09DA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83230"/>
            <a:ext cx="3448050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따라서 한국어 PII 보호 문제는 모델 성능뿐 아니라</a:t>
            </a:r>
          </a:p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게이트웨이 방어 구조의 문제다.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D78678-9C28-4CD6-B1DC-7A01646D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6141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80B02B-C033-4732-AD0E-4C088F8E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66160"/>
            <a:ext cx="3448050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이 발표는 기존 가드레일 조합이 한국어에서 실제로</a:t>
            </a:r>
          </a:p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얼마나 비는지부터 확인한다.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41E735-4B8C-42A0-B92F-86881582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19300"/>
            <a:ext cx="63436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648033e2094da2"/>
          <a:stretch xmlns:a="http://schemas.openxmlformats.org/drawingml/2006/main"/>
        </p:blipFill>
        <p:spPr>
          <a:xfrm xmlns:a="http://schemas.openxmlformats.org/drawingml/2006/main">
            <a:off x="5864131" y="2171700"/>
            <a:ext cx="4902388" cy="3790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6645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AD804-1530-44D8-B46A-1323578F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8C1F29-5B2A-413F-9A8A-37DCD7AF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519EF-5053-4835-870F-6A729C95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FB77A-166A-4E9D-89F8-95D84795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867483-DB1F-4DE4-A781-A7F3DFA9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문제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C0165D-63D6-4044-BB15-D6B64392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06 / 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5467D6-F7F4-41FA-84EE-604DD71C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2AE55E-1174-4FA6-ABE6-5282491C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베드록 가드레일 실험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B1CE50-0871-4D55-A87D-6E9A5D25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정량보다 먼저, 직관적으로 한국어 텍스트형 PII를 놓치는 사례를 보여준다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092E9E-59CC-447F-86C5-5DD1947B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953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9E74D8-0B07-437C-8838-B7542A38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DF056E-68D3-444F-AD72-218890E2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462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이름은 가렸지만 주민번호는 그대로 남았다.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106F70-09DB-4C63-B2DF-FD41B1F0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1244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532094-0168-4D8C-AD27-4123A812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33600"/>
            <a:ext cx="51244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DD0F38-B91B-489C-AA0E-A76DCC07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입력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8C1B8D-B2C7-4A83-8EE7-CACDD296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28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결과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D776BF-A70F-4ABA-B130-A513F2CE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5143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872ED8-A2AD-4876-B3ED-354D8986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5143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501ECC-E59E-4B6F-9DEF-F418ABF9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이름은 마스킹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8620DC-AC53-48E1-91F6-D8A30579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24550"/>
            <a:ext cx="480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하지만 주민번호는 그대로 통과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F8F680-44BA-4A47-AEEE-F21CB162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43550"/>
            <a:ext cx="5143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896C75-DBAC-4D21-930A-94032227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43550"/>
            <a:ext cx="5143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865259-ABE2-4847-B92E-7563AD62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657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한국어 의미형 PII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C1032F-846D-4C56-84F0-D84BA757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924550"/>
            <a:ext cx="480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숫자형·정규식형보다 더 취약한 영역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7c693da17948c5"/>
          <a:stretch xmlns:a="http://schemas.openxmlformats.org/drawingml/2006/main"/>
        </p:blipFill>
        <p:spPr>
          <a:xfrm xmlns:a="http://schemas.openxmlformats.org/drawingml/2006/main">
            <a:off x="6534150" y="3017114"/>
            <a:ext cx="4819650" cy="1547671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6fb96211b74aaf"/>
          <a:stretch xmlns:a="http://schemas.openxmlformats.org/drawingml/2006/main"/>
        </p:blipFill>
        <p:spPr>
          <a:xfrm xmlns:a="http://schemas.openxmlformats.org/drawingml/2006/main">
            <a:off x="838200" y="2457467"/>
            <a:ext cx="4819650" cy="26669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5713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C0F221-1511-47FB-BF91-B7FA700E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16BE0E-26BA-4880-8021-E50B339E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F2C5F8-9AB7-412D-A385-9FAEE000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C48F6C-7014-4289-A34E-E6CCA1CC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407693-097D-4930-8440-AE170F3A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문제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59DAA8-BDAB-4BCB-AF75-0DA0259B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07 / 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7F3E76-5E37-4DC2-9F9E-38D40961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FB63C6-0ADF-4BC6-9ACB-67CB47B1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원인: 대부분 가드레일은 영어 기반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081510-B0C1-48DF-AF1B-4D824FA0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문제의 핵심은 한국어 전체보다 한국어 의미형 PII 탐지 공백이다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6C9A92-464C-4F7F-9E1C-47B3C2E8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572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F28C2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2F89E0-7502-4992-AC55-D5802295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718371-EC6B-4FC7-9934-AAFD9212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824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영어 중심 탐지, 한국어 숫자형 편중, 의미형 PII 탐지 공백이 겹친다.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F1F8FD-5F69-4AC6-B63E-D27E0969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5052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359909-E492-4058-B470-D5CC2031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95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A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A031BB-5F39-4366-BFCE-6BEA0FEE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영어 중심 탐지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B601E7-7633-4480-A9CB-A6CB8BD3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3105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기존 기준선은 영어에서 99.37% TRUE</a:t>
            </a:r>
          </a:p>
          <a:p xmlns:a="http://schemas.openxmlformats.org/drawingml/2006/main"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탐지율을 기록한다.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E44700-1C8F-4591-9CFC-5C0FC8EE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47900"/>
            <a:ext cx="35052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DF5833-FC12-4DAB-B58A-A1406278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47900"/>
            <a:ext cx="95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E66BF7-3861-419E-B7F1-8BD8011A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76500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한국어 숫자형 위주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A9B21F-F6DC-40B7-B20C-CE978ADB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33700"/>
            <a:ext cx="3105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기존 스택은 주민번호·사업자번호 같은 체크섬·형식형</a:t>
            </a:r>
          </a:p>
          <a:p xmlns:a="http://schemas.openxmlformats.org/drawingml/2006/main"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PII에서 상대적으로 강하다.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CEA165-B73A-4E10-A1DB-B4317311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47900"/>
            <a:ext cx="35052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93C297-2AF8-4620-A40C-A99E2B84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47900"/>
            <a:ext cx="95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A836B1-C2C6-4FB9-836E-A40D4BA2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76500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의미형 PII 탐지 공백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7ED8E7-7A52-40EC-98EB-8C14B737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33700"/>
            <a:ext cx="3105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한국어 의미형 slice에서는 기준선 TRUE</a:t>
            </a:r>
          </a:p>
          <a:p xmlns:a="http://schemas.openxmlformats.org/drawingml/2006/main"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탐지율이 49.62%까지 떨어진다.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2A6B72-5A08-424B-8EF8-8C56FBF7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7823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AA6DF3-576F-4AD5-8922-5119C351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863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발표 해석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6ADEE3-5C34-4AC3-8DA3-7B2BB843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FD27B0-6A4A-4A0E-9CB4-E8EA57B3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14900"/>
            <a:ext cx="998220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초기 소규모 탐색 표는 본문에서 빼고, 메인 논리는 10k 벤치마크 기준으로만 전개한다.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8A66F7-C752-4905-B583-2AD16759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3781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1066ED-97C4-48F4-824C-E84D479C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42560"/>
            <a:ext cx="998220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따라서 이후 결과는 '한국어 전체'보다 '한국어 의미형 PII'를 중심으로 읽어야 한다.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83A113-03CC-4829-A511-B683117E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654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D66B26-39BE-4880-BFAD-9F0F9260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70220"/>
            <a:ext cx="998220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모델이 놓치는 입력은 게이트웨이 앞단의 Layer 0에서 먼저 보강한다.</a:t>
            </a:r>
          </a:p>
        </p:txBody>
      </p:sp>
    </p:spTree>
    <p:extLst>
      <p:ext uri="{BB962C8B-B14F-4D97-AF65-F5344CB8AC3E}">
        <p14:creationId xmlns:p14="http://schemas.microsoft.com/office/powerpoint/2010/main" val="15382533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AEE853-9AF3-42C5-A876-E8B4FF14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7D8F08-2470-4761-931B-FBDE4165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A66AC0-5A7C-4CB5-A1C5-52EF07AE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751F8-BA44-4346-B384-B196DB51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3DF7F1-036F-4D33-BD4D-772BDC08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설계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07B890-BCC4-4AC0-831C-8AF75390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08 / 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5E3B4F-9EC5-4A67-9333-60B0F983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A7EC8D-5837-4A25-ACA0-161E3CB8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연구 질문과 프로젝트 목표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81791B-524A-4971-93D3-470B5594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이번 발표에서는 목표를 '한국어 PII 보강 계층'으로 정직하게 정의한다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CBF424-0938-4473-B3E6-399E91ED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239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22A6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2EFD72-6936-4272-B5E7-C673C8A5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D771AD-5304-4CBB-B304-5F341E0C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691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보호 엔진 전체가 아니라 기존 스택 앞단의 한국어 보강 계층이 목표다.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EA07E7-D5EF-4583-A23D-69B5DDAD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2387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381F5A-F9EB-4599-97F6-88A9C7E3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8C28"/>
                </a:solidFill>
              </a:defRPr>
            </a:pPr>
            <a:r>
              <a:rPr sz="975" b="1">
                <a:solidFill>
                  <a:srgbClr val="F28C28"/>
                </a:solidFill>
              </a:rPr>
              <a:t>RQ1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ED8904-B004-45BD-9930-1D9DFF8D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19400"/>
            <a:ext cx="457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왜 기존 가드레일은 영어 대비 한국어, 특히 한국어 의미형에서 크게 약한가?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2BCD72-C1EA-4282-BA12-7060A16F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0"/>
            <a:ext cx="457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언어 차이 자체인지, 혹은 한국어 의미형 PII라는 어려운</a:t>
            </a:r>
          </a:p>
          <a:p xmlns:a="http://schemas.openxmlformats.org/drawingml/2006/main"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slice 때문인지 분리해서 확인한다.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CAFD39-8B80-47DB-9546-5E15C4D1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A66A"/>
                </a:solidFill>
              </a:defRPr>
            </a:pPr>
            <a:r>
              <a:rPr sz="975" b="1">
                <a:solidFill>
                  <a:srgbClr val="22A66A"/>
                </a:solidFill>
              </a:rPr>
              <a:t>RQ2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5087E5-2153-4CBA-A408-4EF5E008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57700"/>
            <a:ext cx="457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LLM Judge 대신 Layer 0가 더 싸고 빠르게 같은 공백을 메울 수 있는가?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68A4B1-477E-490C-8CB3-EC543186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72050"/>
            <a:ext cx="457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결과 비교뿐 아니라 지연, 비용, 스마트 캐스케이드까지 포함해</a:t>
            </a:r>
          </a:p>
          <a:p xmlns:a="http://schemas.openxmlformats.org/drawingml/2006/main"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실용성을 평가한다.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B47E47-57E7-4909-87A7-28F52A48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66950"/>
            <a:ext cx="52006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55D542-5F97-4440-9D5E-61890E6E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336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8A2B3"/>
                </a:solidFill>
              </a:defRPr>
            </a:pPr>
            <a:r>
              <a:rPr sz="975" b="1">
                <a:solidFill>
                  <a:srgbClr val="98A2B3"/>
                </a:solidFill>
              </a:rPr>
              <a:t>프로젝트 목표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9CD4CE-7A27-44B6-A757-07F0C439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57500"/>
            <a:ext cx="400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한국어 PII 보강 계층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Layer 0 (L0)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55F797-538A-4F66-B66F-78280111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24300"/>
            <a:ext cx="4210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0D5DD"/>
                </a:solidFill>
              </a:defRPr>
            </a:pPr>
            <a:r>
              <a:rPr sz="1425" b="0">
                <a:solidFill>
                  <a:srgbClr val="D0D5DD"/>
                </a:solidFill>
              </a:rPr>
              <a:t>기존 L1~L3 스택을 유지한 채, 그 앞단에서</a:t>
            </a:r>
          </a:p>
          <a:p xmlns:a="http://schemas.openxmlformats.org/drawingml/2006/main">
            <a:pPr algn="l">
              <a:defRPr sz="1425" b="0">
                <a:solidFill>
                  <a:srgbClr val="D0D5DD"/>
                </a:solidFill>
              </a:defRPr>
            </a:pPr>
            <a:r>
              <a:rPr sz="1425" b="0">
                <a:solidFill>
                  <a:srgbClr val="D0D5DD"/>
                </a:solidFill>
              </a:rPr>
              <a:t>한국어 입력을 먼저 정규화·탐지해 한국어 의미형</a:t>
            </a:r>
          </a:p>
          <a:p xmlns:a="http://schemas.openxmlformats.org/drawingml/2006/main">
            <a:pPr algn="l">
              <a:defRPr sz="1425" b="0">
                <a:solidFill>
                  <a:srgbClr val="D0D5DD"/>
                </a:solidFill>
              </a:defRPr>
            </a:pPr>
            <a:r>
              <a:rPr sz="1425" b="0">
                <a:solidFill>
                  <a:srgbClr val="D0D5DD"/>
                </a:solidFill>
              </a:rPr>
              <a:t>PII 탐지 공백을 메우는 계층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4600F2-C9DE-4A3B-A337-19E37352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086350"/>
            <a:ext cx="1333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2A66A"/>
          </a:solidFill>
          <a:ln xmlns:a="http://schemas.openxmlformats.org/drawingml/2006/main" w="9525">
            <a:solidFill>
              <a:srgbClr val="22A66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7DD068-1452-4CD1-8337-221C87F6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181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7360B8-A236-46F2-B005-12CC989E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153025"/>
            <a:ext cx="971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발표 표기: L0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58DEE6-10AF-42A6-B4A6-53843200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8635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A9D37B-9D9A-470A-A8BB-4C7EB0F0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181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065B8B-6DD1-49FC-A284-7DB4EB0F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53025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기존 스택 유지</a:t>
            </a:r>
          </a:p>
        </p:txBody>
      </p:sp>
    </p:spTree>
    <p:extLst>
      <p:ext uri="{BB962C8B-B14F-4D97-AF65-F5344CB8AC3E}">
        <p14:creationId xmlns:p14="http://schemas.microsoft.com/office/powerpoint/2010/main" val="2697152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54669-1950-48D4-9F3F-1CB14731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250FB0-2CC7-4F6B-97A9-C75C291D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B43A29-39CA-4D78-AF48-5A2A9CB3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94719B-F39B-4690-A992-48BAC667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DE1CC8-529E-4F74-96DE-7A2FCD62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설계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D0E7DB-58DE-44A4-9188-265E0F68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09 / 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777A86-9402-470D-85A0-6961976E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A79A2C-838A-4AC2-95C0-AF6C9B0B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AI Gateway 맥락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464BA6-1C61-43B1-8B0A-0ECC910C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이 연구는 모델 자체가 아니라 LLM 게이트웨이에서의 방어 배치 문제다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D80D71-7F64-4021-B1CE-B220594E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667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203A8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D283FD-361D-40B7-A264-99E2B77E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B535F1-29F3-4104-878E-A80808C7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6343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입력과 출력이 오가는 교차점이기 때문에, L0는 게이트웨이에 붙는 것이 맞다.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00A99C-7DAF-4E6A-9941-54EFBBBA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000500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67E468-0AE8-4A26-BBF1-FA72E1C0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E548E2-4EB1-45BC-A2C7-0B01459B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57450"/>
            <a:ext cx="3352800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게이트웨이는 사용자 입력과 외부 LLM 사이를</a:t>
            </a:r>
          </a:p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통제하는 계층이다.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866707-5453-433D-BBAB-D810A077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3563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818CE0-75B4-41E7-8875-E5110655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40380"/>
            <a:ext cx="3352800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이 지점에서 라우팅, 로깅, 인증, 입력/출력</a:t>
            </a:r>
          </a:p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가드레일이 함께 작동한다.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D176B2-D20D-4CBD-8405-6BF341CC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856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66D39B-70DC-4FA5-A804-578438DE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23310"/>
            <a:ext cx="3352800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따라서 한국어 입력 보호 문제를 해결하려면 모델</a:t>
            </a:r>
          </a:p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내부가 아니라 게이트웨이 전처리 계층이 핵심이다.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4650CE-9DB7-4769-904D-07FF7478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00250"/>
            <a:ext cx="64770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c5142942b444f3"/>
          <a:stretch xmlns:a="http://schemas.openxmlformats.org/drawingml/2006/main"/>
        </p:blipFill>
        <p:spPr>
          <a:xfrm xmlns:a="http://schemas.openxmlformats.org/drawingml/2006/main">
            <a:off x="5881394" y="2152650"/>
            <a:ext cx="4772611" cy="3810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6544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45D967-4D72-420F-ACAD-0314EC84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49D60C-B581-4ADE-8CE2-79396E6E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B1FD9A-9B49-4103-A975-426188F7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F7850-DF5E-4CDE-BF1A-86C220A5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0CAE4B-A1DE-4F05-A44A-5A472A8A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설계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9BAFD5-6060-4534-AEA6-4B198450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10 / 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69929C-E3B6-4F2B-ACB7-4D5A155C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0CD31-C0FB-4806-91DC-2DCC022F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데이터 흐름과 삽입 위치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47369E-7D99-4A2F-87E1-DB4020BE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Layer 0는 외부 LLM 호출 전에 한국어 입력을 먼저 복원하고 탐지한다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6845F9-9EF3-424C-9917-65EC5A71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572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22A6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92AF76-3D05-4E97-9FA2-190F4B3D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89F438-7988-443C-8FDB-7713D1FD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824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삽입 위치는 pre-call 앞단이다. 여기서 한국어 입력을 복원하지 않으면 뒤 레이어는 그대로 놓친다.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591F5F-6DCD-4356-8D2C-58C0DE48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13144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EA1741-52A9-47FC-A7AC-CE8DD390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사용자 입력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810AB-44A6-45FF-B67B-48FAEEED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952750"/>
            <a:ext cx="13144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1C27A2-7A37-4327-A0B1-B4CADC51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813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Layer 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B4FD92-72D4-4457-B55A-5107F903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52750"/>
            <a:ext cx="13144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8A90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52F61F-19C4-4F6E-AED8-5F3EBFA6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813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Presidio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E88F6B-5339-45E8-8C3B-71151254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52750"/>
            <a:ext cx="13144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8A90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7F8951-FF58-4FF1-8A20-5682E45B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813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Bedrock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5D7DF7-2D8D-4D24-BEB1-75F7C1F0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52750"/>
            <a:ext cx="13144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8A90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558AFD-C804-403E-A5F1-37CDE61A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813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Lakera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5D8968-B4C3-4958-A5C3-84E2D9CC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52750"/>
            <a:ext cx="13144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4A3834-20EF-47DF-953E-E65D9DF0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813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외부 LLM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6F9653-40A7-4B5C-9CDC-75BD4A0A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952750"/>
            <a:ext cx="1047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4E7419-365B-4F17-8EE9-4A525058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1813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응답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05CDB8-2E34-41E5-9A35-985DF0B2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57550"/>
            <a:ext cx="2476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D90FDE-B2B9-4568-A90D-2ED71842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57550"/>
            <a:ext cx="2476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0A9F94-55E2-4B47-B2AD-7BDB1C2D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57550"/>
            <a:ext cx="2476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A65A79-1037-4A99-9BA4-FF74D3AC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57550"/>
            <a:ext cx="2476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1E2280-7D98-45A8-B71D-ABA3FB69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57550"/>
            <a:ext cx="2476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919857-BF76-43B2-92C4-7801145E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57550"/>
            <a:ext cx="2476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374A5D-978A-4694-8725-2203C45D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14600"/>
            <a:ext cx="1619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D92D2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2D07E7-FAE5-48A8-9DC4-E51B779F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1148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2D20"/>
                </a:solidFill>
              </a:defRPr>
            </a:pPr>
            <a:r>
              <a:rPr sz="900" b="1">
                <a:solidFill>
                  <a:srgbClr val="D92D20"/>
                </a:solidFill>
              </a:rPr>
              <a:t>이번 연구의 추가 계층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2DED79-604C-4621-A1FB-9B3D95DA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6108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DD85CB-12F7-4A35-8640-36F48A98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91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500EA9-EC65-4615-A8AC-F0EE1B31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95850"/>
            <a:ext cx="998220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L0는 한국어 입력을 정규화해 공격 표면을 복원한다.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A08633-9D3F-4F62-90B5-5C67CE7F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1876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73A5414-B95E-43B7-94D0-F84165C0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23510"/>
            <a:ext cx="998220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그 다음 L1~L3는 기존 운영 스택을 그대로 유지한다.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9A9EC08-798B-4354-BEBB-51797C28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4642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2F6605-F178-4155-9A88-C8351203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51170"/>
            <a:ext cx="998220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필요한 경우에만 L4 judge를 smart cascade로 호출할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3922151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D2A3C3-4DD5-4FD7-A77A-07C6F7E2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B7179B-AEC6-44E5-9A29-D8795CF9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93CFE6-65CF-4950-9B41-E3B6680E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207AE6-6A11-4105-8B73-AA0B58DF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F3B467-82B9-4724-B0D2-F40BB6B1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설계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4587C-436A-46C2-A0C5-A604BCD4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11 / 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A58626-A5BD-44FB-8D9A-6DDEC7DD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972C61-6E86-4F5D-84DF-08BA1F19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5계층 방어 파이프라인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4A9A74-05CF-4135-B2D0-D4F5BAE2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L0만 새로 제안하고, 나머지는 기존 운영 가드레일을 그대로 둔다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DB2C53-FA6C-4099-8E09-A14D8139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239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22A6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6AAA17-EFB8-45ED-AB3E-782FF2D5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B2E79C-C9F8-440C-89F8-8004BEF1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691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핵심은 기존 스택을 대체하는 것이 아니라, 한국어 공백을 앞단에서 보강하는 것이다.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5DABBE-EA0D-4919-B5D8-9E5E787C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2038350" cy="23812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77FAE8-3A1A-42A8-8F68-CE651129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2038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64A9DE-FC3F-4E03-811F-00825A19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2A66A"/>
                </a:solidFill>
              </a:defRPr>
            </a:pPr>
            <a:r>
              <a:rPr sz="2250" b="1">
                <a:solidFill>
                  <a:srgbClr val="22A66A"/>
                </a:solidFill>
              </a:rPr>
              <a:t>L0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44C0C1-849F-4C2B-B710-8D5F0D95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4800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한국어 정규화 + 키워드 사전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EF47A3-0273-4B54-A007-E3AC2A96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24300"/>
            <a:ext cx="1047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2A66A"/>
          </a:solidFill>
          <a:ln xmlns:a="http://schemas.openxmlformats.org/drawingml/2006/main" w="9525">
            <a:solidFill>
              <a:srgbClr val="22A66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2ACA12-DE32-46E3-A615-CBB16C80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19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854B24-87A7-4C49-8BAB-16B9C723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90975"/>
            <a:ext cx="68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pre-call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410614-6E95-426B-9995-BF8A8706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이번 연구의 핵심 기여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783326-1514-43CB-ADA3-FC8C609E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47900"/>
            <a:ext cx="2038350" cy="23812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36D63D-F3F1-403A-9829-300CECAE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47900"/>
            <a:ext cx="2038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0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555B2F-4369-476F-90D2-B8B44023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1460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9099"/>
                </a:solidFill>
              </a:defRPr>
            </a:pPr>
            <a:r>
              <a:rPr sz="2250" b="1">
                <a:solidFill>
                  <a:srgbClr val="8A9099"/>
                </a:solidFill>
              </a:rPr>
              <a:t>L1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E9CC86-8611-4A16-9B52-1227B41E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4800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Presidio</a:t>
            </a:r>
          </a:p>
          <a:p xmlns:a="http://schemas.openxmlformats.org/drawingml/2006/main"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regex + NER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1F8A68-C654-42D0-9BD9-0FFE9C72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924300"/>
            <a:ext cx="1047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A909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8952A0-E50C-4837-B815-9A5A6E47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019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90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CD301D-DBB2-4C72-8A55-8F7A65A5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990975"/>
            <a:ext cx="68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pre-call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8FDF49-C8EA-4D97-A49D-CFB9EFDE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2862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기존 운영 스택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A4249F-2A56-4A38-BD12-99C37561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47900"/>
            <a:ext cx="2038350" cy="23812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1A4A85-C317-4051-964E-16121C49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47900"/>
            <a:ext cx="2038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0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19D98A-07C9-4598-A2CC-4872FCF3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1460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9099"/>
                </a:solidFill>
              </a:defRPr>
            </a:pPr>
            <a:r>
              <a:rPr sz="2250" b="1">
                <a:solidFill>
                  <a:srgbClr val="8A9099"/>
                </a:solidFill>
              </a:rPr>
              <a:t>L2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0A1FF5-DCD5-4A2C-81F4-42C51F2A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04800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Bedrock Guardrails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5E82F1-697A-465C-B617-91473537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924300"/>
            <a:ext cx="1047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A909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6E22AA-6394-451D-B285-67E2202C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019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90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70A742-81E1-421F-B416-05CBA664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990975"/>
            <a:ext cx="68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during-call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FE05B6-F9EC-4559-B30E-9D361462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2862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기존 운영 스택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A98933-5F81-4489-A333-63BCCC11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47900"/>
            <a:ext cx="2038350" cy="23812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C581F1-DE1F-4ED6-968E-95534D28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47900"/>
            <a:ext cx="2038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0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0C0880-2A82-4BD8-A0C0-FD742783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1460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9099"/>
                </a:solidFill>
              </a:defRPr>
            </a:pPr>
            <a:r>
              <a:rPr sz="2250" b="1">
                <a:solidFill>
                  <a:srgbClr val="8A9099"/>
                </a:solidFill>
              </a:rPr>
              <a:t>L3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37186E-3FFD-4EDD-8D09-89EE2BBC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04800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Lakera Guard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430B717-CAE1-4F72-BFDC-3E0B3FE9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924300"/>
            <a:ext cx="1047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A909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7D8C903-2660-4C2E-BD90-55FB5782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19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90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15444B5-ABEE-42D4-A2BC-D3301B3B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90975"/>
            <a:ext cx="68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pre-call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C1606E7-A63A-4B86-A570-9813B8B1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862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기존 운영 스택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A3C59A1-1AFA-4615-911A-16AE3733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47900"/>
            <a:ext cx="2038350" cy="23812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BC29753-F7EB-44F7-AE15-BADE6780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47900"/>
            <a:ext cx="2038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914CBC3-0D10-4F2B-BB45-0B54733F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1460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3A8E"/>
                </a:solidFill>
              </a:defRPr>
            </a:pPr>
            <a:r>
              <a:rPr sz="2250" b="1">
                <a:solidFill>
                  <a:srgbClr val="203A8E"/>
                </a:solidFill>
              </a:rPr>
              <a:t>L4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EFB008F-106F-43B6-8BD3-1B1EDF1C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04800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GPT-4o-mini judge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1728785-85C7-4433-A9D1-51609629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924300"/>
            <a:ext cx="1047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03A8E"/>
          </a:solidFill>
          <a:ln xmlns:a="http://schemas.openxmlformats.org/drawingml/2006/main" w="9525">
            <a:solidFill>
              <a:srgbClr val="203A8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7DAE3B5-6ABE-480B-B3E1-A9A5818D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019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3F5F108-7EFA-4D48-9512-F8D1B661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990975"/>
            <a:ext cx="68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post-call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67352B5-097A-4BD4-8BBD-EBBB4D25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2862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기존 운영 스택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DED6435-65A4-4D14-8BAD-E5C1269B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716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입력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8E4A4ED-0D06-4F86-9435-8CF14D8C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7716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LLM 응답</a:t>
            </a:r>
          </a:p>
        </p:txBody>
      </p:sp>
    </p:spTree>
    <p:extLst>
      <p:ext uri="{BB962C8B-B14F-4D97-AF65-F5344CB8AC3E}">
        <p14:creationId xmlns:p14="http://schemas.microsoft.com/office/powerpoint/2010/main" val="21182902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8FB238-BEF1-4AC8-88AC-C4E1EB80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62AB9F-E0D4-452F-89A4-8705DA0E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BF3078-9D69-44FC-A0B1-ED1E38A4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5204B-9017-482D-917E-B1383D59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9D40B0-B2CF-4822-BBA3-62887B5A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설계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854DEF-C354-49DF-864D-D839DAD6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12 / 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767E82-FA7D-40C9-A5BE-4C33A551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C6FDBF-D586-4426-99C0-F8701B74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L0 설계 1: 정규화 파이프라인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6B2D27-CB81-47B7-A6A9-8B6084B2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정규화의 목적은 한국어 입력에 숨겨진 공격 표면을 다시 복원하는 것이다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CE307B-DC91-442E-8DD8-2A4361C2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191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D4A72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E56EE6-0227-44B2-8F6E-69B8E680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9342B0-72F3-4248-8A1B-83F692C7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786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정규화는 성능의 중심이 아니라, 사전 매칭이 작동하도록 공격 표면을 복구하는 역할이다.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8F7A70-3308-49AC-AFA0-DE9A51EB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2095500" cy="21717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C006B0-B475-4A5B-83B2-C098CB56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09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25398D-EF75-4FCD-9F2E-FA571E66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자모 결합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565802-601C-432D-ABAB-6A46513F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ㅎㅏㄴㄱㅡㄹ → 한글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DADCCA-0AB8-4CCD-B8C1-F423C412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62200"/>
            <a:ext cx="2095500" cy="21717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3AAEA7-E9A0-4164-9FE6-A9BD17FF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09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4C07A1-6A33-4D8F-845B-D5992CA4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86150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ZWSP 제거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61C385-14EC-4295-A9B6-30D93D58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48100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주민​번호 → 주민번호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7BF9ED-63E4-4479-B055-0B60A6DE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62200"/>
            <a:ext cx="2095500" cy="21717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A0D2E5-E19C-4C68-957A-1FFFAFDC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09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927B72-47BF-4EAF-A78B-E1BF9826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486150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Fullwidth 복원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549C04-F8A6-493B-BE68-E64CE448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848100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１２３４ → 1234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F6BAA6-9165-4D38-88FB-5306F6AA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2095500" cy="21717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D3DE1C-8DFE-42AA-A838-5CBF0574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09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40CF6D-9564-4D3A-A183-7C5C1883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86150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숫자-한글 변환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661E80-3526-48E0-8479-7C31A273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48100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공이공칠일사 → 020714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058EE3-615D-43FF-95CC-09296A70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62200"/>
            <a:ext cx="2095500" cy="21717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76E679-13C0-4B59-9D8A-E2F594E3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609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CAC50D-B39C-4580-9C7A-AF424F34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486150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Homoglyph 치환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D344C7-1CB0-4601-B957-4758604F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848100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O0 / I1 혼용 정리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E1AA64-72A5-4897-9770-D9480EF8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07061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70D6AC-51FE-467B-B8DB-AD6746BC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FA7630-BA78-4AF9-AE07-EA7CBAB6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43500"/>
            <a:ext cx="1000125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전체 13단계 정규화 중 발표에서는 대표 5개만 보여준다.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27BA1E-59B9-465F-BC46-7321FBA2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6641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357399-9231-4C15-A5E9-ECB9727F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71160"/>
            <a:ext cx="1000125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핵심은 사람이 읽는 한국어와 시스템이 매칭하는 문자열을 다시 맞추는 것이다.</a:t>
            </a:r>
          </a:p>
        </p:txBody>
      </p:sp>
    </p:spTree>
    <p:extLst>
      <p:ext uri="{BB962C8B-B14F-4D97-AF65-F5344CB8AC3E}">
        <p14:creationId xmlns:p14="http://schemas.microsoft.com/office/powerpoint/2010/main" val="21119424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56CF56-9A48-481D-91DF-56CEA70B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44B2A8-E665-44D7-AB82-AF79EC46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4CE6F-D13C-4DC9-8761-14E496C8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F2D785-CFBE-4D66-B645-81E4BD96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DCF8A-48AD-46DE-8B95-BEA121A6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설계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6EEBE-E498-4E93-BAE6-B646E726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13 / 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5D31DB-3B06-4686-AA85-F5393D37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70C539-C1BA-4830-B304-2252B777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L0 설계 2: 탐지기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6845AA-6BE2-4F2A-A8B2-851D9F3D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정규식보다 키워드 사전이 실제 개선의 중심이다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047C0C-F4FD-4FF6-80AF-87593CDE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905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0E27E8-BD3C-4D44-90D1-73BF0A3F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AA7914-2AA5-4CCB-8EDF-54C91CAD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5581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KR semantic 성능 상승의 대부분은 키워드 사전에서 나온다.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99BF9E-B889-422B-804B-3EB9D8DB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50673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FA1292-13A8-42EE-98D7-FAF07B8D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47900"/>
            <a:ext cx="50673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2B0867-FA42-430F-BAB9-FB004767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146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정규식 / 구조형 탐지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1C8C52-6972-4569-8DDC-D4F3A2A9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67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47CCB3-89D2-4CD4-B8C9-67158CE7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71800"/>
            <a:ext cx="4286250" cy="243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session token, JWT, court case number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4E7464-AF28-49E4-A260-B71B895B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519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9006F0-B3A1-4419-8FAE-6B97F829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29940"/>
            <a:ext cx="4286250" cy="243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GPS 좌표, AWS key, SSH key, MAC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00CA5D-9BD2-4B09-B79C-6364E2FE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8333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11631A-8D77-4FC7-B04C-7F62347F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88080"/>
            <a:ext cx="4286250" cy="243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medical record number, employee ID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DF013A-2103-4015-B353-8DE3F7AB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414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9DBA40-AAAF-44DE-9D88-9A72D81D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46220"/>
            <a:ext cx="4286250" cy="243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차량번호, 보험증권번호, 거래번호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0192A1-210A-4A5B-B6C1-82A3374B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146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키워드 사전 / 의미형 탐지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4EA119-E7CE-4AAC-9FDB-700C1CD8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67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6CCFAE-EAFB-4C81-95F7-8E6BD6B0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71800"/>
            <a:ext cx="4286250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allergy, diagnosis, prescription,</a:t>
            </a:r>
          </a:p>
          <a:p xmlns:a="http://schemas.openxmlformats.org/drawingml/2006/main"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surgery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5DD5D1-8357-4E27-B36B-71460E0A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3093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8D9F3A-53D8-4512-AB34-306E8303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35680"/>
            <a:ext cx="4286250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family, marital, religion,</a:t>
            </a:r>
          </a:p>
          <a:p xmlns:a="http://schemas.openxmlformats.org/drawingml/2006/main"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nationality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5F360D-869F-4B62-A116-6C39C5F6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9481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C1B37D-1142-4D0D-93CB-75E4CB85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9560"/>
            <a:ext cx="4286250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company, department, job title,</a:t>
            </a:r>
          </a:p>
          <a:p xmlns:a="http://schemas.openxmlformats.org/drawingml/2006/main"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school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34A484-ED55-4D6B-9B8E-C76BD03F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75869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4BD187-061E-4A3B-A998-2A1F7F92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63440"/>
            <a:ext cx="4286250" cy="243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의료·법적·조직 맥락의 한국어 텍스트형 PII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780290-4E75-4E7C-AFE4-EA9F1074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753100"/>
            <a:ext cx="3619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615678-2E98-4DAA-8185-1DF16A17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753100"/>
            <a:ext cx="3619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B34103-6665-4398-AACF-A29B52A3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867400"/>
            <a:ext cx="3276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+38.10%p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4ECE8F-BE1A-4FA9-90CF-53849E3A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134100"/>
            <a:ext cx="3276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사전만 켜도 KR semantic이 크게 상승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4A4D6F-A74F-4E1F-9C97-D84DA65E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753100"/>
            <a:ext cx="2095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196574-BB4C-427D-96CB-2ACC6BD0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753100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C6D4EC8-1086-411C-8A96-890181EB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86740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+0.31%p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3E06CF-AC75-4EB8-9F00-BE847F7F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134100"/>
            <a:ext cx="1752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정규화만 단독</a:t>
            </a:r>
          </a:p>
        </p:txBody>
      </p:sp>
    </p:spTree>
    <p:extLst>
      <p:ext uri="{BB962C8B-B14F-4D97-AF65-F5344CB8AC3E}">
        <p14:creationId xmlns:p14="http://schemas.microsoft.com/office/powerpoint/2010/main" val="2083525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BEFE4D-D134-4C44-8662-89F1E5D8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E1A637-D8BD-495B-9BFD-CA0C9D84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9EA864-CE14-4EC6-9AF5-E1EC7B09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6BB2A3-0062-4454-9D97-DC4D85C7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A900E8-0747-449C-A927-21E7B0CF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평가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243AE7-ADA5-41F3-B2D8-4A7D3818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14 / 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4FD3D8-7790-432C-99F9-2D1A721A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69726F-A235-4B77-B2BF-4A68D6EF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평가 방법 개요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45B288-A23E-4497-9922-CBA2C3D0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왜 이 결과를 믿을 수 있는지 세 가지 원칙으로만 정리한다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24BE8A-8E01-4819-93D0-F39804A6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239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203A8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782898-BF13-4754-93B9-CB58AD3D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F165A3-8ADD-4494-914C-F713234C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691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핵심은 유효성 우선, 실제 API 호출, 그리고 TRUE/FALSE/BYPASS 분리다.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483DE0-C94B-4C60-BDC2-F1303200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5052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718C62-C70E-4982-8CAF-B7E8D44A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95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A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EED35-99EC-4447-B476-97D7A6D7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유효성 우선 fuzzer v4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A8A481-A02B-440E-A584-1033055B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3105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형태만 그럴듯한 payload가 아니라 실제로 동작</a:t>
            </a:r>
          </a:p>
          <a:p xmlns:a="http://schemas.openxmlformats.org/drawingml/2006/main"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가능한 한국어 PII 입력을 우선 생성했다.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418DCD-0C78-4FF5-874B-3B9FED44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47900"/>
            <a:ext cx="35052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44E9B4-09DE-47F4-90E7-9714C619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47900"/>
            <a:ext cx="95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AD43A5-4145-494F-916E-227927D2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76500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실제 API 호출 벤치마크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30F1B5-EBF7-41C8-8852-EFE774BE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33700"/>
            <a:ext cx="3105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모든 케이스를 LiteLLM Gateway와 외부</a:t>
            </a:r>
          </a:p>
          <a:p xmlns:a="http://schemas.openxmlformats.org/drawingml/2006/main"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guardrail / judge 호출로 직접</a:t>
            </a:r>
          </a:p>
          <a:p xmlns:a="http://schemas.openxmlformats.org/drawingml/2006/main"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측정했다.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7F988F-F2B4-4334-A9DF-59F712CA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47900"/>
            <a:ext cx="35052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A2B48A-8A1D-4F92-938C-1A68C3CE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47900"/>
            <a:ext cx="95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D40F77-7965-4E82-95D1-C138AC71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76500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TRUE / FALSE / BYPASS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66169E-B884-498F-BA54-11A4D532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33700"/>
            <a:ext cx="3105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출력 문구가 아니라 실제 무해화 여부를 기준으로</a:t>
            </a:r>
          </a:p>
          <a:p xmlns:a="http://schemas.openxmlformats.org/drawingml/2006/main"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결과를 분리했다.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62BDCE-03BB-4D6C-B42D-AA34CA99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4577F1-3639-48A3-920F-1CE11866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9AB4B9-AA79-4ABD-83FB-3736883E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2038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10,000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C5C613-95AD-4ECE-BBB4-20F026E7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911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동일 payload 4-way 비교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BD15E2-6D78-4E19-B34D-CADD0A38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68630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5B71A5-C77D-41AA-B42F-FA640835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68630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2D74C7-35AC-466F-AFED-0F4F94F7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857750"/>
            <a:ext cx="2038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91개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B6DC12-6779-444B-9D93-11B77F6D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3911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PII 유형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4BE237-769C-425E-B2D1-21CE53BF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8630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797CBC-3BDC-4166-9426-9C5E624C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8630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747EB9-0EEE-4C6D-B2E8-59D9040E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57750"/>
            <a:ext cx="2038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TRUE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C97243-AAEA-4861-9099-CB5F4DA5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3911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실제 무해화 기준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B4E48A-D65B-4EF6-93EC-1E055A03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8630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95BB32-2D2A-4C5E-A4AB-F6082960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8630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FE5441-B644-4029-B0FF-EDEFAE4C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857750"/>
            <a:ext cx="2038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v4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FADA9F-3386-4530-A170-A74E885A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3911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유효성 우선 벤치마크</a:t>
            </a:r>
          </a:p>
        </p:txBody>
      </p:sp>
    </p:spTree>
    <p:extLst>
      <p:ext uri="{BB962C8B-B14F-4D97-AF65-F5344CB8AC3E}">
        <p14:creationId xmlns:p14="http://schemas.microsoft.com/office/powerpoint/2010/main" val="9914702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BB8414-36CE-4FED-9CEC-7CD48EC2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39062-9578-4836-A264-AB3A5A2B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219BF0-24C6-4593-8B73-340EE33D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D994C4-D783-4BF8-887B-2B4195B8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79C9D9-A235-4A3A-BD39-55A116E4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평가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8B482C-7105-4AA1-B52A-E99BACF5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15 / 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C1838E-A92C-4515-B1B3-EE0092A6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9532E-7C98-4564-AC81-9E7C1B91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벤치마크 구성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19F958-AA81-4541-A37A-43D9C83C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10k 계층 표본에서 영어·한국어·유효성 그룹 분포를 고정했다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05CAEE-8959-4639-A59E-4E2CF4B9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143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04874B-A863-4AFA-8BA2-7FA0313A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F54EEA-C21D-415A-8AD8-14EBC9EA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481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발표의 핵심 slice는 한국어 의미형 1,302건이다.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82C00A-433E-4B86-8B14-21494351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20383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38FBC5-99E6-41A5-957E-B0EB0D34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2038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A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27FAAC-E86D-49F0-A8A2-08143094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1695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2,603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1C5FBB-A1AD-4A15-9F3B-74FB0482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EN 체크섬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6082A4-9713-4671-BD34-E1B2F0A4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00300"/>
            <a:ext cx="20383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8FE223-9734-4170-A9C9-289F5C56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00300"/>
            <a:ext cx="2038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8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1E0EA2-0FA2-4DB2-ABB7-024104B6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71750"/>
            <a:ext cx="1695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884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574B06-6E5C-48D0-8319-37F9596C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0515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EN 형식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03901C-97C0-427F-903D-DFBADF7E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00300"/>
            <a:ext cx="20383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09E199-9077-4FFF-B0D8-C97F5FA8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00300"/>
            <a:ext cx="2038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A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7616FA-AE47-4D90-B112-7C61FDF7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71750"/>
            <a:ext cx="1695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522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CBAD75-0B55-4C48-ADB1-4637A10E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0515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KR 체크섬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7DA3D9-6B87-4D77-A33A-93C66E28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00300"/>
            <a:ext cx="20383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91DFFC-BEE7-4152-99A4-726D11D1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00300"/>
            <a:ext cx="2038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CE103E-8A77-4DCF-AD28-AF67B0D6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71750"/>
            <a:ext cx="1695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4,689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3CCC80-9FE0-4ECB-9251-2209474D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0515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KR 형식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EA955A-19D4-4DF1-81E9-5276B186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00300"/>
            <a:ext cx="20383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8CC9EB-D4E8-454A-A9CB-A90C7DDF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00300"/>
            <a:ext cx="2038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692D43-09D7-4DB0-A636-C18BE6B8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71750"/>
            <a:ext cx="1695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1,302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C7EB59-BC36-4D68-A2A8-B8C6E093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0515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KR 의미형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9B30EC-C622-415E-BEB3-61137D7E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05300"/>
            <a:ext cx="107442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E71284-6D11-4B47-A819-5F63DE72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90C9A8-ED34-41F8-873F-D9DB7E57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33900"/>
            <a:ext cx="998220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전체 10,000건 중 영어는 3,487건, 한국어는 6,513건이다.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F0AFE5-5172-4F2F-ADA3-98B26B0C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681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84953C-7B24-4977-AA08-89D36CF0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61560"/>
            <a:ext cx="998220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그중 한국어 의미형 1,302건이 발표의 메인 타깃이며 취약성이 가장 강하게 드러나는 구간이다.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8E3051-ACC5-433D-B884-347542A0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844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049AE6-7B72-44EB-9F43-B82C163E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89220"/>
            <a:ext cx="998220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모든 4-way 구성은 동일한 payload를 공유한다.</a:t>
            </a:r>
          </a:p>
        </p:txBody>
      </p:sp>
    </p:spTree>
    <p:extLst>
      <p:ext uri="{BB962C8B-B14F-4D97-AF65-F5344CB8AC3E}">
        <p14:creationId xmlns:p14="http://schemas.microsoft.com/office/powerpoint/2010/main" val="13717687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C6B66D-1B52-496A-88E4-A76058AA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3F413-B7E5-44AA-A379-9D5794F4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BD4C5-8DCF-4801-9367-BC44D9F6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108701-E9BB-4D1F-ACF6-FEC9BF40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D09580-20A4-4462-9DFE-34E172C7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결과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1A4B2F-AB3C-4B59-81A4-4337A04D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16 / 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9F5C91-297A-4108-B8F2-4FD45078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2E39EE-D1E6-4F38-8202-DC04DF2A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핵심 문제 데이터: 영어 vs 한국어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BA071D-C085-453D-8F21-89205AFB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기준선 A만 놓고 보면 영어와 한국어 사이의 격차가 바로 보인다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A35CAD-3ED4-4735-ABFB-6D133E6D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667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D153A7-A36F-4E86-BA08-1EA374EC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5779F8-139F-4C04-B533-4C650961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6343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영어는 잘 막지만 한국어 의미형 PII는 절반 수준까지 떨어진다.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A1926B-27ED-4650-8303-EC3609A1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6A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038274-E2E8-4AC2-A98E-498FC3AD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A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8F0E6A-69F6-44E6-B129-D9BF5E95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43125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영어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BCDB4D-8DB9-442D-A561-5A83D809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7645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8C2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B4DF18-6ADB-4D83-BD44-1F0C78D2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171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148F44-54CD-4343-A252-42726BBD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143125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한국어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25033F-5102-4E5A-8C77-8F40B9AD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7645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92D20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D0F88C-AD46-441D-941E-E1A4E5B0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171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901696-BB9F-474E-BEA1-442B59F8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43125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한국어 의미형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537C7C-B41C-4F13-8343-05D397D9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6858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914400" y="2724150"/>
          <a:ext xmlns:a="http://schemas.openxmlformats.org/drawingml/2006/main" cx="6438900" cy="2724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d1caf889b254628"/>
          </a:graphicData>
        </a:graphic>
      </p:graphicFrame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BA663E-F4CA-42F2-9098-424DA538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86050"/>
            <a:ext cx="3429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5CDB5A-1E6C-4DD1-8001-A59CA578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86050"/>
            <a:ext cx="342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12B5D7-B940-4C3D-9959-21A21DAF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086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-29.51%p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A66FF4-A1EF-48D6-8866-4D8CB446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90900"/>
            <a:ext cx="3086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한국어 vs 영어 격차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CAE7D3-0812-440A-8DCA-A407AEF2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71950"/>
            <a:ext cx="3429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DF825E-A819-4283-AB34-03695861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71950"/>
            <a:ext cx="342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F789DF-27E6-4D6A-B038-F917CD4D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43400"/>
            <a:ext cx="3086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-49.75%p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6E2571-7E01-411D-8191-62B40A7F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3086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의미형 vs 영어 격차</a:t>
            </a:r>
          </a:p>
        </p:txBody>
      </p:sp>
    </p:spTree>
    <p:extLst>
      <p:ext uri="{BB962C8B-B14F-4D97-AF65-F5344CB8AC3E}">
        <p14:creationId xmlns:p14="http://schemas.microsoft.com/office/powerpoint/2010/main" val="73205513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52ECFD-93A6-46FD-B7D6-862DD64E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A7C547-EABC-4B42-8143-08E17087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ECEBA7-EB9E-4986-AEC9-476602BB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8332C-9618-4DE2-BEA6-65F6E4ED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AFA6B1-7535-4FD5-ACD3-79EF17D2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결과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20744E-C5C5-4CB2-A1F2-4D29F9D6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17 / 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83828F-5D31-47EB-A7B7-166DF395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73798B-9F96-45BB-B420-E19357ED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무엇을 특히 놓치는가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93E7E8-F124-4290-8388-302F4FD8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Baseline이 특히 취약한 PII 유형은 대부분 한국어 텍스트형 PII다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55889A-5256-4B96-984F-E2F37C41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239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8BA285-053F-4A00-BAFF-4CB3407D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492D7-07EE-493D-9B05-A4ADA056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691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session, court, allergy, company, job_title에서 실패율이 극단적으로 높다.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82286E-7B30-467D-8F02-27B59D4B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79819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933450" y="2667000"/>
          <a:ext xmlns:a="http://schemas.openxmlformats.org/drawingml/2006/main" cx="752475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0d1ae971b1b477b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43248B-1604-455C-B3FA-8C01166F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62200"/>
            <a:ext cx="2457450" cy="35242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DECE16-9A27-4992-9BA2-5B70F18E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289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8A2B3"/>
                </a:solidFill>
              </a:defRPr>
            </a:pPr>
            <a:r>
              <a:rPr sz="900" b="1">
                <a:solidFill>
                  <a:srgbClr val="98A2B3"/>
                </a:solidFill>
              </a:rPr>
              <a:t>읽는 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B6B897-A84B-4851-8D00-A50F5FB9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09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67D7F9-D0B7-4BE8-A115-D7067870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14650"/>
            <a:ext cx="1714500" cy="426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막대는 baseline A의 real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bypass rate(%)다.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707470-6853-4831-A8F6-0A61B124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5092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1FA3F8-4E8E-49CE-8C98-700295BA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55670"/>
            <a:ext cx="171450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높을수록 기존 스택이 놓치는 비율이 크다.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4AA326-4E5F-4925-A7A8-34F497AF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9763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00A250-82F7-4938-9894-96F762FE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02380"/>
            <a:ext cx="1714500" cy="426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상위 유형 대부분이 한국어 의미형 또는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문맥형 PII다.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54D847-6CB2-4BB3-B3EA-44108A00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819650"/>
            <a:ext cx="1714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78E213-032E-4A68-85C1-B74B8D85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819650"/>
            <a:ext cx="1714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4D9A76-7ABE-45C5-9C5E-F6928CC5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33950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95.89%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4EA2C0-B203-4FA9-A7C5-8786B5CC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20065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session bypass</a:t>
            </a:r>
          </a:p>
        </p:txBody>
      </p:sp>
    </p:spTree>
    <p:extLst>
      <p:ext uri="{BB962C8B-B14F-4D97-AF65-F5344CB8AC3E}">
        <p14:creationId xmlns:p14="http://schemas.microsoft.com/office/powerpoint/2010/main" val="12086122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42074-3EB0-447D-B593-3CE02202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A04416-1DD4-4C33-8305-306BA9C0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03E3D1-4076-4146-82CE-7CE77FA0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82DB44-7E9B-4B85-BA85-464C969C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D33AB-2842-459F-AB5C-9F66794D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결과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F10443-AD95-4112-87A8-0E68FADD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18 / 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2E68B-1E8B-4D69-B1A7-1BE6CF5E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1107C7-73A1-4429-A306-6DDB75CC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4-way 전체 비교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FFD16D-9C68-4A05-96B6-BC91389E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L0 포함 구성이 LLM Judge 포함 기준선보다 높다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51355C-1A7A-4C66-B2D4-0E1459E2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905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22A6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5CBA55-A68B-4F00-9318-CA78A28F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64B2EA-2594-464D-A8FB-A4972E0B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5581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전체 10k 기준에서도 C(+L0)가 B(+Judge)보다 높다.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34900D-8B0D-49F2-B90D-EF5B2A08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A909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A5386D-B066-40D2-AE4B-6545449C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90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E979A8-CFC2-43DF-B64C-276FC5B2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43125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A 기준선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C03081-26AD-405D-8982-2ED030AD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76450"/>
            <a:ext cx="952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3A8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A43EBD-913C-4AAF-A6D7-3653FDC7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171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A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B82CE9-A9F4-4688-A967-6B3545D1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143125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B + Judge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3E0118-0961-46FC-9557-76F16496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07645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A66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8CA5DA-2F0F-4C11-A138-341FFCB1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71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459B76-D953-4DD3-9A1C-48F6812C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43125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C + L0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F26D0D-169E-4448-8FF9-B6F50063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7645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62CB69-F38F-4860-B233-BCB13D2B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171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4096A2-8CF1-48E8-9746-0E6E346A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43125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 전체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FBDAD1-E3F7-45ED-93A2-A0A3EF98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723900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933450" y="2781300"/>
          <a:ext xmlns:a="http://schemas.openxmlformats.org/drawingml/2006/main" cx="6781800" cy="2552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9603ad05c634995"/>
          </a:graphicData>
        </a:graphic>
      </p:graphicFrame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CB5811-392C-4D58-9B83-111CC85D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90800"/>
            <a:ext cx="2952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CAAFCE-7D06-4EBD-9EF8-FB00E301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9080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807F5F-FA19-4330-9288-95EA32F6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62250"/>
            <a:ext cx="2609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94.32%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3015A4-CD63-463B-BB1F-811EA109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95650"/>
            <a:ext cx="2609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C = L0 + 기존 스택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6B9C59-A906-486F-9B14-87D0583F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43350"/>
            <a:ext cx="2952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0B56F1-4847-4D8B-8F9D-325A6F38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4335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57E39B-11D5-4DA4-B7E2-8129F79D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14800"/>
            <a:ext cx="2609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+3.36%p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0CDF9B-2CEC-4873-8A97-199543A9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48200"/>
            <a:ext cx="2609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C가 B보다 높음</a:t>
            </a:r>
          </a:p>
        </p:txBody>
      </p:sp>
    </p:spTree>
    <p:extLst>
      <p:ext uri="{BB962C8B-B14F-4D97-AF65-F5344CB8AC3E}">
        <p14:creationId xmlns:p14="http://schemas.microsoft.com/office/powerpoint/2010/main" val="20056059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150CFF-EA94-4DB4-A3C9-D2398383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970629-9D2E-4E7E-924F-D56F5844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FAAC67-A294-433D-AC95-AD26A5B1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C36588-F776-4ECF-AF9E-53FC7BB8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69983-9F40-47BE-8A3F-DE5CDEFA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결과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A16502-615E-4281-9161-AA4BEDA0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19 / 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B81617-DF0F-4B28-A2C6-A4F73FE3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98AB2B-B183-44AC-9CF5-DB9C5AF9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4-way 한국어/영어 분리 비교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93EBC5-5DA6-4B4A-A60B-F149D546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개선의 대부분은 영어가 아니라 한국어에서 나온다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547248-5037-4EC3-82C4-5290D36F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905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F28C2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14C4CD-CB4B-4E3A-B11B-700E3C0D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32B4C9-C21A-48C3-B032-FA16F4A5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5581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영어는 이미 포화 상태고, 한국어가 실제 개선 구간이다.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934F7F-0D23-46DF-B300-8BABAF91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A909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CDDF61-6847-4126-8D2C-F280A82C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90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AA20EB-CFFE-4184-B0C4-D11002EA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43125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A 기준선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BFA60A-69A2-4B78-B527-F614B747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76450"/>
            <a:ext cx="952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3A8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CFB2B9-97E1-4B3F-9DB7-4A88E2F8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171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A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CED79C-949A-4456-B066-1FD0FC27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143125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B + Judge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821B03-AE7A-44B1-9F94-F75CB7A6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07645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A66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F2641F-C1BD-42FE-BCCD-95EBBAA8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71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7B2E67-4B17-45EC-B73C-F4108AD1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43125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C + L0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B0FAFB-A096-4069-B8EE-26E6418B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7645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BA29A1-936F-4029-B4A1-E38F9860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171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0FB7A4-2927-457C-833F-F2CF44D0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43125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 전체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C311CC-FBFB-4A6C-80C6-4FD7343D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80962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933450" y="2724150"/>
          <a:ext xmlns:a="http://schemas.openxmlformats.org/drawingml/2006/main" cx="7639050" cy="2724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a95196d25e4425b"/>
          </a:graphicData>
        </a:graphic>
      </p:graphicFrame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A2E6D8-F57A-47B4-AD5A-0C997E8D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09850"/>
            <a:ext cx="22479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0C8292-FE28-41A5-BAD7-747141FE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09850"/>
            <a:ext cx="2247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A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3E0E25-5801-465F-ADB5-A79F7271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81300"/>
            <a:ext cx="190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99.37%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EAF791-D5BF-4052-AA0E-321C6476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147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영어는 이미 포화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09AE62-4314-4805-AF4B-D1EA9A4F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57650"/>
            <a:ext cx="22479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FA0239-8BA5-459A-AB29-01FF3B5C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57650"/>
            <a:ext cx="2247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1F67FC-F686-4F83-A5B6-9DD9CA47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229100"/>
            <a:ext cx="190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96.08%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C4FBDA-0F83-485E-ABDB-FCAC2FCD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7625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한국어 전체 스택</a:t>
            </a:r>
          </a:p>
        </p:txBody>
      </p:sp>
    </p:spTree>
    <p:extLst>
      <p:ext uri="{BB962C8B-B14F-4D97-AF65-F5344CB8AC3E}">
        <p14:creationId xmlns:p14="http://schemas.microsoft.com/office/powerpoint/2010/main" val="3198323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F81DB-ECDE-4196-807F-4FABD81A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13250-2BA4-431E-ACF6-269C81A9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70BA66-1E5B-454B-A4BC-0FF1299A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3AB398-8932-4006-A4BF-D76DAF56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2EAD5A-BC1E-462F-9A25-E4DB1F39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결과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7E0F4-53DD-445C-B6EC-B6272BAB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20 / 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994C60-2773-46B2-AD16-5496CE12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12C667-B392-4488-8E9C-42D125B4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한국어 의미형 정면 비교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76833D-0B9A-4A56-A3BE-AE11A766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이 발표의 핵심 figure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3DD9F4-1CF4-4C70-B164-038B47CA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239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831F39-9A52-445D-BD3F-E4A44337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310106-E79D-474F-9C80-FCFF7EBB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691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L0가 GPT-4o-mini Judge를 한국어 의미형에서 +8.99%p 능가한다.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1AF120-561C-469E-9045-90433E20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A909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B33E5D-8CFB-4DBB-843D-5531C4C1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90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46E8D1-C95B-4B6E-B203-3DC8779B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43125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A 기준선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FDA4BA-DF35-4713-9197-927526AF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76450"/>
            <a:ext cx="952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3A8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AC37DF-8047-44EC-BD58-2F222E89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171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3A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11FFA6-5321-4B14-9A4E-83B2BA3C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143125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B + Judge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EA166D-5497-46C6-9C2D-5C3174F1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07645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A66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679A7C-94D5-456B-A42B-8D0A2C73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71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9191CF-2D5B-4666-BE52-738C4B1B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43125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8"/>
                </a:solidFill>
              </a:defRPr>
            </a:pPr>
            <a:r>
              <a:rPr sz="900" b="1">
                <a:solidFill>
                  <a:srgbClr val="101828"/>
                </a:solidFill>
              </a:rPr>
              <a:t>C + L0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1313E1-04DF-4ABA-AF34-17DBA7A8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7645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FCD862-6C7D-47D1-8D54-66F617B8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171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2502C9-C364-47B5-87CD-53969E66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43125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 전체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CC53DD-CD88-4D1F-8D04-090BA31B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723900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933450" y="2781300"/>
          <a:ext xmlns:a="http://schemas.openxmlformats.org/drawingml/2006/main" cx="6781800" cy="2552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df95838887427c"/>
          </a:graphicData>
        </a:graphic>
      </p:graphicFrame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28F2AE-DDC0-4A8D-9788-8DEE8B81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90800"/>
            <a:ext cx="31051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F60511-2C41-4EE0-8AFF-B68920E6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90800"/>
            <a:ext cx="3105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28B484-6944-4EA6-9BC2-CCEC75FB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62250"/>
            <a:ext cx="276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96.39%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12BD58-B326-46E3-9A1A-0563F6A2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95650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C = L0 + 기존 스택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733C64-E3E4-4B89-815E-AF456D49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43350"/>
            <a:ext cx="31051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D568FD-BB14-4225-A75D-91CEC0B4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43350"/>
            <a:ext cx="3105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35E81B-98AA-4BB5-A365-12874780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14800"/>
            <a:ext cx="276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+8.99%p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7C4304-0249-4467-A9E2-16C79647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48200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C가 B보다 높음</a:t>
            </a:r>
          </a:p>
        </p:txBody>
      </p:sp>
    </p:spTree>
    <p:extLst>
      <p:ext uri="{BB962C8B-B14F-4D97-AF65-F5344CB8AC3E}">
        <p14:creationId xmlns:p14="http://schemas.microsoft.com/office/powerpoint/2010/main" val="203123376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2564B6-1A92-49D3-A4F1-A4B22A58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52E055-88AD-43AD-B2B5-006B2FFB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EC3E51-A882-4695-BE96-6979CDDB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645DE7-0B17-4367-B572-F33C120F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0A950-152B-46A1-BC83-6B64D27D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결과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0B0CDD-AFDA-4D7B-B20E-101E2314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21 / 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155353-893C-477A-A6DA-B39BEE05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B4DA3C-9A85-44A3-8241-378FB6F1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L0 단독 성능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0A8ECC-A2ED-4CE9-B7A0-BF89EE63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단독 수치를 따로 보여줘야 보강 계층이라는 해석이 정직해진다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675861-8C44-4E7B-BB6F-BDC77E9D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858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22A6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50B927-2A5F-4EB1-96D1-CAEAB01B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B8395E-87B4-4F49-8401-5FE7301C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653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L0는 단독 엔진이 아니라 한국어 보강 계층으로 보는 것이 맞다.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BB517B-9D59-4BDC-AC58-D34CAD9B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2381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2EB65F-3890-4022-8CAD-E12846AE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0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6C23BE-4CDD-4F79-9DAA-D71447F6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86050"/>
            <a:ext cx="2038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30.96%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290583-E1CD-42AC-9DEA-BF5DFA99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전체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9FA1DF-1979-4CDE-B25C-85CE4C44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14600"/>
            <a:ext cx="2381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64656D-05CF-4553-8BF4-9A8A282F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1460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D07AFC-E6A7-4732-B87A-D3CFB68B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86050"/>
            <a:ext cx="2038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47.54%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E9219C-0ABF-4348-8FBE-AAC12A69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194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한국어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FFE50B-6509-4B38-8065-3B308DA9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14600"/>
            <a:ext cx="2381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9066DF-38D2-4F66-BFA3-04C85E78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1460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7792A6-4AC1-4321-A91B-AF5123FB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86050"/>
            <a:ext cx="2038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80.65%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B76AD8-BD72-48F5-9038-9047BB43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194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한국어 의미형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FC8F1A-CF93-46E3-899C-B88358D3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14600"/>
            <a:ext cx="2381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8DF51F-2A56-4897-A5AA-9A5875C9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1460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A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BA837E-7B68-48E8-8FB4-F5E81219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86050"/>
            <a:ext cx="2038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0.00%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1DA032-339A-4F0F-852A-A488CCE9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194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영어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2F39EE-F86F-49E2-A163-D23AF57C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102679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19F99B-1073-4D3F-8381-77F458F8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81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0B71D2-8F88-4123-844D-C9359D40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86300"/>
            <a:ext cx="963930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한국어 의미형만 놓고 보면 80.65%로 강한 편이다.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B0CE23-B3DB-4D69-AD3A-61605329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2826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AE0CA3-0379-4D28-976E-F91DCC3C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33010"/>
            <a:ext cx="963930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하지만 영어 0.00%, 전체 30.96%이기 때문에 전체 보호 엔진으로 말하면 과장이다.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E0F4EC-ADC7-4463-A78B-79AEC963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749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275136-04F0-4CA8-8BBF-C00DF2A5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79720"/>
            <a:ext cx="963930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따라서 L0의 정체성은 '한국어 보강 계층'이 가장 정확하다.</a:t>
            </a:r>
          </a:p>
        </p:txBody>
      </p:sp>
    </p:spTree>
    <p:extLst>
      <p:ext uri="{BB962C8B-B14F-4D97-AF65-F5344CB8AC3E}">
        <p14:creationId xmlns:p14="http://schemas.microsoft.com/office/powerpoint/2010/main" val="99661786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62189D-23EB-47F9-8721-75F612CB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01C7B1-CF6B-4930-AA6C-5D907AAA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71A869-647E-4C62-8D76-4ABFE979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9AEF1D-A89A-40C0-BF99-62DF967B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FFDB22-B284-431D-AEC2-9BEE1590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결과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0287FD-A39F-4A31-B131-14CCDADA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22 / 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2B53B-FCE8-48B0-89BD-39590593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408CAC-8DCD-4129-8282-1DEF3DDB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L0 단독 성능의 해석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722D00-C838-4CFB-BC5E-AFE4DB70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무엇을 잘하고 무엇을 의도적으로 하지 않는지 분리한다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23BFB4-44AD-4529-8CBB-F7C80414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D4A72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E33BA7-544A-4264-A309-275EE73C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F08F35-22FA-41F7-82B5-11BD2224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5772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L0의 강점과 한계를 같이 보여줘야 발표 논리가 정직해진다.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D1D96E-5153-4E26-80E3-ACB0F3D5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5052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4713DB-AEE2-421D-922D-4CCE7F6E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95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49A7B4-2EC1-438F-ADD0-096E25B5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잘하는 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F8F2AC-3E49-4743-8C64-18F9DCA7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3105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한국어 의미형 80.65% 한국어 의미형 PII</a:t>
            </a:r>
          </a:p>
          <a:p xmlns:a="http://schemas.openxmlformats.org/drawingml/2006/main"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보강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69E8F3-5818-4577-93B8-00FB851F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47900"/>
            <a:ext cx="35052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AA3B2B-CB50-418B-9C1C-93330354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47900"/>
            <a:ext cx="95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A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B577FD-35C5-40BE-8ED1-C451C5DC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76500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의도적으로 안 하는 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06EA2F-12C1-409A-B10C-183DD791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33700"/>
            <a:ext cx="3105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영어 0.00% 영어는 기존 스택에 맡김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809949-AD96-4CE3-A912-C9D07220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47900"/>
            <a:ext cx="35052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07E208-E115-4060-B295-B372560C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47900"/>
            <a:ext cx="95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B6F951-FACC-451F-AACD-D60D295E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76500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약한 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CCC2A6-D130-4E5C-94BA-ED16F3FA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33700"/>
            <a:ext cx="3105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KR checksum 18.58% 체크섬형은 기존</a:t>
            </a:r>
          </a:p>
          <a:p xmlns:a="http://schemas.openxmlformats.org/drawingml/2006/main"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스택이 더 강함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43A6CE-DF49-4685-9169-88687996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819650"/>
            <a:ext cx="44196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C8707C-086D-4505-8B40-52FE4A4F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819650"/>
            <a:ext cx="441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636916-5553-4FB9-BA90-7D956F18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933950"/>
            <a:ext cx="407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한국어 보호 엔진이 아니라 한국어 보강 계층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88D795-931F-41F1-8903-3368F61B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200650"/>
            <a:ext cx="407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발표 해석</a:t>
            </a:r>
          </a:p>
        </p:txBody>
      </p:sp>
    </p:spTree>
    <p:extLst>
      <p:ext uri="{BB962C8B-B14F-4D97-AF65-F5344CB8AC3E}">
        <p14:creationId xmlns:p14="http://schemas.microsoft.com/office/powerpoint/2010/main" val="80956157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C67F53-6EA5-42C5-9433-59ECD92D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FAFB9-F53D-49FC-9CE7-CF619537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DBA5B6-FF46-4313-B6A7-71D24FA9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59B840-E5F0-4167-A77C-5158EE5D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022FCB-9A70-4EFF-8982-3710A99A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검정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9AFD82-7E78-4047-8F76-C7C59715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23 / 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4F11E2-F294-4A6D-8BD6-8E90D06C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1F0DE0-E4B9-4262-961F-06417DF8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통계 검정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51AF97-248F-4E4B-BE4E-FA9AF927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숫자 차이가 우연이 아니라는 점을 B vs C 한 장으로 정리한다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E1D777-E491-4148-B629-CDF17602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477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C4D259-50C4-4B7F-BAF1-190C8179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A13D0F-0B23-4169-A16A-BF44739B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6153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B(+judge)보다 C(+L0)만 맞힌 케이스가 훨씬 더 많다.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1DB780-993E-46DD-9E81-D7E4D8E5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65722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990600" y="2762250"/>
          <a:ext xmlns:a="http://schemas.openxmlformats.org/drawingml/2006/main" cx="6000750" cy="2362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8ad06bd047e459d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14C361-5332-43DD-9331-ED0C8295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00300"/>
            <a:ext cx="36766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0C330B-9FCA-40FF-835E-D5920111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24150"/>
            <a:ext cx="142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967DDA-FA2C-4DA1-B490-FCAA0DD8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24150"/>
            <a:ext cx="1428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366B9D-6C08-4380-9032-1DF332F1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57500"/>
            <a:ext cx="1085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291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FD24B6-76F3-422C-9099-44A6CE62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1945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B only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FB10E1-C473-4F0D-803B-39758A61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24150"/>
            <a:ext cx="142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32EB08-9798-46FB-A477-AB5B8ADD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24150"/>
            <a:ext cx="1428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E42375-79B6-4258-82F6-47034E79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57500"/>
            <a:ext cx="1085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627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3FB4F3-0712-4C3E-94A0-E586497C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21945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C only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FD9268-5228-4402-8AD1-45197052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48100"/>
            <a:ext cx="30289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8A547D-83A7-4D09-BB90-270DEA32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48100"/>
            <a:ext cx="3028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92E80F-F79F-4611-B797-6297EB1B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814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336건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BB2BB3-D5A8-4BF1-BB6D-7FBB4983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2686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차이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0F62DD-9F82-4C4E-B925-94E77D96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48250"/>
            <a:ext cx="3028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 &lt; 2.04e-28</a:t>
            </a:r>
          </a:p>
        </p:txBody>
      </p:sp>
    </p:spTree>
    <p:extLst>
      <p:ext uri="{BB962C8B-B14F-4D97-AF65-F5344CB8AC3E}">
        <p14:creationId xmlns:p14="http://schemas.microsoft.com/office/powerpoint/2010/main" val="61700156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566FC6-9461-4130-9AA7-950CA70A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0FC52-BA41-46EC-B06F-A4DDF1F0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3A46B2-CEC1-492A-A0F0-6B37EA83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D598A1-E86E-4825-B575-BD87C30F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1E3B86-EB34-47A0-BD26-210922A7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검정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E26404-5B8D-4CD0-863C-821807C9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24 / 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7F919F-35CD-4392-8FDC-E8CD7D10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A983DF-6961-425D-8ED7-D42B3437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구성 요소 분석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F2182F-248F-4147-857C-9B07048C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효과의 대부분이 정규화보다 사전에서 나온다는 점을 분리해 보여준다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5FA986-2210-4E88-A745-5598E315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667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A8486A-791A-42EB-A0D1-21B97193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25BD41-8992-467E-88AA-3F019AEB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6343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한국어 의미형 개선의 약 96%가 사전에서 발생했다.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4533A7-C491-4C10-A8C2-022A65FB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72390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952500" y="2762250"/>
          <a:ext xmlns:a="http://schemas.openxmlformats.org/drawingml/2006/main" cx="674370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7f8252dd6434dab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A3EC83-C3C5-4407-88BC-0E1AFEC6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33650"/>
            <a:ext cx="2857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343569-B191-4092-B2B8-3D20C301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3365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720E74-4324-4251-AF97-49135B6F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4795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+0.31%p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BCD19C-05BF-4AA6-BCA2-C4BBC35B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14650"/>
            <a:ext cx="2514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정규화만 적용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02D5F8-70CA-46B8-97D8-C55A135A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0"/>
            <a:ext cx="2857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F460E9-EFB0-4B2E-8DFD-9C25013D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113C9E-6675-4F38-9B3F-4D3D5B17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338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+38.10%p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35486A-0A68-4F17-9612-034A8575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00500"/>
            <a:ext cx="2514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사전만 적용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1822AD-F0C1-43A1-9E7E-2DDD0021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05350"/>
            <a:ext cx="2857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1597D5-2058-4DD9-9820-8629F22E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0535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3D71D1-ADE7-4074-AF10-E7337A3A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1965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+1.14%p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98695F-D41D-4D28-89C3-7533EACB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86350"/>
            <a:ext cx="2514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시너지</a:t>
            </a:r>
          </a:p>
        </p:txBody>
      </p:sp>
    </p:spTree>
    <p:extLst>
      <p:ext uri="{BB962C8B-B14F-4D97-AF65-F5344CB8AC3E}">
        <p14:creationId xmlns:p14="http://schemas.microsoft.com/office/powerpoint/2010/main" val="199372896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805CDD-BA85-40B5-A386-25D9CC75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64142C-95FA-4AE9-B102-BD3BABBD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198E95-20F0-4BDC-BE91-B5E33F04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61C97C-0AED-484B-B8D2-1E90369A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35B8D-E144-418D-ADA1-4D2A555E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운영성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06682F-7BA9-4C31-AEA7-D75092EE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25 / 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0DF2F9-487A-495C-829C-62425939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66F44F-9A1A-4779-9237-13EB0625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지연과 운영 비용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41AC16-424A-4361-A0B0-09399C4C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L0는 Judge보다 빠르고, Judge 호출 자체를 크게 줄일 수 있다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4FDBE4-74D0-404A-AF98-66557370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572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22A6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5F8FC5-4271-4C7C-BEAA-8F2393DE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3C3157-0013-4CD2-9F90-2703CA38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824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C(+L0)는 B(+Judge)보다 훨씬 빠르고, Smart Cascade와 결합하면 운영 부담도 낮아진다.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D031BD-8B9A-438A-8826-E65CC992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499110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D77896-B3BB-4F44-9B9A-E7D88561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p99 지연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FCF305-15C4-4360-A83E-3705DE38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20193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37F380-E314-46F8-8C9F-99DF0D29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2019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5141F0-B03C-4EB0-8744-B27051C4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4,819ms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D048D9-F957-4529-8FF4-B28BFCDA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B + Judge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E3623A-5444-4C37-8E5C-2EF2D22D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05150"/>
            <a:ext cx="20193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9482EB-728F-4587-A60E-446E51EA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05150"/>
            <a:ext cx="2019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405189-76DC-4DD5-83AC-463BD269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7660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830ms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BD2572-409E-457B-90C0-17DDFA12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1000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C + L0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D588EF-5577-404B-81BA-6A9E5351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33900"/>
            <a:ext cx="2019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8323A1-CA65-45FD-8822-372D0C97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33900"/>
            <a:ext cx="2019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99C79E-C3DB-4002-8A1F-9986A5BA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4820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135ms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4FD195-D1AA-43F7-82E7-EB4FAA23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14900"/>
            <a:ext cx="1676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L0 단독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2226F3-266E-4F22-86AA-808A803A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521970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7C33CA-4FFB-495F-AA88-9FF515B2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860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1만 건 요청 기준 운영비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32EE70-867A-4A45-B28F-50E0E796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05150"/>
            <a:ext cx="21526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FF3315-77DC-4492-B18B-C60E6909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05150"/>
            <a:ext cx="2152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D2ED67-2F90-4388-9DCF-C7AB226B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766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94.32%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0D9421-20F1-4AAA-95E2-31314EF3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100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L4 호출 절감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A784F1-EBDA-4080-8F1A-6B592C41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05150"/>
            <a:ext cx="21526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17DBA8-EBC1-46A2-92BC-36831EC3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05150"/>
            <a:ext cx="2152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8BFF36-EEED-4FF9-8836-ED63416B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766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$1.27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6DB80E-76AF-4F1D-A671-BF9097CC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100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1만 건 기준 추정 절감액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A9C277-257C-4DD0-8BAE-57DA373D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533900"/>
            <a:ext cx="21526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8319AB-E91F-43AD-BF8D-70BDA264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533900"/>
            <a:ext cx="2152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62330F-5753-4CB7-B980-D5EBFE45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6482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97.23%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3B0FE6-E4E6-48C4-8A03-8797092C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1490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최종 TRUE 유지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FA6B708-0CD0-4AE5-A774-780E5813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391150"/>
            <a:ext cx="4438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동일 Judge 호출 가정 기준 추정치</a:t>
            </a:r>
          </a:p>
        </p:txBody>
      </p:sp>
    </p:spTree>
    <p:extLst>
      <p:ext uri="{BB962C8B-B14F-4D97-AF65-F5344CB8AC3E}">
        <p14:creationId xmlns:p14="http://schemas.microsoft.com/office/powerpoint/2010/main" val="25601785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A5DAF5-6B83-47E7-8AC6-2E4CB231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083500-A3A6-442F-81B1-36DB0092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B5979A-81E0-439A-AA6D-433FFCC7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590960-9372-4A23-A9FD-E02C9322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5A917E-0E80-4E81-BF7E-5C10C3AC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운영성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35B0B7-99E5-43FC-92C4-22A8BD83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26 / 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F87E8-D17D-4AF4-9771-11218628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50EAD9-E8D3-45E0-8114-0852D380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스마트 캐스케이드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480A21-A747-4000-8006-5D2D7E1D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L4 Judge를 필요한 경우에만 호출해 비용과 지연을 줄인다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EC6D55-70C9-48CF-9898-EE96EF92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00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22A6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B39F03-AACA-4ED4-BB45-6B571B75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5350F5-FEB3-4DE5-B442-06194B83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7677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10,000건 중 568건에만 Judge를 호출해도 최종 TRUE rate는 그대로 유지된다.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223BFB-1DE0-49E8-8BB0-D3C28255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9715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E11DEE-028F-46E8-B155-7A078A7E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0035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10,000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F50452-4ECF-4186-9687-92E030E5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956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전체 케이스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5D98B6-7D2E-493F-9BCC-C156BD06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24250"/>
            <a:ext cx="8382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7FE9AA-109C-427E-A96A-CCC4743D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6576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9,432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FFFBE6-07A6-4B02-9636-2513A799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528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L0~L3에서 neutralized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47DD21-2736-40F9-A807-7F83B543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81500"/>
            <a:ext cx="5334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03A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634CAB-841E-4859-A491-68327C21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51485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568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4FAC98-8A20-441A-8E60-8F871907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101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L4 Judge 호출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434F4F-8AE4-48FB-BC07-3F1633F0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38750"/>
            <a:ext cx="3048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9827A2-9EC6-49FC-B187-34C42E74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3721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291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3F7A37-95EA-4450-AD9B-93FECEAE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4673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L4가 추가 회수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F61B97-9899-42BC-A8EE-AA936C6D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05050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567249-69DE-4628-9B72-B818FEB9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050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55DBE5-A7C2-4253-987C-F0C5222A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38400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94.32%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928345-E987-4A1D-9CFE-8579A9AE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003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L4 호출 절감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AE8512-6EBD-4A1A-88D1-77866000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90900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C61970-67EA-4CA6-B732-88AD3A07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9090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522886-72AB-471A-AAAE-FD633ACD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24250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97.23%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75AAB0-02B1-4729-A8CF-3782DBB0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8620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최종 TRUE 유지</a:t>
            </a:r>
          </a:p>
        </p:txBody>
      </p:sp>
    </p:spTree>
    <p:extLst>
      <p:ext uri="{BB962C8B-B14F-4D97-AF65-F5344CB8AC3E}">
        <p14:creationId xmlns:p14="http://schemas.microsoft.com/office/powerpoint/2010/main" val="91024911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B6769-CE86-4FD4-B085-EF6DB589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7BD9DB-D480-4025-9867-06B44202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58250D-B437-4253-BBF9-8A6D2686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434716-F529-47CE-83BD-F2D194CE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99EFA9-E4B5-4CFA-AC27-3714962A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운영성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091B5C-2C30-4E82-BA2F-896AF465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27 / 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C2CC0C-EA3D-479B-9D2A-0E53A17F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8B63B5-9CFC-4B57-ABC2-A4C7C56E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강건성 검증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7B427F-362B-4B23-8586-F37C7E49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데이터를 더 어렵게 바꿔도 L0 우위는 유지된다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50EB2D-460C-4D9A-ADBD-7828FB49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572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9BBB66-6298-4AAE-8C18-143303F7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CA97EC-522E-4EC1-8B45-8B192E99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824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한국어 의미형에서 B-C 격차가 +8.99%p에서 +10.65%p로 오히려 커졌다.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C7C83D-B414-4D5E-B61E-A8FD7B18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723900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933450" y="2724150"/>
          <a:ext xmlns:a="http://schemas.openxmlformats.org/drawingml/2006/main" cx="678180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d38723b017545a8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0D240D-29C7-4AEE-A6EC-7487C3D1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33650"/>
            <a:ext cx="2857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F44247-7FD6-4139-9C82-53B961DF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3365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65A41B-A722-44BE-9C24-EDDF7D30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4795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+8.99%p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D8F52F-580A-46C1-A282-76E9A4E9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14650"/>
            <a:ext cx="2514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v1 격차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5FA6DF-3C86-430A-93B0-7EF5ADEF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0"/>
            <a:ext cx="2857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EA959D-D6CC-48C3-AE20-A9AD8585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C7B3CF-7715-4600-A35E-8C104105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338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+10.65%p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9D617B-35DF-4336-98E4-7657605C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00500"/>
            <a:ext cx="2514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v4 격차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AD9ACC-9E1A-43A6-9595-3372B45E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05350"/>
            <a:ext cx="2857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8C020F-1F0C-45CF-8783-BFDBB5D3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0535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6B9CFE-725F-41CA-8F0D-3E5B185B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1965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94.99%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1FEF81-7937-44B4-B190-23A74CF3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86350"/>
            <a:ext cx="2514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v4 전체 C</a:t>
            </a:r>
          </a:p>
        </p:txBody>
      </p:sp>
    </p:spTree>
    <p:extLst>
      <p:ext uri="{BB962C8B-B14F-4D97-AF65-F5344CB8AC3E}">
        <p14:creationId xmlns:p14="http://schemas.microsoft.com/office/powerpoint/2010/main" val="8209138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45B803-0CDE-4B11-81AB-4F115BCA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26759-849E-4EAB-84C6-BFC74F15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9CA2A-0A56-4957-9774-F0B50604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0A871-D761-44E2-91B3-974DA025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7B2B97-A984-4D05-9FB2-B8E7C89F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운영성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971F1-EB30-4147-965B-DD352FA6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28 / 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EEDAE8-179C-4491-A8AD-37C81E8E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0C1DBA-770D-49C3-B1A2-4AF7E591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오탐과 운영 가능성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8A0DAA-2CC5-47DF-90A0-7D24827A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운영 가능성을 말하려면 정상 문서에서의 오탐부터 보여줘야 한다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1A5422-EA9B-4C5C-A602-863B0BC9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334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22A6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FB79B8-ED19-41BB-B6FB-33B1FE45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159F4C-FC11-4541-892B-AE7A211B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501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정상 한국어 문서 50건 기준 FP는 2%였다.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1215AB-B0A2-4E91-AB7E-C74C076A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86050"/>
            <a:ext cx="2762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4D0AD1-C56C-4298-AF1D-78A1D650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86050"/>
            <a:ext cx="2762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806A9C-F64C-4F93-8AF8-A913860C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2419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2%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802469-8F28-4EE1-B383-B77460D0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90900"/>
            <a:ext cx="2419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FP 비율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241E4B-8335-47B7-A977-0D3E4488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86050"/>
            <a:ext cx="2762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00F6B8-AABF-4269-B577-25060395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86050"/>
            <a:ext cx="2762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4471AD-F5BB-4549-8EAE-050A770A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57500"/>
            <a:ext cx="2419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50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0C5832-EF51-44AA-8D45-82206C70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90900"/>
            <a:ext cx="2419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정상 한국어 문서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7BF769-B40D-4010-938E-83DB8EAB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86050"/>
            <a:ext cx="2762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769D52-0CB7-47E6-8557-AF1CA128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86050"/>
            <a:ext cx="2762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698FBC-4FB6-408F-B9B5-780D3D96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57500"/>
            <a:ext cx="2419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8A0C87-F32A-4C43-BB01-3D5A73A1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90900"/>
            <a:ext cx="2419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오탐 문서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596386-AE31-4A8D-A39E-48753DFD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86300"/>
            <a:ext cx="102298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4347C9-2630-4060-A54A-25868D47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149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해석 포인트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343945-0F5E-4D19-B0FB-1F8171FD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38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EBD705-B8CC-4690-BDAD-063D5C48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43500"/>
            <a:ext cx="956310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현재 저장된 결과는 정상 한국어 문서 50건 중 1개 문서에서만 오탐을 기록했다.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93F8A8-57EE-4314-871D-20EEAD11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56641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9456F7-2AFC-4DEA-9915-A2889A40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471160"/>
            <a:ext cx="9563100" cy="232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오탐 유형은 부서명 계열이었고, 운영 규칙 보정 대상으로 해석할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88143668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C27498-EBD2-4700-810A-2606C6AE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16435-A5A2-42FD-B5D8-16C74CFD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524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6A4EBD-2DEC-4E24-B95C-307418E3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A08D68-8232-4530-8B84-54297D67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-3810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DA73E5-8E8B-41F2-B67A-FCCFE577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중간발표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13CC83-398F-4746-B8C7-D71E6758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29 / 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6B9CDF-9194-4405-96E1-C9C15430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5BB0EB-B881-41AE-BE4A-FFFD70C9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중간발표 시점의 성과와 남은 과제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DBC8DF-3C3D-456E-B39C-34F81D2B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이미 증명한 것과 최종발표 전 보강할 것을 분리한다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93E963-C6AD-43F8-BAD2-E43864AF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9334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D4A72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61E997-FFB4-4FC5-9C29-F5FE4935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8B95F1-EBC2-4192-81F1-24C59861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901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939"/>
                </a:solidFill>
              </a:defRPr>
            </a:pPr>
            <a:r>
              <a:rPr sz="1125" b="1">
                <a:solidFill>
                  <a:srgbClr val="1D2939"/>
                </a:solidFill>
              </a:rPr>
              <a:t>중간발표에서는 이미 증명한 부분을 선명하게 말하고, 남은 과제는 과장 없이 적는 것이 중요하다.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B87371-1E27-4CA8-B351-6C68F29F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143500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ABEFC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4BDCF2-D178-4195-A9E3-940EBE49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5143500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A73A8F-927D-469F-B08D-A5A77919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이미 증명한 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4884F2-F512-479E-B58E-E5303127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24F2F7-4D30-481E-8AC3-47B5AB5A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0"/>
            <a:ext cx="4286250" cy="243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한국어 vs 영어 성능 격차를 10k benchmark로 확인했다.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9A1816-E479-46C6-AF17-404CE630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519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CE2171-B9ED-407B-AB93-4EB1F478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29940"/>
            <a:ext cx="4286250" cy="243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한국어 의미형에서 L0가 Judge보다 높다는 점을 증명했다.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4BBD9F-3465-47D0-8154-0AF6E616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0238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B724F7-5913-4CD1-A046-CA1F0AB9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07130"/>
            <a:ext cx="4286250" cy="243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McNemar로 B vs C 차이가 통계적으로 유의함을 보였다.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99563C-08A3-4204-B06E-5B0135F3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95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A34B9C-55E9-4D09-8D49-4EFE114E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84320"/>
            <a:ext cx="4286250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latency, cost, smart cascade, FP로</a:t>
            </a:r>
          </a:p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운영성도 제시했다.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55BB8F-9816-49F2-98EC-952B4B47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33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최종발표 전 보강할 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C3007C-44A7-497B-A8C9-27A52FF4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48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D4117D-928D-444D-947A-8B9039D4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52750"/>
            <a:ext cx="4286250" cy="243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output-side leakage 평가 추가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8E252C-CF1E-4DC9-9AB5-8112C038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2519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FF0B0E-80ED-4672-9F85-6564DBF5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29940"/>
            <a:ext cx="4286250" cy="243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prompt injection 결합 시나리오 확대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8A510E-D5F3-4541-A3D0-67C45F71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0238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AF822C-FD0F-4849-8324-6702E444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07130"/>
            <a:ext cx="4286250" cy="243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신규 PII 유형과 외부 baseline 비교 보강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7FCAD9-12A0-4A09-B4EB-69DB8FD8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95900"/>
            <a:ext cx="2286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0D77FE-7788-4798-89B0-6A845340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95900"/>
            <a:ext cx="228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FD5880-B161-4651-A120-7E086F0E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4102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중간발표 완료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AC5421-6452-47D8-83E2-2615FAEA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676900"/>
            <a:ext cx="1943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핵심 가설 검증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99C89F-704C-42D3-A39C-646DDF53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95900"/>
            <a:ext cx="2095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45280F-1B14-4C57-92A1-A5E8BC90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95900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9EE7E1-8664-4E49-818A-29832488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41020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최종발표 과제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CC88D2-1349-4185-B037-F571895E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676900"/>
            <a:ext cx="1752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4054"/>
                </a:solidFill>
              </a:defRPr>
            </a:pPr>
            <a:r>
              <a:rPr sz="825" b="0">
                <a:solidFill>
                  <a:srgbClr val="344054"/>
                </a:solidFill>
              </a:rPr>
              <a:t>확장 검증</a:t>
            </a:r>
          </a:p>
        </p:txBody>
      </p:sp>
    </p:spTree>
    <p:extLst>
      <p:ext uri="{BB962C8B-B14F-4D97-AF65-F5344CB8AC3E}">
        <p14:creationId xmlns:p14="http://schemas.microsoft.com/office/powerpoint/2010/main" val="64199146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0F3282-F38E-44C3-BB73-F9E05FD89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F7D78-16A3-46CA-93AF-D6066966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06802C-1403-4687-9365-DC2D52B0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마무리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F090D5-AA73-46F2-9361-0BBAA123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30 / 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80163D-2AD7-4EAB-BAD0-88B67F24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EA8F2-B41B-4115-9992-3DE69061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결론 및 Q&amp;A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DE23AF-1ACA-4B14-90E2-46BE9100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BC41F5-49BE-4804-8BEE-41016FED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B5DF58-5769-41EB-912C-5A3A85EC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08204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D4F95A-6712-4F57-A57C-5C1034A0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85950"/>
            <a:ext cx="952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영어는 잘 막지만 한국어 텍스트형 PII는 공백이 있다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7CC21F-AEED-408E-B8E8-298CDDC9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90850"/>
            <a:ext cx="952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Layer 0가 그 공백을 메운다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186962-71FA-427E-B66B-0A06D5E6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952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그리고 LLM Judge보다 더 싸고 빠르며 한국어 의미형에서 더 잘 잡는다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C98468-1682-419E-BCCE-0615993D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95900"/>
            <a:ext cx="21907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593B41-DD31-4D90-BAE6-C71031AD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95900"/>
            <a:ext cx="2190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A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02C03D-D07C-4FF4-8018-1B07FA3A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429250"/>
            <a:ext cx="1847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99.37%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D35CC8-2935-4B57-B3E0-52D7301D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79120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영어 기준선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9483EB-5453-455A-B9E1-779955A9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295900"/>
            <a:ext cx="21907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673727-84B8-4708-82B1-4EA5C7A0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295900"/>
            <a:ext cx="2190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A772C1-71EA-42B8-A10A-49941026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429250"/>
            <a:ext cx="1847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49.62%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E4751C-49A0-4458-9E3A-D0A4606A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9120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한국어 의미형 기준선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693079-FB46-4717-9804-95641C8D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295900"/>
            <a:ext cx="21907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E76574-BEC3-42B5-BF8C-5EBDC6D6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295900"/>
            <a:ext cx="2190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8620A6-00D2-4B4C-BD45-B2461075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429250"/>
            <a:ext cx="1847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96.39%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C30D51-3B2F-4862-8AD0-93A96C23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79120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44054"/>
                </a:solidFill>
              </a:defRPr>
            </a:pPr>
            <a:r>
              <a:rPr sz="975" b="0">
                <a:solidFill>
                  <a:srgbClr val="344054"/>
                </a:solidFill>
              </a:rPr>
              <a:t>L0 적용 후 의미형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2355E4-DD44-4E84-A2FB-1DBD7566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9245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8A2B3"/>
                </a:solidFill>
              </a:defRPr>
            </a:pPr>
            <a:r>
              <a:rPr sz="1350" b="1">
                <a:solidFill>
                  <a:srgbClr val="98A2B3"/>
                </a:solidFill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535754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2026-04-24T09:42:12.8150000Z</dcterms:created>
  <dcterms:modified xsi:type="dcterms:W3CDTF">2026-04-24T09:42:12.8150000Z</dcterms:modified>
</coreProperties>
</file>