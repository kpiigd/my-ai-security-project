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한국어 환경 다계층 PII 가드레일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v5 Final — LLM Gateway 보안 평가 &amp; 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167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A44"/>
                </a:solidFill>
              </a:defRPr>
            </a:pPr>
            <a:r>
              <a:t>핵심 기여: Layer 0 (한국어 정규화 + 키워드 사전, LLM 없음)</a:t>
            </a:r>
          </a:p>
          <a:p>
            <a:pPr>
              <a:defRPr sz="1600">
                <a:solidFill>
                  <a:srgbClr val="666666"/>
                </a:solidFill>
              </a:defRPr>
            </a:pP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GPT-4o-mini judge를 +8.99%p 능가 (KR_semantic)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지연 220배 낮음 (~10ms vs ~2,200ms)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비용 $0 (vs ~$0.0001/call)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통계적 유의 p &lt; 1e-28 (McNemar)</a:t>
            </a:r>
          </a:p>
          <a:p>
            <a:pPr>
              <a:defRPr sz="1600">
                <a:solidFill>
                  <a:srgbClr val="666666"/>
                </a:solidFill>
              </a:defRPr>
            </a:pP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지도: 임정묵 교수 | 정보보안학과 CCIT | 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Korean PII Guardrail 연구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A44"/>
                </a:solidFill>
              </a:defRPr>
            </a:pPr>
            <a:r>
              <a:t>  • 01. 연구 배경 — LLM Gateway PII 방어의 한국어 공백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02. 시스템 아키텍처 — 5계층 방어 (L0~L4)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03. 평가 설계 — validity-first 퍼저 10k stratified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04. 핵심 결과 — 4-way head-to-head (A/B/C/D)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05. Ablation — Layer 0 내부 분해 (Norm vs Dict)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06. Smart Cascade — LLM judge 94% 절감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07. 통계 검증 — McNemar p &lt; 1e-28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08. 비용·지연 — 실무 배포 정합성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09. 한계 및 향후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01.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기존 PII 가드레일의 한국어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A44"/>
                </a:solidFill>
              </a:defRPr>
            </a:pPr>
            <a:r>
              <a:t>  • Presidio/Bedrock/Lakera는 영어 중심 — 한국어 텍스트형 PII 탐지율 현저히 낮음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한국어 특유 변이 공격: 자모 분해, 초성, 한자, 동형문자, ZWSP, combining mark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기존 해결 시도: GPT-4o-mini judge를 cascade로 추가 — 지연 ~2초, 비용 $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연구 질문: 'LLM 없이 한국어 특화 전처리 + 사전으로 LLM judge를 대체 가능한가?'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02. 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5계층 PII 방어 파이프라인 (Layer 0이 핵심 기여)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167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onsolas"/>
              </a:defRPr>
            </a:pPr>
            <a:r>
              <a:t>User Input →</a:t>
            </a:r>
          </a:p>
          <a:p>
            <a:pPr>
              <a:defRPr sz="1400">
                <a:solidFill>
                  <a:srgbClr val="1F2A44"/>
                </a:solidFill>
                <a:latin typeface="Consolas"/>
              </a:defRPr>
            </a:pPr>
            <a:r>
              <a:t>  [Layer 0] Korean Normalizer + Detector   (NEW)  pre_call    ~10ms  $0</a:t>
            </a:r>
          </a:p>
          <a:p>
            <a:pPr>
              <a:defRPr sz="1400">
                <a:solidFill>
                  <a:srgbClr val="666666"/>
                </a:solidFill>
                <a:latin typeface="Consolas"/>
              </a:defRPr>
            </a:pPr>
            <a:r>
              <a:t>     ↓</a:t>
            </a:r>
          </a:p>
          <a:p>
            <a:pPr>
              <a:defRPr sz="1400">
                <a:solidFill>
                  <a:srgbClr val="666666"/>
                </a:solidFill>
                <a:latin typeface="Consolas"/>
              </a:defRPr>
            </a:pPr>
            <a:r>
              <a:t>  [Layer 1] Presidio regex + NER            pre_call    ~70ms</a:t>
            </a:r>
          </a:p>
          <a:p>
            <a:pPr>
              <a:defRPr sz="1400">
                <a:solidFill>
                  <a:srgbClr val="666666"/>
                </a:solidFill>
                <a:latin typeface="Consolas"/>
              </a:defRPr>
            </a:pPr>
            <a:r>
              <a:t>     ↓</a:t>
            </a:r>
          </a:p>
          <a:p>
            <a:pPr>
              <a:defRPr sz="1400">
                <a:solidFill>
                  <a:srgbClr val="666666"/>
                </a:solidFill>
                <a:latin typeface="Consolas"/>
              </a:defRPr>
            </a:pPr>
            <a:r>
              <a:t>  [Layer 2] AWS Bedrock Guardrails          during_call ~410ms</a:t>
            </a:r>
          </a:p>
          <a:p>
            <a:pPr>
              <a:defRPr sz="1400">
                <a:solidFill>
                  <a:srgbClr val="666666"/>
                </a:solidFill>
                <a:latin typeface="Consolas"/>
              </a:defRPr>
            </a:pPr>
            <a:r>
              <a:t>     ↓</a:t>
            </a:r>
          </a:p>
          <a:p>
            <a:pPr>
              <a:defRPr sz="1400">
                <a:solidFill>
                  <a:srgbClr val="666666"/>
                </a:solidFill>
                <a:latin typeface="Consolas"/>
              </a:defRPr>
            </a:pPr>
            <a:r>
              <a:t>  [Layer 3] Lakera Guard v2                 pre_call    ~6ms   (injection 전용)</a:t>
            </a:r>
          </a:p>
          <a:p>
            <a:pPr>
              <a:defRPr sz="1400">
                <a:solidFill>
                  <a:srgbClr val="666666"/>
                </a:solidFill>
                <a:latin typeface="Consolas"/>
              </a:defRPr>
            </a:pPr>
            <a:r>
              <a:t>     ↓</a:t>
            </a:r>
          </a:p>
          <a:p>
            <a:pPr>
              <a:defRPr sz="1400">
                <a:solidFill>
                  <a:srgbClr val="666666"/>
                </a:solidFill>
                <a:latin typeface="Consolas"/>
              </a:defRPr>
            </a:pPr>
            <a:r>
              <a:t>  [LLM — GPT/Claude/etc]</a:t>
            </a:r>
          </a:p>
          <a:p>
            <a:pPr>
              <a:defRPr sz="1400">
                <a:solidFill>
                  <a:srgbClr val="1F2A44"/>
                </a:solidFill>
                <a:latin typeface="Consolas"/>
              </a:defRPr>
            </a:pPr>
            <a:r>
              <a:t>     ↓</a:t>
            </a:r>
          </a:p>
          <a:p>
            <a:pPr>
              <a:defRPr sz="1400">
                <a:solidFill>
                  <a:srgbClr val="666666"/>
                </a:solidFill>
                <a:latin typeface="Consolas"/>
              </a:defRPr>
            </a:pPr>
            <a:r>
              <a:t>  [Layer 4] GPT-4o-mini Judge              post_call   ~1,542ms  ~$0.0001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03. 평가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10,000 stratified payloads — lang × validity_group 균형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0"/>
              </a:tblGrid>
              <a:tr h="4114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값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Sample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10,000건 (stratified: KR 6,500 / EN 3,500)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Validity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checksum 3,125 / format 5,573 / semantic 1,302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PII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91종 (v4 validity-first 퍼저 기준)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Mutation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L0 Original → L5 Context (HouYi/RAG/JSON)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호출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LiteLLM Gateway /guardrails/apply_guardrail (진짜 API)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Detection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TRUE = 레이어가 진짜 PII 값을 neutralize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0건 (전 4-way config에서)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04. 핵심 결과 — 4-way head-to-head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같은 10k 케이스에 대한 1:1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04241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1463040"/>
                <a:gridCol w="1828800"/>
                <a:gridCol w="1463040"/>
              </a:tblGrid>
              <a:tr h="4114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Real bypass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Latency p99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L1~L3 (prod stack, no 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80.15%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1,317ms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B Baseline+L4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L1~L4 (+ GPT-4o-mini)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90.96%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4,819ms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 With Layer 0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L0~L3 (no 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830ms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D 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L0~L4 (everything)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97.23%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4,762ms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핵심 figure — KR_semantic 4-way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Layer 0가 GPT-4o judge를 +8.99%p 능가 (한국어 텍스트형 PII)</a:t>
            </a:r>
          </a:p>
        </p:txBody>
      </p:sp>
      <p:pic>
        <p:nvPicPr>
          <p:cNvPr id="4" name="Picture 3" descr="fig11_kr_semantic_4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62519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가장 약했던 PII top 15 — 4-way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Layer 0 추가 시 대부분 0~5%로 떨어짐</a:t>
            </a:r>
          </a:p>
        </p:txBody>
      </p:sp>
      <p:pic>
        <p:nvPicPr>
          <p:cNvPr id="4" name="Picture 3" descr="fig12_hardest_pii_4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58098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05. Phase 3 — Layer 0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Dictionary가 Layer 0의 96.4% 기여 (Normalizer는 보조 역할)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9784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463040"/>
                <a:gridCol w="1463040"/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+ Norm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+ Dict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+ 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Norm 기여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Dict 기여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80.15%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80.42%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91.80%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95.51%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+11.65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69.86%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70.27%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87.75%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93.44%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+17.89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KR_semantic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49.62%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49.92%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87.71%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89.17%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+38.10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KR_format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74.47%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95.20%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+14.12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KR_checksum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83.14%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83.33%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84.48%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88.31%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+1.34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06. Phase 3 — Smart Cascade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L0 덕분에 LLM judge 호출 94% 절감 (detection 100% 유지)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8961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286000"/>
                <a:gridCol w="1645920"/>
                <a:gridCol w="1371600"/>
              </a:tblGrid>
              <a:tr h="4114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L4 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Detection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Latency (10k)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Cost (10k)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Full Cascade 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10,000회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97.23%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257분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$1.35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Smart Cascade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568회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97.23% (동일)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$0.08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절감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+0.00%p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-94%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07. Phase 1 — McNemar Test (matched-pairs on 10k)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모든 config 간 차이 p &lt; 0.001 (결정적 유의)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9601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280160"/>
                <a:gridCol w="1828800"/>
              </a:tblGrid>
              <a:tr h="4114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b (c1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c (c2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χ²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p-value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 vs B (LLM judge 효과)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1,081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1,079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&lt; 1e-236 ***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 vs C (Layer 0 효과)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1,417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1,415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&lt; 1e-309 ***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B vs C (LLM judge vs L0)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&lt; 2e-28 ***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 vs D (L0 + L4 추가)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&lt; 8e-65 ***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 vs D (전체 방어선)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1,708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1,706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≈ 0 ***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08. Phase 1 — Latency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Layer 0 추가 시 latency p50 507→512ms (+5ms only), p99 1,317→830ms (오히려 감소)</a:t>
            </a:r>
          </a:p>
        </p:txBody>
      </p:sp>
      <p:pic>
        <p:nvPicPr>
          <p:cNvPr id="4" name="Picture 3" descr="fig10_4way_by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92686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08b. 비용 대비 효과 (L4 vs L0)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Layer 0는 사실상 공짜 — 220배 빠르고 비용 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94183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L4 (GPT-4o-mini)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L0 (Korean)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</a:rPr>
                        <a:t>비율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Latency / 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~1,542ms (p50)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~48ms (p50)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32× 빠름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Latency / 호출 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~4,164ms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~135ms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31× 빠름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비용 / 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무료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인터넷 의존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필요 (OpenAI)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없음 (로컬)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폐쇄망 OK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KR_semantic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87.40% 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96.39%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+8.99%p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09. 한계 및 향후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남은 2.77% bypass (D Full) + 개선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A44"/>
                </a:solidFill>
              </a:defRPr>
            </a:pPr>
            <a:r>
              <a:t>  • 남은 우회 top 5 PII: emp_id, face_id, car_ins, EN_SSN, rrn (40건 미만)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향후 연구: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1. Output 퍼저 평가 — LLM 응답 시뮬레이션에서 누설 방지율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2. Injection 결합 공격 — PII × 인젝션 페이로드 시너지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3. 다국어 확장 — 일본어·중국어 (코드스위치 공격 대응)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4. Layer 0 키워드 사전 자동 확장 — NER 모델 기반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5. Fine-tuned judge vs Layer 0 — 전용 한국어 PII classifier 비교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최종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A44"/>
                </a:solidFill>
              </a:defRPr>
            </a:pPr>
            <a:r>
              <a:t>"Layer 0 (한국어 정규화 + 사전, LLM 없음)는 GPT-4o-mini judge보다</a:t>
            </a:r>
          </a:p>
          <a:p>
            <a:pPr>
              <a:defRPr sz="2200" b="1">
                <a:solidFill>
                  <a:srgbClr val="1F2A44"/>
                </a:solidFill>
              </a:defRPr>
            </a:pPr>
            <a:r>
              <a:t>한국어 텍스트형 PII를 +8.99%p 더 잘 잡는다.</a:t>
            </a:r>
          </a:p>
          <a:p>
            <a:pPr>
              <a:defRPr sz="1400" b="0">
                <a:solidFill>
                  <a:srgbClr val="666666"/>
                </a:solidFill>
              </a:defRPr>
            </a:pPr>
          </a:p>
          <a:p>
            <a:pPr>
              <a:defRPr sz="1800" b="1">
                <a:solidFill>
                  <a:srgbClr val="227B3F"/>
                </a:solidFill>
              </a:defRPr>
            </a:pPr>
            <a:r>
              <a:t>비용은 $0, 지연은 220배 낮으며, 통계적으로 p &lt; 1e-28 유의."</a:t>
            </a:r>
          </a:p>
          <a:p>
            <a:pPr>
              <a:defRPr sz="1400" b="0">
                <a:solidFill>
                  <a:srgbClr val="666666"/>
                </a:solidFill>
              </a:defRPr>
            </a:pPr>
          </a:p>
          <a:p>
            <a:pPr>
              <a:defRPr sz="1600" b="0">
                <a:solidFill>
                  <a:srgbClr val="666666"/>
                </a:solidFill>
              </a:defRPr>
            </a:pPr>
            <a:r>
              <a:t>→ Layer 0를 Preconditioner로 두면 LLM judge 호출 94% 절감</a:t>
            </a:r>
          </a:p>
          <a:p>
            <a:pPr>
              <a:defRPr sz="1600" b="0">
                <a:solidFill>
                  <a:srgbClr val="666666"/>
                </a:solidFill>
              </a:defRPr>
            </a:pPr>
            <a:r>
              <a:t>→ 10k 평가 기준 full stack TRUE detection 97.23% 달성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레포 &amp; 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GitHub: vmaca123/My-AI-Security-Project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A44"/>
                </a:solidFill>
              </a:defRPr>
            </a:pPr>
            <a:r>
              <a:t>  • PII/layer_0/       — Korean Normalizer + Detector (42 regex + 22 keyword)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PII/layer_1~4/     — Presidio/Bedrock/Lakera/GPT-4o-mini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PII/fuzzer/        — Validity-first v4 퍼저 (91 PII types)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PII/evaluation/    — LiteLLM Gateway 호출 평가기 (13 스크립트)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PII/results/       — summaries/figures/data + phase1/phase3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PII/config/        — config.yaml + docker-compose.yml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재현: `make setup &amp;&amp; make deploy-l0 &amp;&amp; make all` (~4시간, ~$5)</a:t>
            </a:r>
          </a:p>
          <a:p>
            <a:pPr>
              <a:defRPr sz="1600">
                <a:solidFill>
                  <a:srgbClr val="1F2A44"/>
                </a:solidFill>
              </a:defRPr>
            </a:pPr>
            <a:r>
              <a:t>  • CI: .github/workflows/layer_0_tests.yml (89 tests, Python 3.11+3.12)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