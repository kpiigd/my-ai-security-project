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fd575643f54849" /><Relationship Type="http://schemas.openxmlformats.org/officeDocument/2006/relationships/extended-properties" Target="/docProps/app.xml" Id="R818dc0e74ca2413e" /><Relationship Type="http://schemas.openxmlformats.org/officeDocument/2006/relationships/officeDocument" Target="/ppt/presentation.xml" Id="R64374515d111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f666a31ea4364"/>
  </p:sldMasterIdLst>
  <p:notesMasterIdLst>
    <p:notesMasterId xmlns:r="http://schemas.openxmlformats.org/officeDocument/2006/relationships" r:id="R352e25982c2e4a46"/>
  </p:notesMasterIdLst>
  <p:sldIdLst>
    <p:sldId xmlns:r="http://schemas.openxmlformats.org/officeDocument/2006/relationships" id="256" r:id="Rd44522fcf4194b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a5018bdd5f478e" /><Relationship Type="http://schemas.openxmlformats.org/officeDocument/2006/relationships/slideMaster" Target="/ppt/slideMasters/slideMaster1.xml" Id="Reabf666a31ea4364" /><Relationship Type="http://schemas.openxmlformats.org/officeDocument/2006/relationships/notesMaster" Target="/ppt/notesMasters/notesMaster1.xml" Id="R352e25982c2e4a46" /><Relationship Type="http://schemas.openxmlformats.org/officeDocument/2006/relationships/presProps" Target="/ppt/presProps.xml" Id="Rf4ee6daafdf746c4" /><Relationship Type="http://schemas.openxmlformats.org/officeDocument/2006/relationships/tableStyles" Target="/ppt/tableStyles.xml" Id="R81a81e8793e84362" /><Relationship Type="http://schemas.openxmlformats.org/officeDocument/2006/relationships/slide" Target="/ppt/slides/slide1.xml" Id="Rd44522fcf4194b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a3646123043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f52c54419472c" /><Relationship Type="http://schemas.openxmlformats.org/officeDocument/2006/relationships/notesMaster" Target="/ppt/notesMasters/notesMaster1.xml" Id="Rc18bd074c2d545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815d805f948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4a431cac74087" /><Relationship Type="http://schemas.openxmlformats.org/officeDocument/2006/relationships/slideLayout" Target="/ppt/slideLayouts/slideLayout1.xml" Id="R2881253f60d942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81253f60d942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261d37bd148fd" /><Relationship Type="http://schemas.openxmlformats.org/officeDocument/2006/relationships/notesSlide" Target="/ppt/notesSlides/notesSlide1.xml" Id="R0842849bdfc0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ient">
            <a:extLst xmlns:a="http://schemas.openxmlformats.org/drawingml/2006/main">
              <a:ext uri="{FF2B5EF4-FFF2-40B4-BE49-F238E27FC236}">
                <a16:creationId xmlns:a16="http://schemas.microsoft.com/office/drawing/2014/main" id="{ED889117-0532-41F1-A001-60AF5FF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33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1F9D0AF3-9F50-431E-8AD4-A5E9A307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사용자 / 서비스</a:t>
            </a:r>
          </a:p>
        </p:txBody>
      </p:sp>
      <p:sp>
        <p:nvSpPr>
          <p:cNvPr id="3" name="client-body">
            <a:extLst xmlns:a="http://schemas.openxmlformats.org/drawingml/2006/main">
              <a:ext uri="{FF2B5EF4-FFF2-40B4-BE49-F238E27FC236}">
                <a16:creationId xmlns:a16="http://schemas.microsoft.com/office/drawing/2014/main" id="{BB395860-401D-4BBB-920E-C0568846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0502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요청 전송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응답 수신</a:t>
            </a:r>
          </a:p>
        </p:txBody>
      </p:sp>
      <p:sp>
        <p:nvSpPr>
          <p:cNvPr id="4" name="gateway-frame">
            <a:extLst xmlns:a="http://schemas.openxmlformats.org/drawingml/2006/main">
              <a:ext uri="{FF2B5EF4-FFF2-40B4-BE49-F238E27FC236}">
                <a16:creationId xmlns:a16="http://schemas.microsoft.com/office/drawing/2014/main" id="{8C5BD5A1-1B95-460D-B4C4-5461B51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9600"/>
            <a:ext cx="7620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7145">
            <a:solidFill>
              <a:srgbClr val="818C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gateway-title">
            <a:extLst xmlns:a="http://schemas.openxmlformats.org/drawingml/2006/main">
              <a:ext uri="{FF2B5EF4-FFF2-40B4-BE49-F238E27FC236}">
                <a16:creationId xmlns:a16="http://schemas.microsoft.com/office/drawing/2014/main" id="{2572F061-0749-42B6-97CD-EA6BF3D6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3820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0A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730A3"/>
                </a:solidFill>
                <a:latin typeface="Malgun Gothic"/>
                <a:ea typeface="Malgun Gothic"/>
                <a:cs typeface="Malgun Gothic"/>
              </a:rPr>
              <a:t>LLM Gateway</a:t>
            </a:r>
          </a:p>
        </p:txBody>
      </p:sp>
      <p:sp>
        <p:nvSpPr>
          <p:cNvPr id="6" name="gateway-subtitle">
            <a:extLst xmlns:a="http://schemas.openxmlformats.org/drawingml/2006/main">
              <a:ext uri="{FF2B5EF4-FFF2-40B4-BE49-F238E27FC236}">
                <a16:creationId xmlns:a16="http://schemas.microsoft.com/office/drawing/2014/main" id="{E3AC0F49-C4F9-4C99-BE99-C5944AB9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62050"/>
            <a:ext cx="701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모델 호출 전후에 가드레일을 연결해 요청과 응답을 제어</a:t>
            </a:r>
          </a:p>
        </p:txBody>
      </p:sp>
      <p:sp>
        <p:nvSpPr>
          <p:cNvPr id="7" name="input-guardrail">
            <a:extLst xmlns:a="http://schemas.openxmlformats.org/drawingml/2006/main">
              <a:ext uri="{FF2B5EF4-FFF2-40B4-BE49-F238E27FC236}">
                <a16:creationId xmlns:a16="http://schemas.microsoft.com/office/drawing/2014/main" id="{520F86C5-FD7E-47F0-AD9E-6F08B2F4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764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input-guardrail-title">
            <a:extLst xmlns:a="http://schemas.openxmlformats.org/drawingml/2006/main">
              <a:ext uri="{FF2B5EF4-FFF2-40B4-BE49-F238E27FC236}">
                <a16:creationId xmlns:a16="http://schemas.microsoft.com/office/drawing/2014/main" id="{E287F2CF-6348-4FFE-9C0F-D13DAE7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0225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32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4532D"/>
                </a:solidFill>
                <a:latin typeface="Malgun Gothic"/>
                <a:ea typeface="Malgun Gothic"/>
                <a:cs typeface="Malgun Gothic"/>
              </a:rPr>
              <a:t>입력 가드레일</a:t>
            </a:r>
          </a:p>
        </p:txBody>
      </p:sp>
      <p:sp>
        <p:nvSpPr>
          <p:cNvPr id="9" name="input-guardrail-body">
            <a:extLst xmlns:a="http://schemas.openxmlformats.org/drawingml/2006/main">
              <a:ext uri="{FF2B5EF4-FFF2-40B4-BE49-F238E27FC236}">
                <a16:creationId xmlns:a16="http://schemas.microsoft.com/office/drawing/2014/main" id="{1756EFEE-7762-45E2-B3C0-962BBB11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1314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모델 호출 전</a:t>
            </a:r>
          </a:p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마스킹 / 차단</a:t>
            </a:r>
          </a:p>
        </p:txBody>
      </p:sp>
      <p:sp>
        <p:nvSpPr>
          <p:cNvPr id="10" name="llm">
            <a:extLst xmlns:a="http://schemas.openxmlformats.org/drawingml/2006/main">
              <a:ext uri="{FF2B5EF4-FFF2-40B4-BE49-F238E27FC236}">
                <a16:creationId xmlns:a16="http://schemas.microsoft.com/office/drawing/2014/main" id="{078F4B60-E674-4B95-A78D-D51DCBD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13906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llm-title">
            <a:extLst xmlns:a="http://schemas.openxmlformats.org/drawingml/2006/main">
              <a:ext uri="{FF2B5EF4-FFF2-40B4-BE49-F238E27FC236}">
                <a16:creationId xmlns:a16="http://schemas.microsoft.com/office/drawing/2014/main" id="{7D5C0908-C88B-41ED-85A9-B232B5A5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022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대상 모델</a:t>
            </a:r>
          </a:p>
        </p:txBody>
      </p:sp>
      <p:sp>
        <p:nvSpPr>
          <p:cNvPr id="12" name="llm-body">
            <a:extLst xmlns:a="http://schemas.openxmlformats.org/drawingml/2006/main">
              <a:ext uri="{FF2B5EF4-FFF2-40B4-BE49-F238E27FC236}">
                <a16:creationId xmlns:a16="http://schemas.microsoft.com/office/drawing/2014/main" id="{50838B97-ECF8-4C6D-ACCC-F0ACECCC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085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답변 생성</a:t>
            </a:r>
          </a:p>
        </p:txBody>
      </p:sp>
      <p:sp>
        <p:nvSpPr>
          <p:cNvPr id="13" name="output-guardrail">
            <a:extLst xmlns:a="http://schemas.openxmlformats.org/drawingml/2006/main">
              <a:ext uri="{FF2B5EF4-FFF2-40B4-BE49-F238E27FC236}">
                <a16:creationId xmlns:a16="http://schemas.microsoft.com/office/drawing/2014/main" id="{074FEC9D-0D34-4D59-A056-DE234ADE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1695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F5FF"/>
          </a:solidFill>
          <a:ln xmlns:a="http://schemas.openxmlformats.org/drawingml/2006/main" w="19050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utput-guardrail-title">
            <a:extLst xmlns:a="http://schemas.openxmlformats.org/drawingml/2006/main">
              <a:ext uri="{FF2B5EF4-FFF2-40B4-BE49-F238E27FC236}">
                <a16:creationId xmlns:a16="http://schemas.microsoft.com/office/drawing/2014/main" id="{5D51DB62-121D-4135-AA29-6A505C20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002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21B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21B6"/>
                </a:solidFill>
                <a:latin typeface="Malgun Gothic"/>
                <a:ea typeface="Malgun Gothic"/>
                <a:cs typeface="Malgun Gothic"/>
              </a:rPr>
              <a:t>출력 가드레일</a:t>
            </a:r>
          </a:p>
        </p:txBody>
      </p:sp>
      <p:sp>
        <p:nvSpPr>
          <p:cNvPr id="15" name="output-guardrail-body">
            <a:extLst xmlns:a="http://schemas.openxmlformats.org/drawingml/2006/main">
              <a:ext uri="{FF2B5EF4-FFF2-40B4-BE49-F238E27FC236}">
                <a16:creationId xmlns:a16="http://schemas.microsoft.com/office/drawing/2014/main" id="{B697C61E-3AD8-4127-A71C-DE8CB8C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1390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모델 응답 후</a:t>
            </a:r>
          </a:p>
          <a:p xmlns:a="http://schemas.openxmlformats.org/drawingml/2006/main">
            <a:pPr algn="l">
              <a:def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재검사</a:t>
            </a:r>
          </a:p>
        </p:txBody>
      </p:sp>
      <p:sp>
        <p:nvSpPr>
          <p:cNvPr id="16" name="safe-output">
            <a:extLst xmlns:a="http://schemas.openxmlformats.org/drawingml/2006/main">
              <a:ext uri="{FF2B5EF4-FFF2-40B4-BE49-F238E27FC236}">
                <a16:creationId xmlns:a16="http://schemas.microsoft.com/office/drawing/2014/main" id="{808A9B4B-16E3-4105-AEC6-31B4890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5735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afe-output-title">
            <a:extLst xmlns:a="http://schemas.openxmlformats.org/drawingml/2006/main">
              <a:ext uri="{FF2B5EF4-FFF2-40B4-BE49-F238E27FC236}">
                <a16:creationId xmlns:a16="http://schemas.microsoft.com/office/drawing/2014/main" id="{4C6DE5F6-2E60-4E5D-8083-804D77AF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097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안전 응답</a:t>
            </a:r>
          </a:p>
        </p:txBody>
      </p:sp>
      <p:sp>
        <p:nvSpPr>
          <p:cNvPr id="18" name="safe-output-body">
            <a:extLst xmlns:a="http://schemas.openxmlformats.org/drawingml/2006/main">
              <a:ext uri="{FF2B5EF4-FFF2-40B4-BE49-F238E27FC236}">
                <a16:creationId xmlns:a16="http://schemas.microsoft.com/office/drawing/2014/main" id="{EC7B608C-C667-4BCD-8A4C-2E629987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05025"/>
            <a:ext cx="1009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마스킹된 답변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또는 차단</a:t>
            </a:r>
          </a:p>
        </p:txBody>
      </p:sp>
      <p:cxnSp>
        <p:nvCxnSpPr>
          <p:cNvPr id="67" name=""/>
          <p:cNvCxnSpPr>
            <a:stCxn xmlns:a="http://schemas.openxmlformats.org/drawingml/2006/main" id="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66900" y="20955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67250" y="20955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A34A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648450" y="20955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B5CF6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34450" y="20955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23" name="input-flow-label">
            <a:extLst xmlns:a="http://schemas.openxmlformats.org/drawingml/2006/main">
              <a:ext uri="{FF2B5EF4-FFF2-40B4-BE49-F238E27FC236}">
                <a16:creationId xmlns:a16="http://schemas.microsoft.com/office/drawing/2014/main" id="{F7AD27F4-5EEE-4FA0-9639-D7E891B9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859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1. 호출 전 검사</a:t>
            </a:r>
          </a:p>
        </p:txBody>
      </p:sp>
      <p:sp>
        <p:nvSpPr>
          <p:cNvPr id="24" name="output-flow-label">
            <a:extLst xmlns:a="http://schemas.openxmlformats.org/drawingml/2006/main">
              <a:ext uri="{FF2B5EF4-FFF2-40B4-BE49-F238E27FC236}">
                <a16:creationId xmlns:a16="http://schemas.microsoft.com/office/drawing/2014/main" id="{F1172D8F-9B2F-449F-8723-4775E95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859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7E22C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7E22CE"/>
                </a:solidFill>
                <a:latin typeface="Malgun Gothic"/>
                <a:ea typeface="Malgun Gothic"/>
                <a:cs typeface="Malgun Gothic"/>
              </a:rPr>
              <a:t>2. 응답 후 검사</a:t>
            </a:r>
          </a:p>
        </p:txBody>
      </p:sp>
      <p:sp>
        <p:nvSpPr>
          <p:cNvPr id="25" name="core-frame">
            <a:extLst xmlns:a="http://schemas.openxmlformats.org/drawingml/2006/main">
              <a:ext uri="{FF2B5EF4-FFF2-40B4-BE49-F238E27FC236}">
                <a16:creationId xmlns:a16="http://schemas.microsoft.com/office/drawing/2014/main" id="{96490D51-A20D-4EF9-B644-B3278899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8096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core-title">
            <a:extLst xmlns:a="http://schemas.openxmlformats.org/drawingml/2006/main">
              <a:ext uri="{FF2B5EF4-FFF2-40B4-BE49-F238E27FC236}">
                <a16:creationId xmlns:a16="http://schemas.microsoft.com/office/drawing/2014/main" id="{D06A2B2D-B1F6-40E1-BF42-652D8A1D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756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53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532D"/>
                </a:solidFill>
                <a:latin typeface="Malgun Gothic"/>
                <a:ea typeface="Malgun Gothic"/>
                <a:cs typeface="Malgun Gothic"/>
              </a:rPr>
              <a:t>공통 가드레일 파이프라인</a:t>
            </a:r>
          </a:p>
        </p:txBody>
      </p:sp>
      <p:sp>
        <p:nvSpPr>
          <p:cNvPr id="27" name="core-subtitle">
            <a:extLst xmlns:a="http://schemas.openxmlformats.org/drawingml/2006/main">
              <a:ext uri="{FF2B5EF4-FFF2-40B4-BE49-F238E27FC236}">
                <a16:creationId xmlns:a16="http://schemas.microsoft.com/office/drawing/2014/main" id="{33D7D611-6C20-4BB8-BEC9-7928AD9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24300"/>
            <a:ext cx="756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입력 검사와 출력 재검사가 동일한 단계와 정책을 사용</a:t>
            </a:r>
          </a:p>
        </p:txBody>
      </p:sp>
      <p:sp>
        <p:nvSpPr>
          <p:cNvPr id="28" name="stage-1">
            <a:extLst xmlns:a="http://schemas.openxmlformats.org/drawingml/2006/main">
              <a:ext uri="{FF2B5EF4-FFF2-40B4-BE49-F238E27FC236}">
                <a16:creationId xmlns:a16="http://schemas.microsoft.com/office/drawing/2014/main" id="{454DBB31-2844-477D-AD5E-52F7DEED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43400"/>
            <a:ext cx="1638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6EFAC"/>
            </a:solidFill>
            <a:prstDash val="solid"/>
          </a:ln>
        </p:spPr>
      </p:sp>
      <p:sp>
        <p:nvSpPr>
          <p:cNvPr id="29" name="stage-1-num">
            <a:extLst xmlns:a="http://schemas.openxmlformats.org/drawingml/2006/main">
              <a:ext uri="{FF2B5EF4-FFF2-40B4-BE49-F238E27FC236}">
                <a16:creationId xmlns:a16="http://schemas.microsoft.com/office/drawing/2014/main" id="{5E732EE7-2626-43B5-96BA-D1623BE0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0E34A169-253B-4CA0-8229-965BA2AF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1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6593BB12-702A-4838-AD4D-76771194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422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정규화 · 변형 대응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원문 위치 보존</a:t>
            </a:r>
          </a:p>
        </p:txBody>
      </p:sp>
      <p:sp>
        <p:nvSpPr>
          <p:cNvPr id="32" name="stage-2">
            <a:extLst xmlns:a="http://schemas.openxmlformats.org/drawingml/2006/main">
              <a:ext uri="{FF2B5EF4-FFF2-40B4-BE49-F238E27FC236}">
                <a16:creationId xmlns:a16="http://schemas.microsoft.com/office/drawing/2014/main" id="{2B94B39F-7C48-4870-8ABE-2CD5B159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1638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6EFAC"/>
            </a:solidFill>
            <a:prstDash val="solid"/>
          </a:ln>
        </p:spPr>
      </p:sp>
      <p:sp>
        <p:nvSpPr>
          <p:cNvPr id="33" name="stage-2-num">
            <a:extLst xmlns:a="http://schemas.openxmlformats.org/drawingml/2006/main">
              <a:ext uri="{FF2B5EF4-FFF2-40B4-BE49-F238E27FC236}">
                <a16:creationId xmlns:a16="http://schemas.microsoft.com/office/drawing/2014/main" id="{8CE7086F-0041-427B-BD8F-B300C538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9C77A92-3F40-4D4E-AB3C-FDD994D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후보 탐지</a:t>
            </a:r>
          </a:p>
        </p:txBody>
      </p:sp>
      <p:sp>
        <p:nvSpPr>
          <p:cNvPr id="35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AF7D9C07-4D66-4F6F-8D76-8FC084BB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422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정규식 · 사전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개체명 모델</a:t>
            </a:r>
          </a:p>
        </p:txBody>
      </p:sp>
      <p:sp>
        <p:nvSpPr>
          <p:cNvPr id="36" name="stage-3">
            <a:extLst xmlns:a="http://schemas.openxmlformats.org/drawingml/2006/main">
              <a:ext uri="{FF2B5EF4-FFF2-40B4-BE49-F238E27FC236}">
                <a16:creationId xmlns:a16="http://schemas.microsoft.com/office/drawing/2014/main" id="{67A353AC-C134-4EF2-AAB2-31E25A2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1638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6EFAC"/>
            </a:solidFill>
            <a:prstDash val="solid"/>
          </a:ln>
        </p:spPr>
      </p:sp>
      <p:sp>
        <p:nvSpPr>
          <p:cNvPr id="37" name="stage-3-num">
            <a:extLst xmlns:a="http://schemas.openxmlformats.org/drawingml/2006/main">
              <a:ext uri="{FF2B5EF4-FFF2-40B4-BE49-F238E27FC236}">
                <a16:creationId xmlns:a16="http://schemas.microsoft.com/office/drawing/2014/main" id="{D3D96028-9713-4FB2-AD1A-42EF3A53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CB91BB11-FEC3-49EB-B7BE-E5BF2DA8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경계 보정</a:t>
            </a:r>
          </a:p>
        </p:txBody>
      </p:sp>
      <p:sp>
        <p:nvSpPr>
          <p:cNvPr id="39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25C744F4-F13F-448B-ABAC-F7BABEB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422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조사 · 호칭 · 어미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접미 표현 보존</a:t>
            </a:r>
          </a:p>
        </p:txBody>
      </p:sp>
      <p:sp>
        <p:nvSpPr>
          <p:cNvPr id="40" name="stage-4">
            <a:extLst xmlns:a="http://schemas.openxmlformats.org/drawingml/2006/main">
              <a:ext uri="{FF2B5EF4-FFF2-40B4-BE49-F238E27FC236}">
                <a16:creationId xmlns:a16="http://schemas.microsoft.com/office/drawing/2014/main" id="{0A6F71AA-9347-4C79-AF5F-8CD77A7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638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6EFAC"/>
            </a:solidFill>
            <a:prstDash val="solid"/>
          </a:ln>
        </p:spPr>
      </p:sp>
      <p:sp>
        <p:nvSpPr>
          <p:cNvPr id="41" name="stage-4-num">
            <a:extLst xmlns:a="http://schemas.openxmlformats.org/drawingml/2006/main">
              <a:ext uri="{FF2B5EF4-FFF2-40B4-BE49-F238E27FC236}">
                <a16:creationId xmlns:a16="http://schemas.microsoft.com/office/drawing/2014/main" id="{56D09B8B-6E66-4FD3-8D20-4CD3451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2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28354D1C-105D-4CEB-B9D2-30A661E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판정·마스킹</a:t>
            </a:r>
          </a:p>
        </p:txBody>
      </p:sp>
      <p:sp>
        <p:nvSpPr>
          <p:cNvPr id="43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476417A8-6E18-4A2B-82B3-1701B84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76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422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문맥 점수</a:t>
            </a:r>
          </a:p>
          <a:p xmlns:a="http://schemas.openxmlformats.org/drawingml/2006/main">
            <a:pPr algn="l">
              <a:def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B5563"/>
                </a:solidFill>
                <a:latin typeface="Malgun Gothic"/>
                <a:ea typeface="Malgun Gothic"/>
                <a:cs typeface="Malgun Gothic"/>
              </a:rPr>
              <a:t>정책 적용</a:t>
            </a:r>
          </a:p>
        </p:txBody>
      </p:sp>
      <p:cxnSp>
        <p:nvCxnSpPr>
          <p:cNvPr id="92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733800" y="4638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2C55E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638800" y="4638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2C55E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543800" y="46386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2C55E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7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857625" y="2514600"/>
            <a:ext cx="19050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6A34A"/>
            </a:solidFill>
            <a:prstDash val="dash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5762625" y="2514600"/>
            <a:ext cx="23241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E22CE"/>
            </a:solidFill>
            <a:prstDash val="dash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652627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2026-06-18T23:18:35.5470000Z</dcterms:created>
  <dcterms:modified xsi:type="dcterms:W3CDTF">2026-06-18T23:18:35.5470000Z</dcterms:modified>
</coreProperties>
</file>