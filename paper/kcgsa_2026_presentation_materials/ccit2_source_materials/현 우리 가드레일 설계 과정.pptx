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AD0E8B-B56B-4D6C-9ACB-D23782780E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F5F108-259E-40C1-AC2C-9896EF1A9A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89C276-A18E-4096-A525-38A7E909440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KOREAN PII GUARDRAIL v0.2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414CE-D7E5-4DF0-9D9C-2ABC9021D84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8763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M1부터 M10까지</a:t>
            </a:r>
          </a:p>
          <a:p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쉽게 설명하는 전체 흐름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88E731-4ECB-45AF-8262-5D6FA3C7D44F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8382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입력 문장을 준비하고, 개인정보 후보를 찾고, 경계를 다듬고, 문맥을 보고, 정책으로 처리하고, 안전하게 기록하고, 평가까지 이어지는 구조입니다.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EB3832-1820-4E3E-BB7D-C66200A58FA8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F3D65E-47A9-45F7-B663-E359FF1EAB02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원문 보존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BC3738-0878-4942-89C5-B51263237123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탐지는 바꿔서 봐도 실제 위치는 원문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331131-2E1D-40B4-9AA6-E85232B27413}"/>
              </a:ext>
            </a:extLst>
          </p:cNvPr>
          <p:cNvSpPr>
            <a:spLocks noGrp="1"/>
          </p:cNvSpPr>
          <p:nvPr/>
        </p:nvSpPr>
        <p:spPr>
          <a:xfrm>
            <a:off x="3333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9E574E-9ED1-4B97-906D-75A0F59FB9AE}"/>
              </a:ext>
            </a:extLst>
          </p:cNvPr>
          <p:cNvSpPr>
            <a:spLocks noGrp="1"/>
          </p:cNvSpPr>
          <p:nvPr/>
        </p:nvSpPr>
        <p:spPr>
          <a:xfrm>
            <a:off x="3505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후보 중심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5C3FC0-13BD-4E9D-A2BE-D19B537E9F76}"/>
              </a:ext>
            </a:extLst>
          </p:cNvPr>
          <p:cNvSpPr>
            <a:spLocks noGrp="1"/>
          </p:cNvSpPr>
          <p:nvPr/>
        </p:nvSpPr>
        <p:spPr>
          <a:xfrm>
            <a:off x="3505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detector 결과는 최종 판단이 아니라 후보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16C224-1B59-4B27-A469-AEB2EA87A2D5}"/>
              </a:ext>
            </a:extLst>
          </p:cNvPr>
          <p:cNvSpPr>
            <a:spLocks noGrp="1"/>
          </p:cNvSpPr>
          <p:nvPr/>
        </p:nvSpPr>
        <p:spPr>
          <a:xfrm>
            <a:off x="6000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BB1301-D13F-41ED-82A8-9D21282C2C37}"/>
              </a:ext>
            </a:extLst>
          </p:cNvPr>
          <p:cNvSpPr>
            <a:spLocks noGrp="1"/>
          </p:cNvSpPr>
          <p:nvPr/>
        </p:nvSpPr>
        <p:spPr>
          <a:xfrm>
            <a:off x="6172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한국어 보정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6FD344-3CC4-42EE-BCA1-9C24DA932C08}"/>
              </a:ext>
            </a:extLst>
          </p:cNvPr>
          <p:cNvSpPr>
            <a:spLocks noGrp="1"/>
          </p:cNvSpPr>
          <p:nvPr/>
        </p:nvSpPr>
        <p:spPr>
          <a:xfrm>
            <a:off x="6172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조사와 어미는 남기고 본체만 가림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D635C1-7BA1-450F-975C-1B5DC728E23E}"/>
              </a:ext>
            </a:extLst>
          </p:cNvPr>
          <p:cNvSpPr>
            <a:spLocks noGrp="1"/>
          </p:cNvSpPr>
          <p:nvPr/>
        </p:nvSpPr>
        <p:spPr>
          <a:xfrm>
            <a:off x="8667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A9E8B5-CC88-4E27-B2B6-C581D4CD7C28}"/>
              </a:ext>
            </a:extLst>
          </p:cNvPr>
          <p:cNvSpPr>
            <a:spLocks noGrp="1"/>
          </p:cNvSpPr>
          <p:nvPr/>
        </p:nvSpPr>
        <p:spPr>
          <a:xfrm>
            <a:off x="8839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안전 기록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3B52F9-9CCE-47DE-B877-8521FB572FF9}"/>
              </a:ext>
            </a:extLst>
          </p:cNvPr>
          <p:cNvSpPr>
            <a:spLocks noGrp="1"/>
          </p:cNvSpPr>
          <p:nvPr/>
        </p:nvSpPr>
        <p:spPr>
          <a:xfrm>
            <a:off x="8839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응답과 로그에는 raw PII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68A35F-72ED-4561-A154-D923081E7E7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rPr>
              <a:t>Korean PII Guardrail v0.2 | 1/55</a:t>
            </a:r>
          </a:p>
        </p:txBody>
      </p:sp>
    </p:spTree>
    <p:extLst>
      <p:ext uri="{BB962C8B-B14F-4D97-AF65-F5344CB8AC3E}">
        <p14:creationId xmlns:p14="http://schemas.microsoft.com/office/powerpoint/2010/main" val="56585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10EB9F-9249-4DD1-AF91-EE58B4FB8E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09FC6A-53AD-4292-BD5D-1149CFFA95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C5FFAE33-7BB6-4C0F-8C84-184EB8828C01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EC0C00C0-D27E-4DBC-8710-D7D82FFA901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444C3B-10C9-4830-B329-B5B4325514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각 단계는 같은 질문으로 보면 쉽습니다.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CFAAA7-4121-4318-8179-BA7761083C88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 덱은 M1~M10을 목표, 흐름, 예시, 주의점, 최종 정리 순서로 설명합니다.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FEC0DA-8091-47F4-B2DB-426647C2078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8FF547-4849-410B-91F7-B52DD41848AE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0C5DC8-B2DD-46B5-9FA5-0FEF2B0F9734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1. 무엇을 하는가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7009FD-704D-42FE-BD90-BCF63BB48607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 단계의 역할을 한 문장으로 먼저 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예: M1은 탐지 준비, M2는 후보 탐지입니다.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46810B-F9FE-4A67-9EFE-3DCB23CD5CD3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42B43A-5139-41FC-B271-97C7A4859294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2. 어떤 순서로 움직이는가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ABCFFF-7DEF-4631-8C16-EF41E541466F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입력에서 출력까지 한 줄 흐름을 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앞 단계의 결과가 뒤 단계의 입력이 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7AD5C5-B36D-49C0-A461-E0AAA34CBFF1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9AD265-DFA7-4885-9C14-989F661E5357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3. 무엇을 아직 하지 않는가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6ECE8C-E882-4B33-B198-008139F5BE22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최종 판단과 마스킹은 뒤 단계로 미룹니다.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각 단계의 책임을 섞지 않는 것이 핵심입니다.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0BC0B2-BE72-4093-B390-CFE7D49EC3E4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72AC9E-CC42-4FC1-AED1-EAA63EBB7C5F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가장 중요한 기준은 하나입니다. 잘 찾기 위해 바꿔서 보더라도, 최종 위치와 처리는 항상 원문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163320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CFA94551-4F0E-4257-BF25-B207F604C6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82DD9-EA59-4393-826D-BA45EF572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9542BDEA-C26B-4C0A-ABD5-B73C10D02105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271C0400-95BB-454C-9D2B-AA3F0DAB58D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전체 지도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8FA29D-916D-424F-86EF-E4BBB1AFA0A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M1~M10은 하나의 파이프라인으로 이어집니다.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4A3EB7-D0C3-4A84-A8F8-44BF3FF00E9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각 milestone은 따로 존재하지만, 실제로는 한 요청을 처리하는 하나의 흐름입니다.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9EC9B2-86BB-4714-B166-785F690CE06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451A5B-93BF-483F-8BFF-5A6ED05D1D7A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676400" cy="742950"/>
          </a:xfrm>
          <a:prstGeom prst="rect">
            <a:avLst/>
          </a:prstGeom>
          <a:solidFill>
            <a:srgbClr val="EAF0FF"/>
          </a:solidFill>
          <a:ln w="12383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E6F0F1-AAF4-45DB-8219-5A5A1CB35FD7}"/>
              </a:ext>
            </a:extLst>
          </p:cNvPr>
          <p:cNvSpPr>
            <a:spLocks noGrp="1"/>
          </p:cNvSpPr>
          <p:nvPr/>
        </p:nvSpPr>
        <p:spPr>
          <a:xfrm>
            <a:off x="838200" y="24384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BC6CA7-640F-4D2F-B94C-EBE37460DE08}"/>
              </a:ext>
            </a:extLst>
          </p:cNvPr>
          <p:cNvSpPr>
            <a:spLocks noGrp="1"/>
          </p:cNvSpPr>
          <p:nvPr/>
        </p:nvSpPr>
        <p:spPr>
          <a:xfrm>
            <a:off x="1276350" y="24574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 준비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90F2FC-8DE6-40D1-9738-6F56F31F0DCD}"/>
              </a:ext>
            </a:extLst>
          </p:cNvPr>
          <p:cNvSpPr>
            <a:spLocks noGrp="1"/>
          </p:cNvSpPr>
          <p:nvPr/>
        </p:nvSpPr>
        <p:spPr>
          <a:xfrm>
            <a:off x="2466975" y="251460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72CDE0-3438-4620-A96F-2C35574D9E02}"/>
              </a:ext>
            </a:extLst>
          </p:cNvPr>
          <p:cNvSpPr>
            <a:spLocks noGrp="1"/>
          </p:cNvSpPr>
          <p:nvPr/>
        </p:nvSpPr>
        <p:spPr>
          <a:xfrm>
            <a:off x="2895600" y="2305050"/>
            <a:ext cx="1676400" cy="742950"/>
          </a:xfrm>
          <a:prstGeom prst="rect">
            <a:avLst/>
          </a:prstGeom>
          <a:solidFill>
            <a:srgbClr val="E7F6EF"/>
          </a:solidFill>
          <a:ln w="12383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B21F01-23BC-4933-9844-73BB98CE8336}"/>
              </a:ext>
            </a:extLst>
          </p:cNvPr>
          <p:cNvSpPr>
            <a:spLocks noGrp="1"/>
          </p:cNvSpPr>
          <p:nvPr/>
        </p:nvSpPr>
        <p:spPr>
          <a:xfrm>
            <a:off x="3048000" y="24384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5C5823-29E0-4B53-8DEA-0912FA864C90}"/>
              </a:ext>
            </a:extLst>
          </p:cNvPr>
          <p:cNvSpPr>
            <a:spLocks noGrp="1"/>
          </p:cNvSpPr>
          <p:nvPr/>
        </p:nvSpPr>
        <p:spPr>
          <a:xfrm>
            <a:off x="3486150" y="24574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구조형 탐지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6631F1-8604-4FD8-A8C1-C0A1284913A8}"/>
              </a:ext>
            </a:extLst>
          </p:cNvPr>
          <p:cNvSpPr>
            <a:spLocks noGrp="1"/>
          </p:cNvSpPr>
          <p:nvPr/>
        </p:nvSpPr>
        <p:spPr>
          <a:xfrm>
            <a:off x="4676775" y="251460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FAA15A-E48D-47FE-AF10-2A53A37AA999}"/>
              </a:ext>
            </a:extLst>
          </p:cNvPr>
          <p:cNvSpPr>
            <a:spLocks noGrp="1"/>
          </p:cNvSpPr>
          <p:nvPr/>
        </p:nvSpPr>
        <p:spPr>
          <a:xfrm>
            <a:off x="5105400" y="2305050"/>
            <a:ext cx="1676400" cy="742950"/>
          </a:xfrm>
          <a:prstGeom prst="rect">
            <a:avLst/>
          </a:prstGeom>
          <a:solidFill>
            <a:srgbClr val="FFF2D6"/>
          </a:solidFill>
          <a:ln w="12383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098B9C-6848-4D87-94CE-D97168D02079}"/>
              </a:ext>
            </a:extLst>
          </p:cNvPr>
          <p:cNvSpPr>
            <a:spLocks noGrp="1"/>
          </p:cNvSpPr>
          <p:nvPr/>
        </p:nvSpPr>
        <p:spPr>
          <a:xfrm>
            <a:off x="5257800" y="24384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B8D8B8-5A69-4064-84C6-0CC030E8C437}"/>
              </a:ext>
            </a:extLst>
          </p:cNvPr>
          <p:cNvSpPr>
            <a:spLocks noGrp="1"/>
          </p:cNvSpPr>
          <p:nvPr/>
        </p:nvSpPr>
        <p:spPr>
          <a:xfrm>
            <a:off x="5695950" y="24574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한국어 경계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3880A9-0C9F-4C44-BD20-47549D79064B}"/>
              </a:ext>
            </a:extLst>
          </p:cNvPr>
          <p:cNvSpPr>
            <a:spLocks noGrp="1"/>
          </p:cNvSpPr>
          <p:nvPr/>
        </p:nvSpPr>
        <p:spPr>
          <a:xfrm>
            <a:off x="6886575" y="251460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18684D-AD20-4ABB-95F9-D3BFED9B9B56}"/>
              </a:ext>
            </a:extLst>
          </p:cNvPr>
          <p:cNvSpPr>
            <a:spLocks noGrp="1"/>
          </p:cNvSpPr>
          <p:nvPr/>
        </p:nvSpPr>
        <p:spPr>
          <a:xfrm>
            <a:off x="7315200" y="2305050"/>
            <a:ext cx="1676400" cy="742950"/>
          </a:xfrm>
          <a:prstGeom prst="rect">
            <a:avLst/>
          </a:prstGeom>
          <a:solidFill>
            <a:srgbClr val="F0ECFF"/>
          </a:solidFill>
          <a:ln w="12383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E844FB-BA02-43C5-83B1-0C34DA3B668A}"/>
              </a:ext>
            </a:extLst>
          </p:cNvPr>
          <p:cNvSpPr>
            <a:spLocks noGrp="1"/>
          </p:cNvSpPr>
          <p:nvPr/>
        </p:nvSpPr>
        <p:spPr>
          <a:xfrm>
            <a:off x="7467600" y="24384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9C05D5-27C6-4320-B4D8-0FCE471FCC19}"/>
              </a:ext>
            </a:extLst>
          </p:cNvPr>
          <p:cNvSpPr>
            <a:spLocks noGrp="1"/>
          </p:cNvSpPr>
          <p:nvPr/>
        </p:nvSpPr>
        <p:spPr>
          <a:xfrm>
            <a:off x="7905750" y="24574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문맥 점수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84C76C-1CB6-4187-97F0-C2C769E9330D}"/>
              </a:ext>
            </a:extLst>
          </p:cNvPr>
          <p:cNvSpPr>
            <a:spLocks noGrp="1"/>
          </p:cNvSpPr>
          <p:nvPr/>
        </p:nvSpPr>
        <p:spPr>
          <a:xfrm>
            <a:off x="9096375" y="251460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3A0321-CB64-4E5D-9D7D-FFE846B3780B}"/>
              </a:ext>
            </a:extLst>
          </p:cNvPr>
          <p:cNvSpPr>
            <a:spLocks noGrp="1"/>
          </p:cNvSpPr>
          <p:nvPr/>
        </p:nvSpPr>
        <p:spPr>
          <a:xfrm>
            <a:off x="9525000" y="2305050"/>
            <a:ext cx="1676400" cy="742950"/>
          </a:xfrm>
          <a:prstGeom prst="rect">
            <a:avLst/>
          </a:prstGeom>
          <a:solidFill>
            <a:srgbClr val="F0ECFF"/>
          </a:solidFill>
          <a:ln w="12383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6A5542-A778-4177-AA2C-15242B6C708A}"/>
              </a:ext>
            </a:extLst>
          </p:cNvPr>
          <p:cNvSpPr>
            <a:spLocks noGrp="1"/>
          </p:cNvSpPr>
          <p:nvPr/>
        </p:nvSpPr>
        <p:spPr>
          <a:xfrm>
            <a:off x="9677400" y="24384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9BCA73-3134-43CB-96FA-B9AD418467A7}"/>
              </a:ext>
            </a:extLst>
          </p:cNvPr>
          <p:cNvSpPr>
            <a:spLocks noGrp="1"/>
          </p:cNvSpPr>
          <p:nvPr/>
        </p:nvSpPr>
        <p:spPr>
          <a:xfrm>
            <a:off x="10115550" y="24574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통로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ADBF1C-4248-4C7D-9B46-99CEDBA37621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676400" cy="742950"/>
          </a:xfrm>
          <a:prstGeom prst="rect">
            <a:avLst/>
          </a:prstGeom>
          <a:solidFill>
            <a:srgbClr val="EAF0FF"/>
          </a:solidFill>
          <a:ln w="12383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6B9DB8-F904-4F7D-AACA-28A9E73B9A33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4CF736-C800-45DE-A7A8-3E4A15F1B2F6}"/>
              </a:ext>
            </a:extLst>
          </p:cNvPr>
          <p:cNvSpPr>
            <a:spLocks noGrp="1"/>
          </p:cNvSpPr>
          <p:nvPr/>
        </p:nvSpPr>
        <p:spPr>
          <a:xfrm>
            <a:off x="127635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후보 정리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09D545-E360-4B99-A7D9-322BA8C5AAEF}"/>
              </a:ext>
            </a:extLst>
          </p:cNvPr>
          <p:cNvSpPr>
            <a:spLocks noGrp="1"/>
          </p:cNvSpPr>
          <p:nvPr/>
        </p:nvSpPr>
        <p:spPr>
          <a:xfrm>
            <a:off x="2466975" y="38290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EC61028-57BA-4303-B6DF-B5DF8E6CB7A1}"/>
              </a:ext>
            </a:extLst>
          </p:cNvPr>
          <p:cNvSpPr>
            <a:spLocks noGrp="1"/>
          </p:cNvSpPr>
          <p:nvPr/>
        </p:nvSpPr>
        <p:spPr>
          <a:xfrm>
            <a:off x="2895600" y="3619500"/>
            <a:ext cx="1676400" cy="742950"/>
          </a:xfrm>
          <a:prstGeom prst="rect">
            <a:avLst/>
          </a:prstGeom>
          <a:solidFill>
            <a:srgbClr val="FDEAEA"/>
          </a:solidFill>
          <a:ln w="12383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E50B81-A8F5-4FA2-80D3-99DBE5598155}"/>
              </a:ext>
            </a:extLst>
          </p:cNvPr>
          <p:cNvSpPr>
            <a:spLocks noGrp="1"/>
          </p:cNvSpPr>
          <p:nvPr/>
        </p:nvSpPr>
        <p:spPr>
          <a:xfrm>
            <a:off x="30480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6E7EB13-0B44-4BF9-95E1-AE22C1324CD2}"/>
              </a:ext>
            </a:extLst>
          </p:cNvPr>
          <p:cNvSpPr>
            <a:spLocks noGrp="1"/>
          </p:cNvSpPr>
          <p:nvPr/>
        </p:nvSpPr>
        <p:spPr>
          <a:xfrm>
            <a:off x="348615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정책 적용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4D1AC6-7E8E-48B9-8287-77AADC08C773}"/>
              </a:ext>
            </a:extLst>
          </p:cNvPr>
          <p:cNvSpPr>
            <a:spLocks noGrp="1"/>
          </p:cNvSpPr>
          <p:nvPr/>
        </p:nvSpPr>
        <p:spPr>
          <a:xfrm>
            <a:off x="4676775" y="38290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2A2DA1-591E-41E6-84C8-5E23D9E3B195}"/>
              </a:ext>
            </a:extLst>
          </p:cNvPr>
          <p:cNvSpPr>
            <a:spLocks noGrp="1"/>
          </p:cNvSpPr>
          <p:nvPr/>
        </p:nvSpPr>
        <p:spPr>
          <a:xfrm>
            <a:off x="5105400" y="3619500"/>
            <a:ext cx="1676400" cy="742950"/>
          </a:xfrm>
          <a:prstGeom prst="rect">
            <a:avLst/>
          </a:prstGeom>
          <a:solidFill>
            <a:srgbClr val="E7F6EF"/>
          </a:solidFill>
          <a:ln w="12383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CF3E7E-B86A-4265-BAF1-8620874D84E1}"/>
              </a:ext>
            </a:extLst>
          </p:cNvPr>
          <p:cNvSpPr>
            <a:spLocks noGrp="1"/>
          </p:cNvSpPr>
          <p:nvPr/>
        </p:nvSpPr>
        <p:spPr>
          <a:xfrm>
            <a:off x="52578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DB58DCA-52A0-45ED-8245-EDE0522223AA}"/>
              </a:ext>
            </a:extLst>
          </p:cNvPr>
          <p:cNvSpPr>
            <a:spLocks noGrp="1"/>
          </p:cNvSpPr>
          <p:nvPr/>
        </p:nvSpPr>
        <p:spPr>
          <a:xfrm>
            <a:off x="569595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감사 기록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B73B5C-ED2F-429C-92D3-93178804B5E1}"/>
              </a:ext>
            </a:extLst>
          </p:cNvPr>
          <p:cNvSpPr>
            <a:spLocks noGrp="1"/>
          </p:cNvSpPr>
          <p:nvPr/>
        </p:nvSpPr>
        <p:spPr>
          <a:xfrm>
            <a:off x="6886575" y="38290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0280E8-D9E2-481C-B2F5-5C3CF3164D09}"/>
              </a:ext>
            </a:extLst>
          </p:cNvPr>
          <p:cNvSpPr>
            <a:spLocks noGrp="1"/>
          </p:cNvSpPr>
          <p:nvPr/>
        </p:nvSpPr>
        <p:spPr>
          <a:xfrm>
            <a:off x="7315200" y="3619500"/>
            <a:ext cx="1676400" cy="742950"/>
          </a:xfrm>
          <a:prstGeom prst="rect">
            <a:avLst/>
          </a:prstGeom>
          <a:solidFill>
            <a:srgbClr val="EAF0FF"/>
          </a:solidFill>
          <a:ln w="12383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E475E8-EF17-4CCA-9C4E-F7B7F3FCABEC}"/>
              </a:ext>
            </a:extLst>
          </p:cNvPr>
          <p:cNvSpPr>
            <a:spLocks noGrp="1"/>
          </p:cNvSpPr>
          <p:nvPr/>
        </p:nvSpPr>
        <p:spPr>
          <a:xfrm>
            <a:off x="74676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7FA65F4-E5C2-41C7-AA5A-F444560A0B19}"/>
              </a:ext>
            </a:extLst>
          </p:cNvPr>
          <p:cNvSpPr>
            <a:spLocks noGrp="1"/>
          </p:cNvSpPr>
          <p:nvPr/>
        </p:nvSpPr>
        <p:spPr>
          <a:xfrm>
            <a:off x="790575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통합 실행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E7B223-EDE6-49B9-89FB-CE1DB3858E1A}"/>
              </a:ext>
            </a:extLst>
          </p:cNvPr>
          <p:cNvSpPr>
            <a:spLocks noGrp="1"/>
          </p:cNvSpPr>
          <p:nvPr/>
        </p:nvSpPr>
        <p:spPr>
          <a:xfrm>
            <a:off x="9096375" y="38290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7D43C9-B816-4346-AC0F-56BAE093B557}"/>
              </a:ext>
            </a:extLst>
          </p:cNvPr>
          <p:cNvSpPr>
            <a:spLocks noGrp="1"/>
          </p:cNvSpPr>
          <p:nvPr/>
        </p:nvSpPr>
        <p:spPr>
          <a:xfrm>
            <a:off x="9525000" y="3619500"/>
            <a:ext cx="1676400" cy="742950"/>
          </a:xfrm>
          <a:prstGeom prst="rect">
            <a:avLst/>
          </a:prstGeom>
          <a:solidFill>
            <a:srgbClr val="FFF2D6"/>
          </a:solidFill>
          <a:ln w="12383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A0ABAF3-DE78-40FD-91D4-9091441D8291}"/>
              </a:ext>
            </a:extLst>
          </p:cNvPr>
          <p:cNvSpPr>
            <a:spLocks noGrp="1"/>
          </p:cNvSpPr>
          <p:nvPr/>
        </p:nvSpPr>
        <p:spPr>
          <a:xfrm>
            <a:off x="96774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7C910A-06D9-4729-BDF4-93676BEECFCE}"/>
              </a:ext>
            </a:extLst>
          </p:cNvPr>
          <p:cNvSpPr>
            <a:spLocks noGrp="1"/>
          </p:cNvSpPr>
          <p:nvPr/>
        </p:nvSpPr>
        <p:spPr>
          <a:xfrm>
            <a:off x="1011555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평가 검증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84F055E-F746-458C-B92C-DD527B0D0C58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103632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62EE411-64C7-4896-A883-467F7E114861}"/>
              </a:ext>
            </a:extLst>
          </p:cNvPr>
          <p:cNvSpPr>
            <a:spLocks noGrp="1"/>
          </p:cNvSpPr>
          <p:nvPr/>
        </p:nvSpPr>
        <p:spPr>
          <a:xfrm>
            <a:off x="1123950" y="5362575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 입력 -&gt; 탐지 준비 -&gt; 후보 탐지 -&gt; 후보 보정/정리 -&gt; 정책 처리 -&gt; 안전한 응답/로그 -&gt; 평가</a:t>
            </a:r>
          </a:p>
        </p:txBody>
      </p:sp>
    </p:spTree>
    <p:extLst>
      <p:ext uri="{BB962C8B-B14F-4D97-AF65-F5344CB8AC3E}">
        <p14:creationId xmlns:p14="http://schemas.microsoft.com/office/powerpoint/2010/main" val="161848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9BBD48-95FB-4705-BAEB-D16D339687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44C317-2D79-4AC3-A39D-D5C46991B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97E1C57D-F92B-4DD7-B3F3-47CE813E9E2F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DA88A158-AE1B-40FE-B351-3D9362AC652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 탐지 준비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3E1CF7-241A-4E7E-9AA7-23CAA813A24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첫 번째 흐름은 입력 문장을 검사하기 좋은 형태로 준비하는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05B8B-4341-48EC-8EF3-D50AF1FDD26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아직 개인정보를 최종 판단하거나 마스킹하지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455895-5A9F-4099-90D1-308C0AF7731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0EC656-EBF7-421E-A70B-8D5103BC9366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C20E14-5E65-41D4-889E-AB0D0B05E8E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1EA7DA-E00E-4807-A848-ACA58CFAA32C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485775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원문은 그대로 보존하면서, 개인정보를 더 잘 찾을 수 있는 여러 버전의 텍스트를 만듭니다.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ACD068-E213-4596-ADD8-663AFDEE3C51}"/>
              </a:ext>
            </a:extLst>
          </p:cNvPr>
          <p:cNvSpPr>
            <a:spLocks noGrp="1"/>
          </p:cNvSpPr>
          <p:nvPr/>
        </p:nvSpPr>
        <p:spPr>
          <a:xfrm>
            <a:off x="838200" y="3571875"/>
            <a:ext cx="481965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원문은 절대 잃어버리지 않습니다.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탐지용 복사본만 따로 만듭니다.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 위치는 나중에 원문에서 찾아야 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F87487-F133-414B-8DCA-482531A0C2F1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670430-EB13-4949-8C24-4632B48AA15A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83E23D-E7EF-466D-8F32-790C56A76017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08131-17A1-4EBA-96B5-E6FA0CB68458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요청 객체로 감싸기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원문 보존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정규화 텍스트 만들기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탐지용 변형 텍스트 만들기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원문 위치 지도 만들기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다음 탐지 단계로 넘기기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D90940-A2B3-4FE6-9368-D79BDF112AF8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B9F1B3-3932-42E5-A06C-CC9C448A7F75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M1은 말 그대로 탐지 준비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67014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4225A4-A730-447C-868D-29DC6E73E6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A0BA63-5761-43BC-B17D-25AE4E5EAD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69C557AA-1FBA-463D-B8B5-A4C69F7158B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909381E8-7A9E-4C7E-B1CC-F4FD972CE1D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0AE87A-C88B-4902-949E-A1686432A4A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컴퓨터가 놓칠 수 있는 글자를 탐지하기 쉬운 형태로 바꿔서 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FAEC01-8880-41A1-9AFF-6270842E9D6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원문 자체를 바꾸는 것이 아니라, 탐지용 복사본을 만드는 것입니다.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BEC7F6-5AC5-4C5B-AFCF-4A726FA8D21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1789E7-D8F5-4938-8E1C-1911C67DFCA9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3C06E3-D24E-48EC-B84B-DC5019314F96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입력 예시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FB86042-AAEB-4383-A6B7-092FD456F04D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F6F567-E007-4AD5-84CC-C21231C4DF4A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연락처는 ０１０－１２３４－５６７８입니다.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2F1957-5052-4331-BFBE-C1286C9D2075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EAF0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BD99D-869C-4171-B456-8477E1F0EE40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왜 바로 찾기 어려운가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CCE3DC-BBF6-41E1-867E-9CEAD833C4C4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숫자가 일반 숫자가 아니라 전각 숫자입니다.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하이픈도 일반 '-'가 아닐 수 있습니다.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일반 정규식만 쓰면 놓칠 수 있습니다.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6A34C4-9C9A-4594-A01F-7CB01CA080A6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C1CEEA-BFF7-4CEE-BDF7-1A308AEE8658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탐지용으로 보는 형태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EDF47D-BC4C-4F49-9A1C-2819C00C29A0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341A58-416B-4D7F-8CAE-B05A68F52751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원문:    연락처는 ０１０－１２３４－５６７８입니다.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탐지용: 연락처는 010-1234-5678입니다.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8131D7-688F-4464-8B83-CE99FDF5256D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070E04-EB33-45A1-B53F-A43275994D04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중요한 점: 원문을 실제로 바꾼 것이 아니라, 찾기 쉬운 복사본만 만든 것입니다.</a:t>
            </a:r>
          </a:p>
        </p:txBody>
      </p:sp>
    </p:spTree>
    <p:extLst>
      <p:ext uri="{BB962C8B-B14F-4D97-AF65-F5344CB8AC3E}">
        <p14:creationId xmlns:p14="http://schemas.microsoft.com/office/powerpoint/2010/main" val="214661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68A325-9F3E-443D-A899-AF700CA2ED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DE541D-7DBF-434E-AF04-77F074FEA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5695471B-3394-48F2-9B06-5ACB1951C33B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B31EC040-5B3A-4EDC-AD35-4EB0E3F6494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 핵심 규칙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F81AB8-8BC1-4F6B-BABA-18843ADF0E7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탐지는 변형 텍스트에서 해도 되지만, 최종 위치는 반드시 원문 기준이어야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6B270C-B398-44C0-B0D4-D86F107284C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마스킹할 때는 원문에서 정확히 어느 구간을 가릴지 알아야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F043F7-A872-4E0A-8A07-626C2A8913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6/55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335603-563C-4457-9004-BBCE4077F067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78478C-D28A-466C-A7CF-441D0AE8A11E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원문 위치가 필요한 이유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6EA3B5-A669-4E75-B1F6-646E4703AA78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C9C21B-966D-4128-884A-54C1D13837E4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연락처는 ０１０－１２３４－５６７８입니다.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        ^^^^^^^^^^^^^^^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        이 원문 위치를 정확히 알아야 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1D075F-A61B-4B15-918C-21A53F5E3CC0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3311CF-8869-41B6-AB97-B1A7CAE7E119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핵심 규칙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265977-87F7-48EB-8C3D-D48B3F15753B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1D70B4-B93C-44DA-9E85-580CF6CC6755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탐지는 변형 텍스트에서 해도 된다.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하지만 최종 span 위치는 반드시 원문 기준이어야 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152330-3245-4CB8-81D3-BAB756E15027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9D7C41-F1EB-49E3-AFC9-FFE162EFF7F9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쉬운 비유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4F3779-2EAC-4AD2-A9C4-50C6E6F2932F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원문은 원본 사진입니다.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정규화 텍스트와 variant는 필터를 씌운 복사본입니다.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복사본에서 찾은 위치를 원본 위치로 되돌릴 수 있어야 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7EB1AB-3867-4252-9C54-96C5090CB59B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0D431D-CFCF-454F-A12E-AED7BB1FCDA1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복원할 수 없는 후보는 안전하게 처리할 수 없으므로 버리는 것이 맞습니다.</a:t>
            </a:r>
          </a:p>
        </p:txBody>
      </p:sp>
    </p:spTree>
    <p:extLst>
      <p:ext uri="{BB962C8B-B14F-4D97-AF65-F5344CB8AC3E}">
        <p14:creationId xmlns:p14="http://schemas.microsoft.com/office/powerpoint/2010/main" val="199169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7A0193-DC0F-48F2-AD28-9FEBC7FA81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5A351E-3125-46DF-8520-C62FFB182B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DAF19CCE-AEE9-45B2-8E4D-9E098E1DD18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C2D91366-9D82-4384-8D74-7828406B8F0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M1에서 실제로 하는 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C8A27E-6215-463D-87BB-5C028C73B3D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정규화와 variant를 만들고, variant 위치를 원문 위치로 되돌릴 지도를 만듭니다.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7134C0-0F5F-4FB2-ACD4-EE651370C7C7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 단계가 정확해야 뒤의 탐지와 마스킹도 정확해집니다.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C2302-299D-44AE-99B0-4A2A3CE4AA7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7/55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DC9C6E-D9A6-4AE9-8230-5ED008FB8339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3F845B-52DB-4CAF-AE86-0F19A0F9B0FF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요청 객체로 감싸기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C2CE92-5E65-420A-8AAD-08122E46D3CF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583528-85E3-4CE0-8B9A-E32B778FFDD7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text: 검사할 원문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scan_stage: input 또는 output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output_target: llm_input, external_output, audit_log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policy_profile: strict 같은 정책 이름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request_id: 요청 추적용 ID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EA4E4D-B30C-4F0E-B383-4A434CE54F51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741ECD-1EC6-4C5C-9E60-2EF4B29E7776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정규화 예시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5AFF89-A87F-481B-9C32-C58D82C708C4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472D96-A76F-4BDD-B83F-A296EFA9D1D1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０１０ -&gt; 010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－ -&gt; -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010​-1234​-5678 -&gt; 010-1234-5678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①②③ -&gt; 123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16FAE5-FEB8-4999-86BC-8D82681FE6A3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ED21EB-7340-411B-8AC4-10CADFBF46C6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원문 위치 지도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16413B-5CD2-438F-875D-188406AA7A00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탐지용 텍스트의 이 글자 위치가 원문 몇 번째 글자에서 왔는지 저장합니다.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탐지용에서 찾은 전화번호를 원문 위치로 되돌립니다.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 지도가 없으면 정확한 마스킹이 불가능합니다.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E4893A-4122-4D0B-B907-29D17FF061D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BE087F-578C-4CD7-9D6C-07F3D0A29E56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M1의 결과는 뒤 detector들이 사용할 준비된 텍스트 묶음입니다.</a:t>
            </a:r>
          </a:p>
        </p:txBody>
      </p:sp>
    </p:spTree>
    <p:extLst>
      <p:ext uri="{BB962C8B-B14F-4D97-AF65-F5344CB8AC3E}">
        <p14:creationId xmlns:p14="http://schemas.microsoft.com/office/powerpoint/2010/main" val="199614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64ED7B-C530-47C1-80B2-5ACF9D4AA9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2A7942-715D-422C-A80E-8137DF45C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9AAD8DF8-1EF7-41FD-9890-7930222BD223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DC3929D8-5A8A-404A-B769-80358AED3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 variant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979F76-34F5-4FBC-9BD9-BEE5348A78A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일부러 띄어 쓰거나, 초성으로 쓰거나, 로마자로 쓰거나, 한글 숫자로 쓴 개인정보도 찾기 위해 변형을 만듭니다.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70480A-C82C-4BEF-A705-0F5CFDBA44CB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 변형들은 모두 원문 위치로 되돌릴 수 있어야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FEB2D5-F2BC-433D-AB56-DDE9345CFB9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8/55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A5C099-9383-406E-8044-859D9E263F36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9D097F-455C-42B4-B0DA-6972AFF6AA70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숫자/공백 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618F10-B536-42D9-A3F3-DE5E61E4FC9A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B2365D-7421-448B-BC5A-06D4DBBB77B0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9 0 0 1 0 1 - 1 2 3 4 5 6 8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900101-1234568</a:t>
            </a:r>
          </a:p>
          <a:p>
            <a:endParaRPr sz="120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 민 번 호 900101-1234568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주민번호 900101-1234568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750817-682B-443D-A1D6-2A6A74D0D833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A8AE92-C8C0-4F70-89FB-6692F718B587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초성/로마자 변형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238054-ADC5-4C02-8462-E28F1469B6C1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59C560-5015-48C2-8516-71FE47E5D5BB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ㅈㅁㅂㅎ는 900101-1234568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주민번호는 900101-1234568</a:t>
            </a:r>
          </a:p>
          <a:p>
            <a:endParaRPr sz="120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jumin beonho 900101-1234568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주민번호 900101-1234568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867E4E-BC05-4F0D-A951-413E8519320E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C06B1D-2509-4CBC-8ACB-031696516FA5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한글 숫자 변형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17D423-0C6E-4CA6-A39B-8FD3160736ED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92893B-7CE7-4A65-A4F1-038C41B7EBA9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연락처는 공일공 일이삼사 오육칠팔입니다.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연락처는 01012345678입니다.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F2D716-62BE-4533-8151-66107B2D6019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BE36F5-B4DF-4C2A-AE27-7F7AEBA434E6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잘 찾기 위해 텍스트를 바꿔서 보지만, 실제 결과는 반드시 원문 위치로 되돌립니다.</a:t>
            </a:r>
          </a:p>
        </p:txBody>
      </p:sp>
    </p:spTree>
    <p:extLst>
      <p:ext uri="{BB962C8B-B14F-4D97-AF65-F5344CB8AC3E}">
        <p14:creationId xmlns:p14="http://schemas.microsoft.com/office/powerpoint/2010/main" val="98387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D5B2EA-CD83-421F-8B99-4CCE77E0CC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0134F7-7A40-42C0-A43C-0748FF3920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B151781D-C806-41AF-B418-8A8014C10BE2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84D17085-76DB-42C9-8AFD-98E728D33C8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M1에서 아직 하지 않는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652BF8-2C60-4542-AA81-4B485CAAD56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M1은 개인정보를 최종 판단하지 않습니다.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C4732B-5F0F-4D45-9BDC-5E3D93BECBF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다음 단계가 제대로 탐지할 수 있도록 준비만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B841E6-F46D-4A0B-9519-9C99B7A44FD6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9/55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DB2612-E0A1-4EF9-8A33-57F70C3010FC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B0883A-2D3A-4843-9D74-81585EEA7D1C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93EBD9-200A-4583-A129-DC258A7E35E6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개인정보 최종 판정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위험도 최종 결정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차단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감사 로그 기록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2D4E72-3026-49A7-88D2-65C4DD207BD6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4FC282-D14E-4ECC-A228-0E816D87A6D2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ED3BAB-98FA-4654-B162-F8FD0E8CB72F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57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사용자가 문장을 넣으면, 가드레일은 원문을 그대로 보관합니다. 그리고 개인정보를 더 잘 찾기 위해 정규화된 텍스트와 여러 탐지용 변형 텍스트를 만듭니다.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E051B-6507-422A-A0BA-5C6015F1E151}"/>
              </a:ext>
            </a:extLst>
          </p:cNvPr>
          <p:cNvSpPr>
            <a:spLocks noGrp="1"/>
          </p:cNvSpPr>
          <p:nvPr/>
        </p:nvSpPr>
        <p:spPr>
          <a:xfrm>
            <a:off x="6534150" y="3638550"/>
            <a:ext cx="481965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변형 텍스트에서 찾더라도 최종 위치는 원문 기준입니다.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offset map이 있어야 정확한 위치만 마스킹할 수 있습니다.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246469-7BC8-4CE2-8DCC-09119A4B46AC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7CFC77-570C-404B-9C51-61EFC275B026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 = 원문을 보존하면서 탐지용 텍스트를 만드는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98344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1CF622-08B8-4812-AD03-75ABFD6FA5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E44701-7699-4A34-B6CD-45293E744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045F866D-9B7A-4EEE-86CB-C1E050CDA1D8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AEC0179B-60D8-4AFA-A229-62F8B663411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 후보 탐지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75610-B979-4DA8-9ADA-CA32F08FDDD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M2는 진짜로 개인정보 후보를 찾는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2632E6-C1AC-4292-B109-2266F8ED323A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M1이 준비한 텍스트 안에서 개인정보처럼 생긴 패턴을 찾습니다.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689D98-B8C0-451F-8329-F044443E4FC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10/55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3339D4-348D-4F3A-8D4C-1AEA8445117B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6A8746-BF1B-4D30-B7AB-ABCCA1527F9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753E24-16C1-4036-804E-66BCF61C0B2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17B5D5-5FFA-48EE-B8B0-8B6FF5E671A3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M1: 텍스트를 찾기 좋은 형태로 준비한다.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M2: 그 텍스트들 안에서 개인정보처럼 생긴 패턴을 찾는다.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68ECD8-F262-400E-B81E-43989EBA586C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B4880C-9B42-46AD-BB86-19193DBC9602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B45F7A-0E87-4358-B399-DF14D812E46C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82C420-4FFF-4430-922B-28D33961FC7A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 결과물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여러 탐지용 텍스트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정규식(regex)으로 패턴 찾기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원문 위치로 복원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validator로 검사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개인정보 후보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EA57B8-CF37-4263-BA98-77987F2CB448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6D872D-ADDA-4C0D-9DA4-E8A13E3E1AA5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M2의 결과도 최종 판단이 아니라 개인정보 후보입니다.</a:t>
            </a:r>
          </a:p>
        </p:txBody>
      </p:sp>
    </p:spTree>
    <p:extLst>
      <p:ext uri="{BB962C8B-B14F-4D97-AF65-F5344CB8AC3E}">
        <p14:creationId xmlns:p14="http://schemas.microsoft.com/office/powerpoint/2010/main" val="106208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ADE4BF-57C5-40E5-9724-B67AD35259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1BAF30-7333-4305-85D6-3A64742099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1-marker">
            <a:extLst>
              <a:ext uri="{FF2B5EF4-FFF2-40B4-BE49-F238E27FC236}">
                <a16:creationId xmlns:a16="http://schemas.microsoft.com/office/drawing/2014/main" id="{B0015497-9B3F-4A1A-A0F5-DFBAB512D163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1-label">
            <a:extLst>
              <a:ext uri="{FF2B5EF4-FFF2-40B4-BE49-F238E27FC236}">
                <a16:creationId xmlns:a16="http://schemas.microsoft.com/office/drawing/2014/main" id="{A9582A69-28AB-4068-9EEE-3855E4B64B3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 후보 생성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190952-B407-432B-9492-F7ABDCACB7B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탐지용 텍스트에서 찾았더라도 결과는 원문 기준으로 만들어야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33D940-04F1-418A-8283-35685F07645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 원칙은 M1의 offset map과 바로 연결됩니다.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15CE4C-584E-40DE-A5AA-6A23E9F0B387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11/55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FBA5B9-862A-4232-AA14-2CCD92B35C86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852146-46A7-42BB-9EE8-B22BFA59A405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입력과 탐지용 텍스트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0859F5-E3B3-46C8-8CDB-50D42C15402C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80FC1-0BF4-4B5F-B473-ED9CEA5CCAF1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연락처는 ０１０－１２３４－５６７８입니다.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 탐지용: 연락처는 010-1234-5678입니다.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74A2DD-6060-4C5D-9D95-A432A7B98A89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0487D4-4A90-4136-A19E-950DB092F083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 판단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0BFE6C-380F-4C8A-B4C8-76ECD83BA8A0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988AE8-409E-4A0E-8C87-48169913F042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어? 010-1234-5678은 전화번호 패턴인데?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PHONE 후보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3CC4A8-607C-49AD-B3AF-9727A95C9D41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14049-E594-4927-B8DE-36A1E31864DF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후보 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971053-2DCF-4160-A0B4-2C4506BC83BB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C1DECD-7861-4E2A-952F-E937103183DD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entity_type: PHONE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text: 원문 속 전화번호 부분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start/end: 원문 기준 위치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score: 후보 점수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source: regex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C152BF-9B70-40EA-80C3-FC941401D334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0A27B6-C8D5-4295-BA8E-F67E0E18D8BE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탐지용에서 찾음: 010-1234-5678 / 원문 실제 위치: ０１０－１２３４－５６７８</a:t>
            </a:r>
          </a:p>
        </p:txBody>
      </p:sp>
    </p:spTree>
    <p:extLst>
      <p:ext uri="{BB962C8B-B14F-4D97-AF65-F5344CB8AC3E}">
        <p14:creationId xmlns:p14="http://schemas.microsoft.com/office/powerpoint/2010/main" val="196566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C580F6-52D2-4FD3-A914-AF0D3034C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F9755E-F54B-44E3-8671-5F11B64372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2-marker">
            <a:extLst>
              <a:ext uri="{FF2B5EF4-FFF2-40B4-BE49-F238E27FC236}">
                <a16:creationId xmlns:a16="http://schemas.microsoft.com/office/drawing/2014/main" id="{774DCAE8-4B9D-458F-8DEE-56F45CDE4460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2-label">
            <a:extLst>
              <a:ext uri="{FF2B5EF4-FFF2-40B4-BE49-F238E27FC236}">
                <a16:creationId xmlns:a16="http://schemas.microsoft.com/office/drawing/2014/main" id="{871BA0AB-F3DA-4750-A905-CC97557EB56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M2가 찾는 것들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821A1C-D526-4C20-823C-E58BA4E0F85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M2는 생김새가 비교적 정해진 구조형 개인정보를 잘 찾습니다.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5FD2F8-2191-4148-BD73-5480D50AF3B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이런 값들은 정규식과 validator를 함께 쓰기 좋습니다.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EFD21A-9F91-4626-8211-CAA467798E8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D14B37-4A15-42C0-B365-3D3F4F1F225A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092425-B8EC-49C9-9FF4-D7679DCEEB00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주요 대상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AD06A4-CC6E-47E4-81B9-606156B9ED2C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전화번호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이메일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주민등록번호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외국인등록번호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신용카드번호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사업자등록번호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계좌번호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IP 주소 / MAC 주소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API key / secret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7EADC4-2E9F-42ED-8E02-7431607E615F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F42920-0716-45E5-8FD8-BF65F82A698D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575CF-3AA4-4BE7-A0B4-FBFCE3D79F8A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A95112-3451-4A1C-A0CA-4C8BFFCC1409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900101-1234568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4111-1111-1111-1111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123-45-67890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192.168.0.1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9E863C-9F54-4BD9-8536-8E8A10FC145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777F13-7F90-4B31-A66C-AF3D3597AFB5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모양이 뚜렷한 정보는 M2에서 recall을 확보합니다.</a:t>
            </a:r>
          </a:p>
        </p:txBody>
      </p:sp>
    </p:spTree>
    <p:extLst>
      <p:ext uri="{BB962C8B-B14F-4D97-AF65-F5344CB8AC3E}">
        <p14:creationId xmlns:p14="http://schemas.microsoft.com/office/powerpoint/2010/main" val="106985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DAD6E4-88EF-4E23-9146-B37F259DF5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D2F43C-C15B-4FB0-8935-A582217D11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3-marker">
            <a:extLst>
              <a:ext uri="{FF2B5EF4-FFF2-40B4-BE49-F238E27FC236}">
                <a16:creationId xmlns:a16="http://schemas.microsoft.com/office/drawing/2014/main" id="{6BF9540D-EB8F-421C-9921-8DCB4570EDB5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3-label">
            <a:extLst>
              <a:ext uri="{FF2B5EF4-FFF2-40B4-BE49-F238E27FC236}">
                <a16:creationId xmlns:a16="http://schemas.microsoft.com/office/drawing/2014/main" id="{01B952AD-4AC9-4B6C-BCC2-8189005EEAD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M2는 regex만 믿지 않습니다.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1D5698-13AC-43A4-931E-6A0224FF49E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패턴이 맞다고 해서 진짜 개인정보라고 확정할 수는 없습니다.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E5100F-D9AF-4B89-8742-BAB5F939394B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그래서 validator가 한 번 더 검사합니다.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3F147F-358F-4AAD-9134-EC26C223431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633A2E-071D-404A-91B9-E4032430B83E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F049CC-4712-4BB6-8ACF-FDC693094A87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D55F4C-BF91-4641-AF9F-82640D8BD3E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9E2395-5EA3-4479-80C3-52BD123C571B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패턴이 맞다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=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진짜 개인정보다</a:t>
            </a:r>
          </a:p>
          <a:p>
            <a:endParaRPr sz="165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이렇게 보면 안 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F9154C-C53D-43CF-AE94-91DAF3FB124A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E7F6E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53FEC4-3D9E-432A-A332-11DB9270BE2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validator 역할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6D12A9-A26F-4F9B-A8CD-42EDCC171C01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정규식이 찾은 후보를 다시 검사합니다.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값이 실제 규칙에도 맞는지 확인합니다.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틀리면 reject하거나 낮은 점수 후보로 둡니다.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663419-310C-4A29-94C7-48EC4E4252EF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341C41-B8A9-44DD-86CE-9B9339E7A3D0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검사 예시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DCD82C-51D1-41AA-BBEF-1E693AD2D33B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AAE90D-83BE-4581-894B-77A00747894B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신용카드번호 -&gt; Luhn checksum 검사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사업자등록번호 -&gt; 사업자번호 checksum 검사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주민등록번호 -&gt; 날짜/성별코드/checksum 검사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이메일 -&gt; 기본 형식 검사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0DB6AA-75DE-4EF0-8264-A8D947C1252B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CAA931-A938-4125-ADBA-EBE1B32C9A54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regex는 모양을 찾고, validator는 그 값이 실제 규칙에도 맞는지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93553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D29C17-3FA8-4DE4-A34E-F025D76373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C6152D-0138-4B5C-A9C6-0494EA0E4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4-marker">
            <a:extLst>
              <a:ext uri="{FF2B5EF4-FFF2-40B4-BE49-F238E27FC236}">
                <a16:creationId xmlns:a16="http://schemas.microsoft.com/office/drawing/2014/main" id="{200ADE3F-728A-472A-991A-F53C04BE58DC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4-label">
            <a:extLst>
              <a:ext uri="{FF2B5EF4-FFF2-40B4-BE49-F238E27FC236}">
                <a16:creationId xmlns:a16="http://schemas.microsoft.com/office/drawing/2014/main" id="{EA1A26C3-033D-4DD4-8E7B-EFB68FD8BF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 예시와 책임 범위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5D74E8-86DF-4130-A799-C5C3FAE679B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M2는 후보를 만들 뿐, 마스킹이나 차단을 직접 결정하지 않습니다.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5089F0-048B-4631-BBA2-79905ADC3EF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전화번호, 이메일, 주민번호처럼 구조가 있는 값을 후보로 넘깁니다.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BBA976-C635-4F1D-8427-EA989B17824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D3EBAC-43CC-4130-8FB5-4D22246E5D72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67E1AD-6AA3-402D-992A-5BCC294FABAB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예시 판단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0B4E2A-5255-41B2-B503-DA13D0022768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352DD5-C3A3-41F5-89B4-83A43B7E5C3C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010-1234-5678 -&gt; PHONE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 -&gt; EMAIL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900101-1234568 -&gt; RRN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123456-1234567 -&gt; validator에서 낮은 점수 또는 reject 가능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AA41D1-8D25-4503-8758-2AAA817F8A92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4D1B54-159A-4B24-AC7B-463EB66382CE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0C2BA5-F6C1-4E39-8A38-2FC26CF20F6F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최종 개인정보로 확정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차단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조사/어미 분리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이름+전화번호 조합 위험 판단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80D9EB-27F7-49C9-9F32-CE854B20560C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50E6FE-D265-4796-8DCA-0C8F739FDA1E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D4DA70-A5E0-46AC-AA64-496FABFB3168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3143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M2는 모양이 정해진 개인정보를 정규식으로 찾고, validator로 한 번 더 확인한 뒤 원문 위치 기준 후보로 넘깁니다.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60038F-ACC4-4C1D-A766-88A51684D2F7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04A427-DDB6-4639-804D-0E4880266191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 = 구조형 개인정보 후보를 찾고 검증하는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829657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1AD6B2-FD7B-4F6E-B3C6-55FF1C7B70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475F42-D102-4BCF-BF66-07A8BE4667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5-marker">
            <a:extLst>
              <a:ext uri="{FF2B5EF4-FFF2-40B4-BE49-F238E27FC236}">
                <a16:creationId xmlns:a16="http://schemas.microsoft.com/office/drawing/2014/main" id="{62F24FE1-6CDF-4D2B-A370-B0DD892EC46D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5-label">
            <a:extLst>
              <a:ext uri="{FF2B5EF4-FFF2-40B4-BE49-F238E27FC236}">
                <a16:creationId xmlns:a16="http://schemas.microsoft.com/office/drawing/2014/main" id="{C3146023-4B0F-486C-A2CF-0296A65CFA5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 경계 보정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68A6E1-7E88-4AAA-B422-5E4639E88A0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찾은 후보의 범위를 한국어 문법에 맞게 다듬는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1B36A4-E623-49BF-930C-25DFECF674B0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개인정보 본체와 조사/어미를 분리합니다.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348A60-2319-4A31-B50F-E25BA4C878E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15/55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D6391A-DAB9-4D62-AD52-46F9B3570ED8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6453AC-A20C-4A7C-B437-952674B76CA6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B04460-DBF0-4D72-9145-457DD36AEEC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4A1612-2901-46DA-B849-CEDFC26002F4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M2: 개인정보처럼 생긴 부분을 찾는다.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M3: 개인정보 본체와 한국어 조사/어미를 분리한다.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621ADC-B170-4E81-97FA-8501081AEFF6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58A91F-75D2-4198-97F5-2C49ACA2473E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69CEB8-D794-4813-9119-5C9B2C294550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B2EFD6-14D8-4D72-9F4F-3A482BC1C288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 후보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뒤에 붙은 조사/어미/호칭 확인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개인정보 본체만 span으로 남김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suffix는 따로 보관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다음 단계로 넘김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D224AF-3DFA-4A56-A55E-41FDC951E51E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2B146F-A621-425E-B82F-473325C44AFC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자연스러운 마스킹과 정확한 boundary를 위해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552389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3BE823-34B0-4956-B6CE-528D679F90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C2E4D-9886-4250-ABCA-B786EC5DFB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6-marker">
            <a:extLst>
              <a:ext uri="{FF2B5EF4-FFF2-40B4-BE49-F238E27FC236}">
                <a16:creationId xmlns:a16="http://schemas.microsoft.com/office/drawing/2014/main" id="{1715FCB6-0FF0-48F7-8007-9A9407399463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6-label">
            <a:extLst>
              <a:ext uri="{FF2B5EF4-FFF2-40B4-BE49-F238E27FC236}">
                <a16:creationId xmlns:a16="http://schemas.microsoft.com/office/drawing/2014/main" id="{6C014E0F-5454-4B49-A277-460A958FBD5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BD9D33-421E-40B4-9F37-43BC8E8FF41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한국어에서는 개인정보 뒤에 조사나 어미가 자주 붙습니다.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37C376-F94E-4EB9-85B1-0E3DDDAA8FA7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이걸 분리하지 않으면 마스킹 결과가 어색해집니다.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65A2C8-8B8D-449E-8FA7-9DA5B2DBD1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16/55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FE1424-731C-4593-9B71-F24A278EE06D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94883C-2E01-4BC1-A23E-D5B2D57C5A7B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이름 + 조사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7516C8-569E-43BA-8513-E1D1738CA57E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E69C5A-A161-4EBE-B6EA-D5CD1E3700E3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본체: 홍길동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suffix: 이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[PERSON_1]이 신청했습니다.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38C203-7C12-411E-98F7-8EB7854E84EA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B2B4B7-6143-4A5E-BAA8-DEBBF7D64004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이름 + 조사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554031-E8CB-4ED0-BEE1-8A572F8FC47F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B8B10D-B0D6-4AF3-8E77-0EFF3F0DF0AB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김민수에게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본체: 김민수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suffix: 에게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[PERSON_1]에게 연락하세요.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3B02D3-AB64-4F3D-AC89-7A1ADE50A870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84AA17-9DA6-4EC8-9C7B-8B3DE2E591D1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구조형 PII + 어미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336A46-0CC9-405A-87DA-1857C0AA7B31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988779-D3DE-4323-A263-86F48A7A3398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010-1234-5678로 -&gt; [PHONE_1]로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test@example.com입니다 -&gt; [EMAIL_1]입니다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C4F3DE-948A-4C42-AD15-CE9A5A2462EE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18DB45-482D-4EE6-953A-802667B4869B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나쁨: [PERSON_1] 신청했습니다. / 좋음: [PERSON_1]이 신청했습니다.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53952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B9543E-3097-4685-9B5E-2C8486AAAC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171156-3857-4E1A-ADCB-203978B3ED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7-marker">
            <a:extLst>
              <a:ext uri="{FF2B5EF4-FFF2-40B4-BE49-F238E27FC236}">
                <a16:creationId xmlns:a16="http://schemas.microsoft.com/office/drawing/2014/main" id="{15DE8112-70BE-4479-876D-C15BA85C60D9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7-label">
            <a:extLst>
              <a:ext uri="{FF2B5EF4-FFF2-40B4-BE49-F238E27FC236}">
                <a16:creationId xmlns:a16="http://schemas.microsoft.com/office/drawing/2014/main" id="{24AFA79D-C4F3-413D-852F-F436FAD14A3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M3가 중요한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B630A2-595A-4C43-A9DD-BC5A2D4CCEA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경계가 틀리면 마스킹 품질과 평가 점수가 모두 나빠집니다.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7CDFD8-C15B-4C35-B039-497AFDA22C0F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개인정보는 본체만 가리고 문장 성분은 남겨야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8F649D-584D-449F-9270-2153AC5C9FA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17/55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DEE146-3662-44B2-941E-194B55C400D3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F8FA72-8C6F-4540-943A-70F0303BE86F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한국어에서 자주 생기는 형태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15FD99-EC49-4F6A-85D3-2435651DC8C9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66A46C-E4BA-471B-9042-45CC688FC876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김민수에게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서울시에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전화번호로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이메일입니다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57E075-268C-4C11-BCDE-AA4A2064E67A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E6E138-546D-426D-A6AF-92310B69234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문제 1: 문장이 어색해짐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90C149-33B8-4885-96C6-C587B45BA79D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A610C1-C623-42EE-94CE-5670DA84A344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나쁨: [PERSON_1] 신청했습니다.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좋음: [PERSON_1]이 신청했습니다.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B1B101-CFC2-4CF9-A763-55B039BB87D3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65D5C8-31D0-445A-8CE9-D85B8AF60C6B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문제 2: span 경계가 틀림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B425557-162B-48C1-89F4-A6978443EBFF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개인정보는 '홍길동'입니다.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'홍길동이' 전체를 개인정보로 보면 boundary가 틀립니다.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M10 평가에서도 경계 오류로 잡힐 수 있습니다.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5338DE-4E34-4D58-A681-5F5F3C5B67F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4F61B6-25BB-4D4E-87B5-3430D7C5B073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정확도와 사용자 경험을 동시에 지키는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73387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7FE7B3-FDCD-4B4A-BFC9-F9D5D2CC6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A86104-7A17-4E7E-BB49-02BB01BF95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8-marker">
            <a:extLst>
              <a:ext uri="{FF2B5EF4-FFF2-40B4-BE49-F238E27FC236}">
                <a16:creationId xmlns:a16="http://schemas.microsoft.com/office/drawing/2014/main" id="{80FF3B8A-AEC8-4684-A74E-1B3798BB56F8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8-label">
            <a:extLst>
              <a:ext uri="{FF2B5EF4-FFF2-40B4-BE49-F238E27FC236}">
                <a16:creationId xmlns:a16="http://schemas.microsoft.com/office/drawing/2014/main" id="{9A55EEEE-240B-4C74-A3F1-ACBCF9B47B9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M3에서 아직 하지 않는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3A73CC-EFA4-4A53-8D86-3146EC4C578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후보의 경계만 다듬고, 최종 판단은 뒤 단계로 넘깁니다.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D7138A-403E-4B66-8E42-471869513CB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후보를 최종 개인정보로 확정하는 단계가 아닙니다.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9FE734-AF21-4442-A01B-95A4FA421F3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18/55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97A11A-48E8-4F56-86B1-9706269EA177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3A6BB7-2C38-49BF-ACE4-9229AE3002A3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FFD7C8-CDCC-468F-B357-C1BDB3A84BE7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후보를 최종 개인정보로 확정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 방식 결정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위험도 최종 조정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이름+전화번호 조합 위험 판단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겹치는 후보 중 승자 결정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54DB7F-E532-4640-976D-60932719976B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3117BF-D599-4BC8-AF0C-DC9F5E639669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870A24-63F8-412A-B92B-5B5DE634762D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577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M2에서 찾은 후보의 경계를 다듬습니다. 이름, 전화번호, 이메일 뒤에 붙은 '이', '에게', '로', '입니다' 같은 조사나 어미를 suffix로 분리합니다.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A09EF7-9EE6-4E9C-A3B1-F64AEF088E23}"/>
              </a:ext>
            </a:extLst>
          </p:cNvPr>
          <p:cNvSpPr>
            <a:spLocks noGrp="1"/>
          </p:cNvSpPr>
          <p:nvPr/>
        </p:nvSpPr>
        <p:spPr>
          <a:xfrm>
            <a:off x="6534150" y="3905250"/>
            <a:ext cx="48196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나중에 개인정보만 가리고 조사/어미는 자연스럽게 남깁니다.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BF8CBC-78D8-4F6C-B408-88301DCC6EAD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49FD5B-FB7D-4CAF-998E-65A103F966BD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 = 개인정보 본체와 한국어 suffix를 분리하는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7690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DAFD31-CB10-4630-B3F9-635C97E2C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6181FD-7F95-41F6-8723-BE459D36A0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9-marker">
            <a:extLst>
              <a:ext uri="{FF2B5EF4-FFF2-40B4-BE49-F238E27FC236}">
                <a16:creationId xmlns:a16="http://schemas.microsoft.com/office/drawing/2014/main" id="{24C88A17-562F-486B-998E-C41523B7DB2A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9-label">
            <a:extLst>
              <a:ext uri="{FF2B5EF4-FFF2-40B4-BE49-F238E27FC236}">
                <a16:creationId xmlns:a16="http://schemas.microsoft.com/office/drawing/2014/main" id="{1BD21F42-75F7-4951-AEF1-AE78B5B3680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 문맥 점수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6409EA-B86F-4E9F-B7C8-5C6529998C3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M4는 주변 문맥을 보고 후보의 신뢰도를 조정하는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80249F-5597-4699-AABE-56620A7B262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 단어가 진짜 개인정보인지 주변 단서를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1512A2-23A6-4433-8EEE-85E1311A335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19/55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68293-D64D-432A-9B0F-265F5F0B3B22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32C82D-7B3F-4309-8629-FB2F9C4DC233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7F2F1E-13EE-4A98-A016-11ABD7B06C63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154084-44EF-4839-A6DF-75D25C338A4C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M3: 개인정보 본체와 조사/어미를 분리한다.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M4: 이 단어가 진짜 개인정보인지 주변 문맥을 보고 판단한다.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5DB6BA-1083-41DA-A994-570CA876B5F8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53704B-5189-4370-BBBC-9ABEACA2058A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050A23-D7F8-4088-B667-BD00E376A929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8C860E-476A-4988-AD2A-CA1D53100BC9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M3까지 정리된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주변 단어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개인정보 관련 label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함께 등장한 다른 개인정보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애매한 후보는 낮게 유지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문맥이 강하면 score를 올림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D7A338-6B61-4ACE-B83C-EE03E6791AC3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B7F6A5-CFDC-46DE-BDC1-CDDC258478B5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M4는 오탐을 줄이고, 진짜 가능성이 높은 후보를 강하게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0019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A1A814-23B9-4D14-BFE2-F55619929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4CFF1E-CF6E-46DD-A34B-BA0F7EBE61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0-marker">
            <a:extLst>
              <a:ext uri="{FF2B5EF4-FFF2-40B4-BE49-F238E27FC236}">
                <a16:creationId xmlns:a16="http://schemas.microsoft.com/office/drawing/2014/main" id="{02C8EAB2-56F1-4F05-A4F3-95E3E249EB43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0-label">
            <a:extLst>
              <a:ext uri="{FF2B5EF4-FFF2-40B4-BE49-F238E27FC236}">
                <a16:creationId xmlns:a16="http://schemas.microsoft.com/office/drawing/2014/main" id="{5449470C-5D2C-4EDA-BD20-2FAFF41EE82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 낮게 보는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DC430D-ACC5-43F9-B4AC-36EC3DE2978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사람 이름처럼 보일 수 있어도, 문맥이 아니면 강하게 믿지 않습니다.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91EE34-9F5F-4780-A2D9-2762CF183088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대표 예시는 '하늘'입니다.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82F6DC-13F1-4C94-9626-9DA4EA9C0836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20/55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74E86A-B8D3-4AD1-88FF-E6FB30075806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401CBF-5927-46F9-A5E0-529C2873E521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21C8E0-73A5-4964-BEF9-6E5E8F149D6C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10D30E-6769-4231-B202-F9B35F60BDE3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오늘 하늘이 맑네요.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71810B-7378-46C2-A20D-1112AD032382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647AA1-F805-46BF-80C7-CB5148A48FFB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C523EB-330B-431D-8705-786987F13AD3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하늘은 사람 이름일 수도 있습니다.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하지만 이 문장에서는 날씨 이야기입니다.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고객명, 이름, 연락처 같은 단서가 없습니다.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개인정보로 강하게 보지 않습니다.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C5E29-A97F-4B0F-9C6D-5BC1B326248F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114DBA-EDA1-41F8-884C-B6CAE2E32F42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D45BDE-2133-4CB2-BFA1-2249723A7ED2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2A12FE-A53B-4FBD-902A-444A755F508A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낮은 score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또는 pass 후보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나중에 마스킹되지 않을 가능성이 높음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577ECE-E3C7-4C68-BCFF-47E38D9E4CAE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A7D236-84AE-41AA-B433-D659B71A86DA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dictionary에 있다고 바로 마스킹하면 오탐이 많아집니다.</a:t>
            </a:r>
          </a:p>
        </p:txBody>
      </p:sp>
    </p:spTree>
    <p:extLst>
      <p:ext uri="{BB962C8B-B14F-4D97-AF65-F5344CB8AC3E}">
        <p14:creationId xmlns:p14="http://schemas.microsoft.com/office/powerpoint/2010/main" val="1573107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720D61-0F68-4AC6-9B20-48F35267B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D96790-BA02-40B0-B05E-390EFA0E89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1-marker">
            <a:extLst>
              <a:ext uri="{FF2B5EF4-FFF2-40B4-BE49-F238E27FC236}">
                <a16:creationId xmlns:a16="http://schemas.microsoft.com/office/drawing/2014/main" id="{8400250C-08C2-4640-941A-33F5B87B3533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1-label">
            <a:extLst>
              <a:ext uri="{FF2B5EF4-FFF2-40B4-BE49-F238E27FC236}">
                <a16:creationId xmlns:a16="http://schemas.microsoft.com/office/drawing/2014/main" id="{BAC5305D-613E-4E44-B5DA-A240090C810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 높게 보는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6F368D-38EE-492E-A10F-D89F243D2E9A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주변에 개인정보 단서가 있으면 score를 올립니다.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61AAEB-0B7C-46A0-AA1B-B7A155F1B0B2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같은 단어라도 문맥에 따라 판단이 달라집니다.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3BE52A-1DB9-48E8-88F5-9983B676761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21/55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579D5D-36B3-4038-8FD1-E5AA56E11614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676EB5-5867-4D63-A4CB-33349D09E905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문맥 때문에 이름으로 판단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A61A32-1494-4897-9D5A-6D8E0635CF9E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119B79-73D3-4E80-8C6C-08DC6464E1FD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고객명 하늘,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 010-1111-2222입니다.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051694-E732-4CF6-9BB3-8044E86AF4B2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181DEA-F4C4-4464-9067-2EEC5EFFF3CD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왜 score가 오르는가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C88BA2-4C04-4245-8437-1A9D655A6410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'고객명'이라는 label이 있습니다.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같은 문장에 연락처와 전화번호가 있습니다.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하늘이 사람 이름일 가능성이 높아집니다.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4EB58B-4EB4-460D-9BA3-E82BFCBF0CBA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F7B994-8A1C-465E-83CA-14A019B83797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계좌번호 문맥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F3BAD1-7B5B-4804-9B8C-E12F19639750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FFF892-511E-42F4-9500-C1E42B5C8850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신한은행 계좌 110-123-456789로 입금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은행 + 계좌 + 입금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BANK_ACCOUNT 가능성 상승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14FFAD-49AE-4CF2-AE99-1CD51742D7D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4E78AD-08AA-4693-8FB3-DF4C1CE7F043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문맥이 강하면 PERSON_NAME 또는 BANK_ACCOUNT 후보 score가 올라갑니다.</a:t>
            </a:r>
          </a:p>
        </p:txBody>
      </p:sp>
    </p:spTree>
    <p:extLst>
      <p:ext uri="{BB962C8B-B14F-4D97-AF65-F5344CB8AC3E}">
        <p14:creationId xmlns:p14="http://schemas.microsoft.com/office/powerpoint/2010/main" val="225841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69C5FB-C38B-4FDB-B199-56EA6C21EB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77D3F2-9437-4DF8-9FE2-342E1B7B13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2-marker">
            <a:extLst>
              <a:ext uri="{FF2B5EF4-FFF2-40B4-BE49-F238E27FC236}">
                <a16:creationId xmlns:a16="http://schemas.microsoft.com/office/drawing/2014/main" id="{6C8E3B16-277C-4A75-ADB5-0EDBA262CF70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2-label">
            <a:extLst>
              <a:ext uri="{FF2B5EF4-FFF2-40B4-BE49-F238E27FC236}">
                <a16:creationId xmlns:a16="http://schemas.microsoft.com/office/drawing/2014/main" id="{DEF8A12B-B25E-4811-B9B4-13BB13F3473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M4가 보는 단서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D2A5B4-DB0A-4AA6-9CFE-D84FBE8F9DB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M4는 개인정보와 가까운 label, 동시 등장 정보, 부정 문맥을 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12A7D7-E833-4600-A0F6-6ED20C0077E2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특히 이름 후보는 신중하게 다룹니다.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292C2B-4280-430E-BEEB-CD6597144D9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386393-5129-47AA-BBBB-6B4D9E222650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FDAB2A-C1D7-4532-AC0E-79AB1A07B9BC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강한 단서 label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88390A-655B-4F60-B0E1-C89AC40B1814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195B60-AFE9-4EAA-8DA3-82C0D436F8E7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고객명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이름 / 성명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 / 전화번호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계좌 / 은행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주민번호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담당자 / 환자명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A297EA-073F-4E5D-825B-A16666DD199E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64A9FC-D84E-4668-8B9E-D3536992ED31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부정 문맥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7BE2A7-59BF-4AE3-B4A9-F7E86DB2AF46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3AA162-DBF7-4955-BA1F-2190D689EBD5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예시 전화번호는 010-0000-0000입니다.</a:t>
            </a:r>
          </a:p>
          <a:p>
            <a:endParaRPr sz="112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전화번호 모양은 맞지만 '예시'라는 단어가 있습니다.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실제 개인정보가 아닐 수 있으므로 score를 낮출 수 있습니다.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D8DD0D-8213-4937-8B7A-6ECEADD1A1EB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2FA9BC-C715-4521-BBCF-2D391805EB45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M4는 주변 단서로 score와 reason code를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625600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C0B823-3B0A-4237-8951-BC951D7E8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80A3B3-7CEC-4651-A56A-09C0FB28E6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3-marker">
            <a:extLst>
              <a:ext uri="{FF2B5EF4-FFF2-40B4-BE49-F238E27FC236}">
                <a16:creationId xmlns:a16="http://schemas.microsoft.com/office/drawing/2014/main" id="{A2D4AC07-CA67-4041-BF18-076936792B4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3-label">
            <a:extLst>
              <a:ext uri="{FF2B5EF4-FFF2-40B4-BE49-F238E27FC236}">
                <a16:creationId xmlns:a16="http://schemas.microsoft.com/office/drawing/2014/main" id="{C69FFFDB-F606-4B1F-B71E-AE08AA7D9BA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M4의 핵심 원칙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0EE95E-C897-4778-B45A-8448F9C6825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무조건 믿지 않는 것이 M4의 핵심입니다.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606CBD-15AB-4D20-A351-89A69D6B19B7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특히 dictionary-only PERSON_NAME은 high confidence로 올리지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90E05D-4C96-4848-9667-F79A35B652A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2FB615-C85B-48DB-8454-7DB0CD9F7853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CB2D7D-EC97-4457-A70D-1A7E8DADB1C5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조심해야 하는 단어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9E9A18-EA5B-438D-8AD5-A44B8352D7DD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94954C-4645-47B9-A4C9-0386647F880D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하늘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사랑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민주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미래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우리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강남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중앙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52F615-A357-49F8-AB77-630413DB5C99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30ED4C-879D-42A2-8AAD-A2BF0D7B9B6E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결과 예시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5BC800-BD6D-4696-8306-6EF9B472B65E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E86BE4-3366-4D22-8E87-1318B39DA051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entity_type: PERSON_NAME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score: 0.42 -&gt; 0.78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reason_codes: field_label_name, cooccurs_with_phone</a:t>
            </a:r>
          </a:p>
          <a:p>
            <a:endParaRPr sz="105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또는</a:t>
            </a:r>
          </a:p>
          <a:p>
            <a:endParaRPr sz="105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score: 낮게 유지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reason_codes: weak_dictionary_match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08939B-C411-4F47-B8C7-CD3BE026E5F4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76AA3F-85B4-4223-BCD7-7DFB280D433C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3D60DE-9DDF-4199-A353-C3E250A05B36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겹치는 후보 중 최종 승자 결정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최종 마스킹 여부 결정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MASK/HASH/BLOCK 선택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실제로 텍스트 변경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log 기록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CB5389-24D1-419D-87A5-5629F28DE32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9BEB1C-2C81-4F2F-B7BE-A96E73144AE2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 = 주변 문맥으로 개인정보 후보의 신뢰도를 조정하는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48159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38F63D-3BE8-4A85-A588-D7573F82B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0F190F-0757-4098-AAA6-7A62B1210A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4-marker">
            <a:extLst>
              <a:ext uri="{FF2B5EF4-FFF2-40B4-BE49-F238E27FC236}">
                <a16:creationId xmlns:a16="http://schemas.microsoft.com/office/drawing/2014/main" id="{DED6A448-5021-4F18-9490-6E97A5D72D0C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4-label">
            <a:extLst>
              <a:ext uri="{FF2B5EF4-FFF2-40B4-BE49-F238E27FC236}">
                <a16:creationId xmlns:a16="http://schemas.microsoft.com/office/drawing/2014/main" id="{296E8F2A-90AD-4878-969E-D164251D382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 NER 통로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3F2916-DFDF-415E-BB57-07E48164567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M5는 NER 모델을 연결할 수 있는 통로를 만드는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7CBECD-DB27-4D16-ADB0-EB964B072967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진짜 모델을 무조건 돌리는 단계가 아니라, 모델 후보가 들어올 인터페이스를 정합니다.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C7064D-C7B3-4DCA-8DD5-B2596D317D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FA5DF1-8BCD-495D-A452-C466FBABF4DB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45CAE4-8F28-491E-B5A1-AFDB99E20AC9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74110-AD18-4191-921B-C130C8F56FD3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5AC92D-16D2-4163-935D-37B2B5B17191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M4: 주변 문맥으로 후보의 신뢰도를 조정한다.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M5: 정규식이나 사전으로 찾기 어려운 개인정보를 NER가 후보로 낼 수 있게 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848543-014C-4D75-8BB4-C3396E60CFFF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7A878A-7E6E-4D67-BDF3-3978BDC67CA9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ADC5B0-5F03-452E-B0EC-746B0F203794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CBA514-E1B4-44BF-8154-3D2006B6051E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 텍스트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NER 모델 또는 mock NER가 후보 탐지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모델 label을 가드레일 entity로 변환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raw offset 검증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개인정보 후보로 합류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뒤 단계에서 다시 보정/판정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4481B2-2D9F-44CE-BCCE-3D9337C3AB93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BA2492-3846-48B3-8F81-D7AE26F04164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NER도 최종 판단자가 아니라 후보 생성자입니다.</a:t>
            </a:r>
          </a:p>
        </p:txBody>
      </p:sp>
    </p:spTree>
    <p:extLst>
      <p:ext uri="{BB962C8B-B14F-4D97-AF65-F5344CB8AC3E}">
        <p14:creationId xmlns:p14="http://schemas.microsoft.com/office/powerpoint/2010/main" val="1513150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E6763B-484F-4B9B-9695-AE9A4A4B5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45B7A6-E6FC-42CF-9D53-64D726DDF6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5-marker">
            <a:extLst>
              <a:ext uri="{FF2B5EF4-FFF2-40B4-BE49-F238E27FC236}">
                <a16:creationId xmlns:a16="http://schemas.microsoft.com/office/drawing/2014/main" id="{3F81ABA8-92E8-43C0-B72F-01AB4CCA3D09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5-label">
            <a:extLst>
              <a:ext uri="{FF2B5EF4-FFF2-40B4-BE49-F238E27FC236}">
                <a16:creationId xmlns:a16="http://schemas.microsoft.com/office/drawing/2014/main" id="{113A6A20-5232-40EB-940E-AB24751D935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M5가 필요한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A14EC3-8C1C-40E8-9892-EA7B0B80ADD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정규식은 모양이 정해진 값에는 강하지만, 의미형 정보에는 한계가 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EE11D5-9E13-4839-95EB-4036B2A840C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사람 이름, 주소, 기관명은 문맥과 의미를 봐야 할 수 있습니다.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491A4C-4798-4E26-AB48-7005EBE31C4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25/55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D6615A-B085-41E7-83BD-EE14AC61F81C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AFD734-C323-4196-AC41-3EB8C204B5AD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정규식이 잘 찾는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7124E6-B965-45D1-8D36-7725FFC2B229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5A3FD4-055A-449F-99E0-87D1AE5356B1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900101-1234568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A69A21-CD07-4628-BDCF-DA284AC24DD9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D6CD0D-33B3-476E-BBD5-942B121D200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정규식만으로 어려운 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861092-CCA8-41D8-8337-F9A2D376BB2E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33627C-58FB-4C8D-AF19-28109BF821F6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서울시 강남구 테헤란로 123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OpenAI Korea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서울대학교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삼성서울병원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5D0769-9E08-4BEC-BF2B-3769C8B4EC9D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CE3894-4D92-4675-BCFC-9B2FF4BECB69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NER의 역할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27301C-E5F0-46F5-BD0F-879026603B09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이건 사람 이름 같다.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이건 주소 같다.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이건 기관명 같다.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이런 의미형 후보를 표시합니다.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B4BDA8-CE0F-4100-AA2B-D8CB9B523C1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EACAAE-8759-4624-B939-0CE43C2D903F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M5는 의미형 개인정보 후보를 pipeline에 합류시키기 위한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195999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3A7582-C0C8-49FC-B5E3-26160B9DBA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CE7A12-8CA4-448E-8A82-D6118E324D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6-marker">
            <a:extLst>
              <a:ext uri="{FF2B5EF4-FFF2-40B4-BE49-F238E27FC236}">
                <a16:creationId xmlns:a16="http://schemas.microsoft.com/office/drawing/2014/main" id="{F7E85B88-8056-47B0-A53E-148B5CD9A1F4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6-label">
            <a:extLst>
              <a:ext uri="{FF2B5EF4-FFF2-40B4-BE49-F238E27FC236}">
                <a16:creationId xmlns:a16="http://schemas.microsoft.com/office/drawing/2014/main" id="{108104AC-58C1-4252-BA7C-59768C548C4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 label mapping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4033EE-DBC7-46F8-921A-DA6BA637170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모델의 label을 가드레일 entity로 바꿉니다.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78748F-4EA5-43BA-8C4D-F972423FAC4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v0.2에서는 NER가 직접 내는 entity를 제한합니다.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0A3C2F-1629-4177-8E94-E739F0E1A2E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26/55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6AEA16-CF7B-481F-BE45-8E5B7A4E7D0B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7DB451-44B8-4A24-9140-DFF13066B1F7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주요 mapping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7EDD0C-31FA-4023-BCC7-8F6FD0CBDDAC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7D9C44-4524-4C59-AB5C-DC43BF6CAA7E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NAME -&gt; PERSON_NAME</a:t>
            </a:r>
          </a:p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 -&gt; ADDRESS_FULL</a:t>
            </a:r>
          </a:p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ORG -&gt; ORGANIZATION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567712-D8FE-4F87-BE66-68FBB90480B2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4CA2B2-0365-4553-A2BC-7E141CFE59E3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26120D-B0EE-48DE-908F-E9B8772C8FD7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574FE6-E9BE-4D5F-A520-7E54FAA8B815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 -&gt; NAME -&gt; PERSON_NAME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서울시 강남구 테헤란로 123 -&gt; ADDRESS -&gt; ADDRESS_FULL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OpenAI Korea -&gt; ORG -&gt; ORGANIZATION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ED7DB9-E90B-483D-ACCE-DDE3296313E7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ACFEE7-B596-4500-B2B2-B24AD0D633AC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바로 확정하지 않음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F580CD-65F6-4AFA-B708-EB1C9DA4859A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NER가 찾았다고 바로 마스킹하지 않습니다.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뒤에서 boundary, context, resolver, policy를 다시 거칩니다.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 결과도 후보입니다.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59563D-8053-4646-B6F5-5200A944CD49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FCB353-0F82-4447-96F6-EFC2C5BE33FD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후보도 원문 기준 offset을 지켜야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66164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38C284-FE32-4008-859F-C1EB7489AB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676AC5-5322-4052-81E8-E73199205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7-marker">
            <a:extLst>
              <a:ext uri="{FF2B5EF4-FFF2-40B4-BE49-F238E27FC236}">
                <a16:creationId xmlns:a16="http://schemas.microsoft.com/office/drawing/2014/main" id="{AC2A1912-C601-4E19-8E1E-A2A1C492C66D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7-label">
            <a:extLst>
              <a:ext uri="{FF2B5EF4-FFF2-40B4-BE49-F238E27FC236}">
                <a16:creationId xmlns:a16="http://schemas.microsoft.com/office/drawing/2014/main" id="{A5938783-FBC1-4727-87B4-BC648A3B70B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M5에서 제한하는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667B5B-CAA2-4A8A-ADB9-368B66FF632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NER가 ORG라고 냈다고 바로 학교나 병원으로 확정하면 위험할 수 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14F958-872F-4465-B06E-66CAC5E52BC3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세부 entity는 dictionary, regex, context, resolver가 함께 판단합니다.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995E2C-DB3D-48FC-AC09-E7DE47C9DD1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27/55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667EFD-2554-4351-B815-6E79535627E6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402882-5529-453E-B4FA-456C1FA7C5EC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NER가 직접 확정하지 않는 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46894-1D58-43D1-BCAD-F0E918C5DE02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B1A785-297D-45AB-A91F-2F651BFFAC07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SCHOOL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HOSPITAL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ADDRESS_UNIT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CUSTOMER_ID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MEDICAL_RECORD_NO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489089-52FF-4120-8390-5B0758F2042C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96D875-9F31-4942-BC63-98A4AA4A3E4D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왜 조심해야 하는가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C1658C-8F80-423D-A385-5ECE79AE2C93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9FDFEC-5657-4516-B295-E1BD8E8481AA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중앙병원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중앙대학교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중앙물류센터</a:t>
            </a:r>
          </a:p>
          <a:p>
            <a:endParaRPr sz="142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이름만 보고 성격을 확정하기 어렵습니다.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9FA3AD-1F00-40CF-9250-817075CEEC5C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244781-5506-4DD9-AD58-B7A9879A026A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세부 분류는 뒤 단계에서 더 따져보게 만듭니다.</a:t>
            </a:r>
          </a:p>
        </p:txBody>
      </p:sp>
    </p:spTree>
    <p:extLst>
      <p:ext uri="{BB962C8B-B14F-4D97-AF65-F5344CB8AC3E}">
        <p14:creationId xmlns:p14="http://schemas.microsoft.com/office/powerpoint/2010/main" val="432734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E192D5-AB58-44E9-BFB0-09C9B77FC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446C-1390-40F4-975D-3E53E6007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8-marker">
            <a:extLst>
              <a:ext uri="{FF2B5EF4-FFF2-40B4-BE49-F238E27FC236}">
                <a16:creationId xmlns:a16="http://schemas.microsoft.com/office/drawing/2014/main" id="{BCA5335C-C78A-463D-BB85-E996C5C9366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8-label">
            <a:extLst>
              <a:ext uri="{FF2B5EF4-FFF2-40B4-BE49-F238E27FC236}">
                <a16:creationId xmlns:a16="http://schemas.microsoft.com/office/drawing/2014/main" id="{CD0C6167-118F-4802-96A7-DA634F3F798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 offset과 mock NER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645E8E-EB28-45B9-AA57-AD469733BDD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NER도 반드시 원문 기준 offset을 지켜야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9C6DED-838B-4F85-ABF7-28E46473AB63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실제 모델이 없어도 pipeline은 돌아가야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C7EFE2-AFA5-4F25-AD5F-DB71E5C09E5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28/55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4E40DA-8830-4716-BEF3-8C41411A23CC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51E67B-E2AE-4348-939D-1D0DDAEF5507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가장 중요한 규칙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2885DB-B8E3-4821-976C-51A3B32AF2C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1AC1A9-F743-40F0-B6BF-137839388C30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정규화 텍스트 기준 위치만 주면 안 됩니다.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반드시 원문 기준 start/end가 정확해야 합니다.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span.text == raw_text[start:end]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B99054-8998-4FAB-84FA-881E95D3F3FB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A232EF-A203-4415-AC94-4AB4633027F4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mock NER를 둔 이유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41AE84-0061-4136-AE92-1ABB856EAF1C}"/>
              </a:ext>
            </a:extLst>
          </p:cNvPr>
          <p:cNvSpPr>
            <a:spLocks noGrp="1"/>
          </p:cNvSpPr>
          <p:nvPr/>
        </p:nvSpPr>
        <p:spPr>
          <a:xfrm>
            <a:off x="4543425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v0.2는 deterministic core 안정화가 먼저입니다.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실제 NER 모델이 없어도 pipeline이 돌아가야 합니다.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나중에 fine-tuned NER v3를 붙여도 기존 pipeline을 깨지 않게 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A699E4-CC7D-4FA4-8275-319286738FD0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182274-59C5-4E06-886A-9570180917AE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F53C0B-2181-48BD-AF1C-28BA4F3AC55B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NER가 찾았으니 무조건 확정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 점수를 무조건 신뢰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 방식 결정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겹침 승자 결정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log 기록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7BA96F-3B28-4A5E-A91B-B42C91FC9DD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C334D1-E1B4-4212-96E8-5BAA3C346B8D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M5 = NER 후보가 안전하게 들어올 수 있는 통로를 만드는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982713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28C460-B0D3-40A8-A2E5-0DD1369F0B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9F717B-B1CC-4E1C-B084-C8CE745EE1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9-marker">
            <a:extLst>
              <a:ext uri="{FF2B5EF4-FFF2-40B4-BE49-F238E27FC236}">
                <a16:creationId xmlns:a16="http://schemas.microsoft.com/office/drawing/2014/main" id="{A4D9AD4A-3165-41D9-84E3-7428E7C7E4E4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9-label">
            <a:extLst>
              <a:ext uri="{FF2B5EF4-FFF2-40B4-BE49-F238E27FC236}">
                <a16:creationId xmlns:a16="http://schemas.microsoft.com/office/drawing/2014/main" id="{965E8A69-5980-4378-BE7A-31A21E6378B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후보 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68CD88-9A81-4DEA-ACED-0C0074F6A118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M6는 여러 후보를 정리해서 최종 처리 대상 목록을 만드는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CF5079-C7F1-49F7-983E-F38935258068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regex, dictionary, context, NER 후보가 모두 모인 뒤 충돌을 해결합니다.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879CAD-072C-4DD5-97D2-45B8BACDCE0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29/55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48E229-428A-4254-8032-871CF0EBF804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AF9936-3317-4EFF-B974-D598A46B391D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DF3D2D-A028-40A4-89B3-0A31A0F53B8B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3DFDA0-703C-41DE-836B-DF35759DCAD8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M5: regex, dictionary, NER 후보들이 모두 모인다.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M6: 겹치거나 중복된 후보 중 무엇을 남길지 결정한다.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DB611B-BFA9-4623-BFFA-60C985EE70BC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40CAAE-DBF7-4E18-930C-D25210D00BB2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54F2CA-3CE6-4D50-894A-4C18F21DC633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3E5BB9-B7D3-458F-B014-EF8AD993583F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여러 detector 후보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같은 후보 병합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겹치는 후보 비교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더 중요한 entity 선택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주소 조각 병합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단일 문장 조합 위험 표시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정리된 후보 목록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9615C8-1770-4674-A348-179BAF53A8C8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D4D245-4EF1-46C8-B1D7-2732BE8501B0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M6는 뒤 정책 단계가 처리하기 쉬운 후보 목록을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251704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A498A1-4781-49C4-9BBA-C62E5A4A4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F5A0F9-6C9F-4848-9CD6-A543AAE662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0-marker">
            <a:extLst>
              <a:ext uri="{FF2B5EF4-FFF2-40B4-BE49-F238E27FC236}">
                <a16:creationId xmlns:a16="http://schemas.microsoft.com/office/drawing/2014/main" id="{D2993B58-704C-4C42-B4BD-F94EA853C25B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0-label">
            <a:extLst>
              <a:ext uri="{FF2B5EF4-FFF2-40B4-BE49-F238E27FC236}">
                <a16:creationId xmlns:a16="http://schemas.microsoft.com/office/drawing/2014/main" id="{73465FF1-A95D-4E24-B197-5E4C13F4EC7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M6가 필요한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E38325-F7E0-49C4-ADAB-DE8A4BA3312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앞 단계까지 오면 후보가 많이 생기고 서로 겹칠 수 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F8C846-D71B-4385-B47B-5B0070A0456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이걸 그대로 두면 중복 마스킹과 오탐이 생깁니다.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3BB16E-FBD2-4D36-B113-317C3D91F6D9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30/55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1B50A5-6B8F-4EF2-8244-CD3FAFA202B4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D719BE-9C0F-445F-975E-860670F8C23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이메일 내부 겹침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92D0D6-01DA-4486-B4E1-6D2770638F67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3B2476-7669-4C9C-91B9-C3C696590DE5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메일은 test@example.com입니다.</a:t>
            </a:r>
          </a:p>
          <a:p>
            <a:endParaRPr sz="127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후보: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EMAIL: test@example.com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PERSON_NAME: test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ORGANIZATION: example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05BF8D-264F-407E-B3C1-F23471D8D755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40B0F5-5FBB-4336-AEBC-703A125417EB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판단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1BA271-6E2D-4805-AC9D-EA88B845B0D9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E0F66E-285D-4016-B84F-73C6BA42E361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EMAIL 전체가 더 중요하다.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안쪽 PERSON_NAME이나 ORGANIZATION 후보는 제거한다.</a:t>
            </a:r>
          </a:p>
          <a:p>
            <a:endParaRPr sz="142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EMAIL 후보만 남김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DC49DC-8CC5-4AE4-8F40-CE897CF7E424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E386F-7594-4C8D-A613-0937960AF717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이메일 안쪽의 이름 후보처럼 잘못 겹친 것은 제거합니다.</a:t>
            </a:r>
          </a:p>
        </p:txBody>
      </p:sp>
    </p:spTree>
    <p:extLst>
      <p:ext uri="{BB962C8B-B14F-4D97-AF65-F5344CB8AC3E}">
        <p14:creationId xmlns:p14="http://schemas.microsoft.com/office/powerpoint/2010/main" val="1563807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215762-BB59-4E17-88D3-CB054EC30F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BAA06C-ED5E-4195-A360-F650AA960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1-marker">
            <a:extLst>
              <a:ext uri="{FF2B5EF4-FFF2-40B4-BE49-F238E27FC236}">
                <a16:creationId xmlns:a16="http://schemas.microsoft.com/office/drawing/2014/main" id="{6FE6C199-1898-42C3-B988-8FF149531EB9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1-label">
            <a:extLst>
              <a:ext uri="{FF2B5EF4-FFF2-40B4-BE49-F238E27FC236}">
                <a16:creationId xmlns:a16="http://schemas.microsoft.com/office/drawing/2014/main" id="{82B19891-5F47-4819-BC50-97F3082100C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중복 병합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69566E-2318-4C10-A938-2428F8A1733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같은 후보가 여러 detector에서 나오면 하나로 합칩니다.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2E137B-A67C-4D13-9E97-310988791B0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중복은 줄이고 근거는 보존합니다.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328FAE-6C1E-46FD-9A6F-521E06EEA29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31/55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1E3CB4-9235-4595-9FCB-E2FA51EE13ED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76CAE0-CD33-4EDF-8E33-BA885744DC0C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F192DF-7B0E-45D9-A77F-814086016903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653240-249D-44E6-A3BD-69372C2B53ED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연락처는 010-1234-5678입니다.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182E4C-9640-4ED3-B9B8-13C6DFEF43F7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9CBE23-0243-4D74-9794-1888AE9D1DC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중복 후보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2686B1-45C7-44C1-BDA4-4FDA36186FD1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24BCCE-DE50-4561-97BA-62498E856E11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PHONE: 010-1234-5678, score 0.90, source regex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PHONE: 010-1234-5678, score 0.85, source context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E496D9-BF93-4FE8-B7CE-7458C56C7B7D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4B0FA4-FF0A-408B-BB5B-915E4D4769C8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병합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B979F3-DBF6-4D46-BED0-1AE402655B7A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72189-2F47-4FCC-BACC-B96C0A58518B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PHONE: 010-1234-5678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score: 더 높은 점수 사용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sources: regex, context 둘 다 보존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F333C0-3C42-48BB-A3BC-E94EAA6019D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28A5C4-8984-4442-9268-CF606E664A29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같은 후보는 하나로 만들되, 왜 잡혔는지 근거는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010046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DE2026-E653-4B8B-9E4C-DCB9CCF0F0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B541BD-208D-4073-B5A6-2009E85B79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2-marker">
            <a:extLst>
              <a:ext uri="{FF2B5EF4-FFF2-40B4-BE49-F238E27FC236}">
                <a16:creationId xmlns:a16="http://schemas.microsoft.com/office/drawing/2014/main" id="{03C73AD2-A2F9-4A99-9622-413243908DE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2-label">
            <a:extLst>
              <a:ext uri="{FF2B5EF4-FFF2-40B4-BE49-F238E27FC236}">
                <a16:creationId xmlns:a16="http://schemas.microsoft.com/office/drawing/2014/main" id="{CDF9BF69-DBBA-427A-9C0D-C6660E0B282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주소 병합과 조합 위험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AE2AD4-1821-448F-8ABA-4214C582C49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주소 조각은 하나의 주소로 합칠 수 있고, 같은 문장 안 조합 위험도 표시할 수 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0C68D8-008D-49B7-AD3C-ECC51CEF7F3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v0.2는 멀티턴은 보지 않지만 같은 입력 안 조합은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78A6E7-9452-4974-A897-1647875C26A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B42CAE-A8D2-4336-A0E2-65DD4E330DEA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8D87FB-BFEA-45A5-90AE-6E6CA2C89264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주소 조각 병합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5524D3-CCC8-4994-ADC2-B5170DCD0C3C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F54E26-C76A-4722-AA43-C869DADCAEB9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ADDRESS_UNIT: 서울시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ADDRESS_UNIT: 강남구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ADDRESS_UNIT: 테헤란로 123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ADDRESS_FULL: 서울시 강남구 테헤란로 123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941C88-8756-4C9B-8EEC-7110C74214A4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7A6D81-F4F9-46D6-A301-D4CAB613AD95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조합 위험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51F1BA-411E-4312-BF32-27727C2DFFE9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51FDB0-9C9C-41A1-9B0C-38D76B5EDB8F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고객명 하늘, 연락처 010-1111-2222입니다.</a:t>
            </a:r>
          </a:p>
          <a:p>
            <a:endParaRPr sz="127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PERSON_NAME + PHONE이 같은 문장에 있음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is_composite: True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78D621-D9C1-4556-A2EF-31CD8728F37A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6A405E-49DF-4BA7-A9B9-A18BEFC79137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단독으로는 애매한 후보도 다른 개인정보와 함께 있으면 더 중요해질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25060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D0962F-4E7C-48B6-8CA0-F7E91157EF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93D31-0401-49DD-8A69-302D700AA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3-marker">
            <a:extLst>
              <a:ext uri="{FF2B5EF4-FFF2-40B4-BE49-F238E27FC236}">
                <a16:creationId xmlns:a16="http://schemas.microsoft.com/office/drawing/2014/main" id="{73DA341B-691F-4CC8-A95C-361FC728B4D5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3-label">
            <a:extLst>
              <a:ext uri="{FF2B5EF4-FFF2-40B4-BE49-F238E27FC236}">
                <a16:creationId xmlns:a16="http://schemas.microsoft.com/office/drawing/2014/main" id="{C8EE1FB7-B582-4C93-B29D-9B637F2452E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기준과 책임 범위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B589BC-C8C9-4C36-B224-EF22852DE15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M6는 단순히 점수만 보고 고르지 않습니다.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E18179-C4B3-499B-8C48-4AEE9C79CB6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entity 우선순위, span 포함 관계, source 근거, 주소 병합, 조합 위험을 함께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7CCEE7-9834-4C94-9C9A-705543AA3D5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672E09-B274-484F-9A30-D58C7CD00094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7195E8-A7B6-467C-85B6-F7ECC88DDE91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M6가 보는 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C9C41F-9E4E-468A-BAA2-BEC2F03FDA67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entity 우선순위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span 포함 관계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source 근거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score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주소 병합 가능성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같은 문장 안 조합 위험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F38820-FFA2-42B0-9B80-BEEE18CA4405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9056EF-49DF-4FC0-BC0F-78DF98393DA9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정리 전/후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BC6EB1-5DDC-4534-B9DE-06E2CD7FB39E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1F4C59-EF94-4C25-AB6A-0C0A7834D80C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전: EMAIL, PERSON_NAME, PHONE, PHONE, ADDRESS_UNIT...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후: EMAIL, PHONE, ADDRESS_FULL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DA9322-3158-40C0-91FF-C8773A131D53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22789F-F4AE-4410-861A-A3AEC471BD70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DF5146-3634-44BB-B946-A18D2AD94035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MASK/HASH/BLOCK 결정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실제 텍스트 변경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log 기록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public response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76448C-8ED1-47D7-AB87-2423B207940E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217677-77E9-4C13-8528-89DB4F8AB651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 = 후보를 병합하고 충돌을 정리해 최종 처리 대상 목록을 만드는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940231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5C2BB8-3815-46F3-8668-C0BD0F830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4968F3-74FF-4B88-B060-DB34B6EB96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4-marker">
            <a:extLst>
              <a:ext uri="{FF2B5EF4-FFF2-40B4-BE49-F238E27FC236}">
                <a16:creationId xmlns:a16="http://schemas.microsoft.com/office/drawing/2014/main" id="{8697EE3E-3BAA-48EE-9570-3E8F84898467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4-label">
            <a:extLst>
              <a:ext uri="{FF2B5EF4-FFF2-40B4-BE49-F238E27FC236}">
                <a16:creationId xmlns:a16="http://schemas.microsoft.com/office/drawing/2014/main" id="{FDD166BE-C7DC-4004-A1DB-417C0DAA0B1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정책과 마스킹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7E92D5-C409-4913-87FE-FB2321E4217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M7은 각 후보를 어떻게 처리할지 정하고 실제로 텍스트를 바꾸는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D3E70A-837A-4E20-BA1F-2DE16C43184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정리된 후보에 정책을 적용합니다.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30965D-4B5E-4758-8BE5-49D9507FEA3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861EAE-360B-43AA-94B0-85FC1DBA7EF7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9B2160-99A4-49DE-88E7-C22132BFCE9D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7168D8-7E96-4639-9FC8-7C96B452F68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01E351-3D21-4A85-B18B-BAD1B4E3D216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M6: 어떤 개인정보 후보를 남길지 정리한다.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M7: 그 후보를 마스킹할지, 해시할지, 차단할지 결정하고 적용한다.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B4F11-9BFA-4E3F-AF7C-9E25F243C7B9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453B83-D43F-48A0-A32A-3B5944FF13A8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02A053-5EC4-4D96-A0B3-A707B7916B3D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10BABC-C7B8-41EA-92D2-FCB1D04E9E83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정리된 후보 목록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정책 프로필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output target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entity type과 위험도 확인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action 결정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원문 텍스트에 적용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271486-4B62-406F-960F-995EA4192CF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BA8FE2-22A1-4199-9B03-AEF9CE8132C9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M7은 찾은 후보를 실제 보호 조치로 바꾸는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976526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2E56AB-A277-4D34-A0AB-903AF3649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62FC19-CF4B-43CD-8097-523DEDB9CA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5-marker">
            <a:extLst>
              <a:ext uri="{FF2B5EF4-FFF2-40B4-BE49-F238E27FC236}">
                <a16:creationId xmlns:a16="http://schemas.microsoft.com/office/drawing/2014/main" id="{64122E94-588A-42C3-92E0-8B049716E541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5-label">
            <a:extLst>
              <a:ext uri="{FF2B5EF4-FFF2-40B4-BE49-F238E27FC236}">
                <a16:creationId xmlns:a16="http://schemas.microsoft.com/office/drawing/2014/main" id="{9FC7B256-B3BB-468A-B704-CD3EF48121D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M7이 필요한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A8D596-7443-4371-9307-9D6AEA9B975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모든 개인정보를 똑같이 처리하면 안 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645703-A9FC-4BC5-A45A-0D70CB75477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종류와 사용 목적에 따라 처리 방식이 달라져야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949FBA-67D2-403D-B8A5-C966209AB359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35/55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412577-6404-46FA-9527-32A3A16D6F07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18A950-D173-492F-A89D-BDB1B37DD99E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위험도 차이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D15440-2992-4E99-82BF-AD3CD889B69D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515EC9-83C5-43B2-8A37-F5FC0DAE47EE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전화번호 -&gt; 보통 마스킹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API key / secret -&gt; 차단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 log용 데이터 -&gt; 원문 저장 금지, hash만 허용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41FC26-E131-4BF3-BB5D-2AC161A90CF4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B69DE5-5285-438F-945E-98A270B806B8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사용 목적 차이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C5198C-2820-4B3A-BA33-7430852285C0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AA026A-C8A8-4D4D-A3DA-61E4B9C65147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LLM 입력용</a:t>
            </a:r>
          </a:p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외부 출력용</a:t>
            </a:r>
          </a:p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감사 로그용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6578F9-91CE-456D-8906-AEADB43B0492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FEEB57-EDA4-4C01-A7BD-AAD598FEB8FA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M7이 보는 기준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3EEDD7-63EB-436F-933B-91D764C41CA9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entity_type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risk_level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score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policy_profile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output_target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composite 여부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AC38E2-0564-4D92-A4A3-6F092460F3E3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8EEF52-07FA-408E-BC08-B0011FA35CBA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무엇을 찾았는지뿐 아니라 어디에 쓰이는지도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339102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DCD572-DA21-44BB-84B2-3B7CF73ED3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79772D-3BB3-42BC-AC5B-9E6729E407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6-marker">
            <a:extLst>
              <a:ext uri="{FF2B5EF4-FFF2-40B4-BE49-F238E27FC236}">
                <a16:creationId xmlns:a16="http://schemas.microsoft.com/office/drawing/2014/main" id="{72C8E630-BDC3-49A7-82D0-D48EE2436194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6-label">
            <a:extLst>
              <a:ext uri="{FF2B5EF4-FFF2-40B4-BE49-F238E27FC236}">
                <a16:creationId xmlns:a16="http://schemas.microsoft.com/office/drawing/2014/main" id="{FABDBA1F-009C-4F0D-808A-910C6DC4CB4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action 종류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F4B393-BFBE-4B3A-8A32-911893681A0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M7은 보통 PASS, MASK, HASH, BLOCK 중 하나를 고릅니다.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14DE54-460F-404E-88D4-BE803E09ACC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각 action은 보호 수준이 다릅니다.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2B15C8-673C-49CF-93F6-CD90E31FE09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36/55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E31A19-9919-4844-8039-3255FDADB26C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E7F6E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1CCB9D-8D43-4A4A-A08F-D672A5C29442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56E923-EFEC-4190-8810-B53F353DC535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143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그대로 둡니다. 예: '오늘 하늘이 맑네요'에서 하늘이 약한 이름 후보인 경우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22FC86-4BB9-4CB9-A171-9409A16785F9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EAF0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1ADFCC-47A1-4261-9D5D-596E519D98D7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MASK / HASH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FA3F8-AE26-4DC4-BF8A-B1AE2FE4D444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314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MASK는 [PHONE_1]처럼 placeholder로 바꿉니다. HASH는 원문 대신 HMAC hash를 남깁니다.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3C0CF6-665D-4840-93CE-DB5E9A1771EB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8BD903-9549-4087-810D-19EF84CA5F0F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BLOCK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54B49D-B375-4BDF-852C-AADF25874368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314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API key나 secret처럼 유출되면 즉시 위험한 값은 응답 자체를 차단할 수 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B4E3C7-482B-4D7B-AD35-D7F6F32D0ECD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9A7F96-C9C3-463D-8AE9-1C8CF4447A52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PASS는 그대로, MASK는 대체, HASH는 원문 대신 해시, BLOCK은 응답 차단입니다.</a:t>
            </a:r>
          </a:p>
        </p:txBody>
      </p:sp>
    </p:spTree>
    <p:extLst>
      <p:ext uri="{BB962C8B-B14F-4D97-AF65-F5344CB8AC3E}">
        <p14:creationId xmlns:p14="http://schemas.microsoft.com/office/powerpoint/2010/main" val="1895800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5CCC5E9-A643-46AF-9FCE-AB2910381D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336DD-9078-4A3D-BAE5-5AF9F463DB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7-marker">
            <a:extLst>
              <a:ext uri="{FF2B5EF4-FFF2-40B4-BE49-F238E27FC236}">
                <a16:creationId xmlns:a16="http://schemas.microsoft.com/office/drawing/2014/main" id="{A23197EB-0FA5-46BD-9AF5-0BFD48682698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7-label">
            <a:extLst>
              <a:ext uri="{FF2B5EF4-FFF2-40B4-BE49-F238E27FC236}">
                <a16:creationId xmlns:a16="http://schemas.microsoft.com/office/drawing/2014/main" id="{C672442E-3A6D-4D69-98E3-3D332EF8F47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마스킹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EF0F4A-1000-48C5-B308-59C91D48BB7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M3에서 분리한 suffix를 보존하기 때문에 한국어 문장이 자연스럽게 남습니다.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63313D-0B52-4A96-BCF1-41B4F118C99A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원문 기준 위치와 suffix 정보가 함께 필요합니다.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F71787-5E91-4802-BB9A-4D1621A02AF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37/55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A40E66-2734-4B27-A9F5-F8559024E9B8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220015-9A77-4358-A5AB-06CB2397BD99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전화번호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F2DAA6-80E5-48AE-9F5E-6FFFD759FF57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BFFB57-BC6B-4D51-98F2-50D7A460B807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연락처는 010-1234-5678입니다.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 판단: PHONE은 MASK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연락처는 [PHONE_1]입니다.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F90EB1-71A3-466A-B6AE-0DDF0D0F47F3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346EC9-DD9E-4236-84EE-FA04C4FD2893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이름 + 조사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8C65ED-602E-4EBE-B613-DC7A0DBE786C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9881A8-6E1D-4502-9684-8AEAAF117C3F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홍길동이 신청했습니다.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M3: 본체 홍길동 / suffix 이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[PERSON_1]이 신청했습니다.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C6A8A6-DBA1-48C2-9C29-81D5DD027985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D87CCD-04AE-49F1-B7E8-E5AA9EE67506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주민등록번호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B893EA-5BB8-4158-8662-618A4C7E6443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08363B-A358-43D1-B007-1041B50829B9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주민번호는 900101-1234568입니다.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 판단: 고위험 식별자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주민번호는 [REDACTED]입니다.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4199E8-5995-49D2-99CD-699731D2D841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77208D-4C4C-4F1B-B44C-5A70BF85B8F0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나쁨: [PERSON_1] 신청했습니다. / 좋음: [PERSON_1]이 신청했습니다.</a:t>
            </a:r>
          </a:p>
        </p:txBody>
      </p:sp>
    </p:spTree>
    <p:extLst>
      <p:ext uri="{BB962C8B-B14F-4D97-AF65-F5344CB8AC3E}">
        <p14:creationId xmlns:p14="http://schemas.microsoft.com/office/powerpoint/2010/main" val="578350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C3D822-F35E-4516-9537-22F6B86151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60357E-D2D8-47F4-B351-0DFDA919EC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8-marker">
            <a:extLst>
              <a:ext uri="{FF2B5EF4-FFF2-40B4-BE49-F238E27FC236}">
                <a16:creationId xmlns:a16="http://schemas.microsoft.com/office/drawing/2014/main" id="{A4278BC3-7722-416E-86E6-FA773A1EBA30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8-label">
            <a:extLst>
              <a:ext uri="{FF2B5EF4-FFF2-40B4-BE49-F238E27FC236}">
                <a16:creationId xmlns:a16="http://schemas.microsoft.com/office/drawing/2014/main" id="{4AD351A4-D160-43AD-B74F-23F10892784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차단과 감사 로그 대상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D1B71E-8AD4-4CDB-8AFF-9EA110239D6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API key처럼 위험한 값은 단순 마스킹보다 요청 자체를 막을 수 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488D7E-F384-4C71-8C5E-4C3C14BC75D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audit_log target에서는 원문 저장 금지가 특히 중요합니다.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FE7B8E-CBB5-4894-BC7D-AA39BDF0DF2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38/55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9B9F10-3E0B-4657-9E2A-F3B3CEA6FFAF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CBD24E-E2CE-49E9-841E-D0F34460B615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API key 차단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AEA912-B121-497F-8D08-70B083C7521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F3D3DF-439A-45CC-8E1F-7ACE9D31E021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내 API key는 sk-abcdef123456... 입니다.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판단: 유출되면 즉시 위험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blocked: true / masked_text: None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CC540B-113F-4F53-81F2-6D581DCA0853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681FBC-C0F4-4710-9791-451F705C91B5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감사 로그 대상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00DD7B-B428-4D39-A20E-0A25F9D36C28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7DC80F-77F5-4BC9-A469-55FB3CFBFB10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 원문 저장 금지</a:t>
            </a:r>
          </a:p>
          <a:p>
            <a:endParaRPr sz="127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대신: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value_hash: hmac_sha256_...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span_length: 13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entity_type: PHONE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C03E34-6E33-4450-8A4D-AF9AA51231D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655B73-B834-4EC7-B8E0-F97C4AE28E4F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 log에는 raw PII가 들어가면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865023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FB8DC0-D48E-4CB3-9901-C79594069D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73190D-FF0F-4903-A768-DA198A8896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9-marker">
            <a:extLst>
              <a:ext uri="{FF2B5EF4-FFF2-40B4-BE49-F238E27FC236}">
                <a16:creationId xmlns:a16="http://schemas.microsoft.com/office/drawing/2014/main" id="{58DE074D-F68B-4454-BC1A-148FFBDEDA3E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9-label">
            <a:extLst>
              <a:ext uri="{FF2B5EF4-FFF2-40B4-BE49-F238E27FC236}">
                <a16:creationId xmlns:a16="http://schemas.microsoft.com/office/drawing/2014/main" id="{B70DD118-EF2A-42B5-B4CD-FFBCBD3C42C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placeholder 규칙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A166D1-6EE9-4F5A-B7F0-E5CBB1E3546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같은 종류의 개인정보가 여러 개 있으면 번호를 붙입니다.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B135F8-9667-4AA5-99C9-071618596860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같은 값이 반복되면 같은 placeholder를 쓸 수 있습니다.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E45F11-6795-4DEA-8885-9641D1FD2C19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39/55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D5E300-12EA-4B23-9BAB-C4BE49210067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311C23-596C-4A9B-B012-97B463044BD9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서로 다른 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BF6F3D-4F4A-441C-8E52-0C126827BD2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83470E-AABC-44DE-8CA2-ABA18118D4AD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홍길동과 김민수에게 연락하세요.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[PERSON_1]과 [PERSON_2]에게 연락하세요.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DF9D8D-4F22-44A9-8044-CE2A01733EAF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0508B5-8DD5-4479-B657-F731E9CE758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같은 값 반복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5E3115-24BD-4DFE-A9B3-83350AB63C88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DBDC1F-5BEA-44E4-A106-3616B2257FEB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홍길동이 신청했고, 홍길동에게 연락했습니다.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[PERSON_1]이 신청했고, [PERSON_1]에게 연락했습니다.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F6D589-63FB-4EA5-9E8F-4A3D89690D7F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60C688-BAA5-41FE-99C9-C2835A69594F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M7이 믿는 앞 단계 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B7E17D-59DB-45B6-A720-5CADD57087E0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88F2C3-E74D-460A-A3E5-5425BC1D7710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어디를 바꿀지 -&gt; raw offset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무엇을 남길지 -&gt; suffix 정보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어떻게 바꿀지 -&gt; policy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8EA1B9-4E93-409F-A868-B40003A9D39C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AB9D8E-53AE-4291-9704-CBF9BA413D1A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 값은 숨기면서 문장 안 관계는 어느 정도 유지할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28838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32759E-2847-4D1E-9511-D859F667D9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C382CB-C629-40E2-8D75-CA4777200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0-marker">
            <a:extLst>
              <a:ext uri="{FF2B5EF4-FFF2-40B4-BE49-F238E27FC236}">
                <a16:creationId xmlns:a16="http://schemas.microsoft.com/office/drawing/2014/main" id="{8D2C8C3A-FA31-4B18-AD40-6D63CA5EA7C9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0-label">
            <a:extLst>
              <a:ext uri="{FF2B5EF4-FFF2-40B4-BE49-F238E27FC236}">
                <a16:creationId xmlns:a16="http://schemas.microsoft.com/office/drawing/2014/main" id="{7FB5336E-E350-4DEC-8AAE-E025B223056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M7에서 아직 하지 않는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4362AB-CE20-48AA-9146-ACC47315696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M7은 실제 텍스트를 바꾸지만 평가나 audit 최종 기록은 뒤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32FEA3-28C5-4E5A-B65C-2B479372C011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각 단계의 책임을 분리합니다.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44412D-377A-4B3B-BF8E-4E86B506E67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40/55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F970D6-1E31-4897-8338-D4E6C022B897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AB93DF-9098-4B34-8E6D-C7065558A001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8046A8-963A-479A-BDB9-66C0CE94D745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event 최종 기록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평가 점수 계산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release gate 판단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ablation report 생성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EEDB2E-6D53-4E21-A4D0-E6AC04675B78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75D4BC-13B8-4E1E-8669-C9102DE423A2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9DB949-3626-4707-BFBA-86186C3A5E7C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577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M7은 정리된 개인정보 후보에 정책을 적용합니다. 후보의 종류, 위험도, 점수, 사용 목적을 보고 PASS, MASK, HASH, BLOCK 중 하나를 고릅니다.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19FDFD-4E22-4EFE-9B1B-E81D10BA34A6}"/>
              </a:ext>
            </a:extLst>
          </p:cNvPr>
          <p:cNvSpPr>
            <a:spLocks noGrp="1"/>
          </p:cNvSpPr>
          <p:nvPr/>
        </p:nvSpPr>
        <p:spPr>
          <a:xfrm>
            <a:off x="6534150" y="3695700"/>
            <a:ext cx="481965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마스킹할 때는 원문 기준 위치를 사용합니다.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M3에서 분리한 조사나 어미는 그대로 보존합니다.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77D048-4111-4463-B800-E06297B382D8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D1C3BA-4010-46A2-B0BA-4E6D2EB0ABAB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 = 정책에 따라 마스킹, 해시, 차단, 통과를 결정하고 적용하는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1186934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1223CE-1B8D-45D2-808D-FCA55A9199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9D357A-DA0C-43A7-959A-7D0F6CA89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1-marker">
            <a:extLst>
              <a:ext uri="{FF2B5EF4-FFF2-40B4-BE49-F238E27FC236}">
                <a16:creationId xmlns:a16="http://schemas.microsoft.com/office/drawing/2014/main" id="{F9F46CF0-34F2-43A4-86F3-9CA6CAB3BF7F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1-label">
            <a:extLst>
              <a:ext uri="{FF2B5EF4-FFF2-40B4-BE49-F238E27FC236}">
                <a16:creationId xmlns:a16="http://schemas.microsoft.com/office/drawing/2014/main" id="{EEED8013-0900-44E6-8A2E-527D16A1642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 감사 로그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7278F2-A848-40B8-A320-C061CA87BC8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M8은 처리 결과를 안전하게 기록하는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2886BB-45F2-4720-BBF5-A7F7D7522E9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무엇을 처리했는지는 남기되, 원문 개인정보는 절대 남기지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CD488B-B245-468C-9A81-A1771BFFA11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41/55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BB1FDB-B425-4AF6-BD26-638633ADAD99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AEF726-FDA6-4E72-B76F-960A44F4F45A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AF3B73-EC4B-4809-AC7B-74BA26151ECB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B294C5-3C4A-4CBF-9E50-F50D07097D38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M7: 개인정보를 어떻게 처리할지 결정하고 적용한다.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M8: 무엇을 처리했는지 감사 로그로 남기되, 원문 개인정보는 절대 남기지 않는다.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F91EC4-B0E9-4BA0-8228-97C11B99E053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C08BC8-E297-4874-B3D0-6A3CE0E71D1E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E279EB-5122-4CDA-9C8C-EFD9F901C7C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F5AD84-20EC-442C-8936-E73488BA9140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 처리 결과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action이 있는 span만 확인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raw PII 제거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HMAC hash 생성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entity type, score, action, span length 기록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안전한 audit event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B5F3E-D435-4FDF-84BA-36A7EED566DD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8B52B3-6406-4B35-AFD6-D54115F0797D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감사 로그 자체가 개인정보 유출 경로가 되면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1167530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E9D9B8-2271-4684-BB95-8B366313F3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4690CE-0448-4B43-95BE-10B733E0FA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2-marker">
            <a:extLst>
              <a:ext uri="{FF2B5EF4-FFF2-40B4-BE49-F238E27FC236}">
                <a16:creationId xmlns:a16="http://schemas.microsoft.com/office/drawing/2014/main" id="{6BE87560-8F90-4D3E-8D72-F7F807CB1FB2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2-label">
            <a:extLst>
              <a:ext uri="{FF2B5EF4-FFF2-40B4-BE49-F238E27FC236}">
                <a16:creationId xmlns:a16="http://schemas.microsoft.com/office/drawing/2014/main" id="{B817E9B4-C5D8-4A5D-8F21-4FBDBB6D391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M8이 필요한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D704C8-1320-4853-8321-80B71A3F224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가드레일은 무엇을 처리했는지 추적할 수 있어야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A1ED47-5C9D-4C94-B448-E41399CEB59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하지만 로그에 원문 개인정보를 저장하면 보호 목적이 깨집니다.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D28E00-8987-474D-9075-3564B236E4A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593E2A-A26E-4596-9266-4904D232A6C3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B9F028-5B41-4112-BC87-49497D64F273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나중에 확인할 수 있어야 하는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C7738D-E884-4255-807E-3758F38B0030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종류의 개인정보가 탐지됐는가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얼마나 자주 마스킹됐는가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정책 때문에 차단됐는가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특정 요청에서 어떤 action이 발생했는가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EF158A-E981-4117-B59D-890792092CAE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5C5E52-F34E-4CF5-9C59-2A62C5E672B2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위험한 로그 예시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E14C5D-CB30-4AC0-888E-EF87D57B05ED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0AE6F3-CE9E-4991-80D9-44DA39BDBC76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PHONE: 010-1234-5678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PERSON_NAME: 홍길동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RRN: 900101-1234568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433E41-A9C2-44DF-8848-417EA8122A1C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5FF656-837F-40CB-90E1-9A7598D61CC2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M8은 추적은 가능하지만 원문은 복원하기 어렵게 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3941186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EC39E1-B8CF-4186-B48C-A6E00BE6C0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C0A9C3-B73A-44E8-B83F-A4E119EA9D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3-marker">
            <a:extLst>
              <a:ext uri="{FF2B5EF4-FFF2-40B4-BE49-F238E27FC236}">
                <a16:creationId xmlns:a16="http://schemas.microsoft.com/office/drawing/2014/main" id="{D0C73D1D-EA83-483F-9FAA-593553CB72B6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3-label">
            <a:extLst>
              <a:ext uri="{FF2B5EF4-FFF2-40B4-BE49-F238E27FC236}">
                <a16:creationId xmlns:a16="http://schemas.microsoft.com/office/drawing/2014/main" id="{FD861BC3-0F88-48A3-ADA9-F8541431809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M8이 기록하는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F5E448-7415-4314-8AD4-7BC4FB8C8F9A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 값은 빼고 안전한 메타데이터만 남깁니다.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7BF604-6B89-4C03-9EA4-F4F65EDF565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같은 값인지 비교할 수 있도록 HMAC hash를 사용합니다.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A9E667-2B0E-4913-9A13-FB1D498B6F1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7ACBBA-1C59-413C-AD19-0964D98B6E1D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F3CCB3-3871-4991-9733-CAE50021496C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안전한 audit event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165CC8-9C44-4670-AC64-207ABB4E43FE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5D7123-C22B-49B7-9702-5898E7FBC52A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request_id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risk_level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score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policy_profile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output_target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sources / detector_ids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reason_codes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span_length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value_hash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raw_value_logged: false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183009-94DC-4986-A73F-C4D564655D0C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4920E5-C5D9-4AF6-B695-C522D6C72734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전화번호 예시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2D4ABD-87A8-49A2-AB50-CF708B495BC1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8DB757-BEA8-44C1-A666-B79E2F5C445C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원문: 010-1234-5678</a:t>
            </a:r>
          </a:p>
          <a:p>
            <a:endParaRPr sz="112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로그에는 원문 저장 금지</a:t>
            </a:r>
          </a:p>
          <a:p>
            <a:endParaRPr sz="112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entity_type: PHONE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span_length: 13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action: MASK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value_hash: HMAC(...)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raw_value_logged: false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715C7-1AB6-4717-A831-1382910D75C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83EC18-4BC9-4306-8148-1212BFC49C29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HMAC을 쓰면 반복 여부는 추적할 수 있지만 로그만 보고 원문을 알기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37719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9F8C02-8219-40FA-A802-4E8B5BB0FE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AAA8E-3443-4B4F-B9CA-D2A7DF4731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4-marker">
            <a:extLst>
              <a:ext uri="{FF2B5EF4-FFF2-40B4-BE49-F238E27FC236}">
                <a16:creationId xmlns:a16="http://schemas.microsoft.com/office/drawing/2014/main" id="{6EA3C531-0034-40BF-8935-4BF892674A26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4-label">
            <a:extLst>
              <a:ext uri="{FF2B5EF4-FFF2-40B4-BE49-F238E27FC236}">
                <a16:creationId xmlns:a16="http://schemas.microsoft.com/office/drawing/2014/main" id="{FF78DAEA-4FEF-4480-BE80-FFE002EA77F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 안전장치와 책임 범위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36013C-FABE-4AB7-AA42-1847644B67D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raw PII가 들어갈 수 있는 필드는 막아야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C9753A-27A9-43A8-82F4-C99465440C4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모든 후보를 기록하지 않고 실제 action이 있는 span 중심으로 기록합니다.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D960DC-0E9D-4BDC-A08C-621D91037A4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3F89B8-23E5-4003-ADE3-9EF7ABC3E78A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67AF2A-B44E-45FC-AFF1-59463DF2F622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위험한 필드 이름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DA5795-62EA-4AE3-8A6B-ACBAF08C3C5B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9C4007-F960-4E72-BA84-6EE106386924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text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raw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value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original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normalized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matched_value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span_text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4B0911-6441-45E5-BC81-79E3591DC148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C44AAB-B8D3-4BA4-81C5-FCB6EE7F01ED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보통 기록하는 action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5E7811-82D0-4908-9641-1354A1223233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0AA79A-6F9F-4107-9752-6D5E1A037316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MASK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HASH</a:t>
            </a: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BLOCK</a:t>
            </a:r>
          </a:p>
          <a:p>
            <a:endParaRPr sz="165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PASS / CANDIDATE는 제외할 수 있음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E79ED2-D866-4D5D-9702-5A0AB05BAD70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E3D8AC-CF89-4FDD-9D32-2577993C042D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2D5DF7-B988-42AE-9D60-C453C5E23FAE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전체 pipeline 조립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평가 점수 계산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release gate 판단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모델 성능 비교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ablation report 생성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C330EE-962A-4B08-8516-668A34BB6D21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6C42F8-9371-4142-9628-D91E7522E5CD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M8 = 처리된 개인정보에 대해 원문 없이 안전한 감사 기록을 남기는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415649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6C8A23-0974-42DA-8D2B-137F1E205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E156F5-FB1E-4E7D-88B7-08E158885C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5-marker">
            <a:extLst>
              <a:ext uri="{FF2B5EF4-FFF2-40B4-BE49-F238E27FC236}">
                <a16:creationId xmlns:a16="http://schemas.microsoft.com/office/drawing/2014/main" id="{9BA80279-169A-48E7-BCBD-DF122169A80A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5-label">
            <a:extLst>
              <a:ext uri="{FF2B5EF4-FFF2-40B4-BE49-F238E27FC236}">
                <a16:creationId xmlns:a16="http://schemas.microsoft.com/office/drawing/2014/main" id="{E4475223-548D-47A7-9F5C-6D3C897080E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 통합 실행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BF9879-55FA-49AB-9CC1-D2F5468FBDA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지금까지 만든 모든 부품을 하나의 실제 가드레일 흐름으로 연결하는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E5006D-80D7-43A7-B73A-78076AC85DE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사용자가 텍스트 하나를 넣었을 때 M1~M8이 순서대로 이어져야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4FCB6-E4DE-4BB8-A3A0-A4735AC3377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45/55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DF9777-8F11-4FCE-AB6F-25737E563D1B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5A1479-B53E-4EEF-BB7B-CE2C06796939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9E5555-1173-4B56-B8F5-6442D903CFD2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8A866F-722F-4191-BD07-780B6BF41C56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M1~M8: 각각의 부품을 만든다.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M9: 그 부품들을 순서대로 연결해서 실제 요청 하나를 처리한다.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617795-F9A6-4696-A42E-2552829E19C9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74959E-8651-466B-BE9D-41B407D2D541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FDDC73-24C9-4BCF-80ED-A6E02FA64C76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CDCED8-DA4B-48CB-A668-5088433E7A2F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GuardrailRequest 입력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M1 전처리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M2 탐지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M3 boundary 보정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M4 문맥 점수 조정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M5 NER 후보 합류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M6 후보 정리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M7 정책/마스킹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M8 audit event</a:t>
            </a:r>
          </a:p>
          <a:p>
            <a:pPr algn="l">
              <a:def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GuardrailResponse 반환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18467E-F576-4752-98C1-20DA08770FD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72B897-FF70-45F7-BE71-BF47050EC1AE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각 기능이 실제 서비스처럼 연결되는지 보는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228327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D94478-654B-4C72-A80C-600AC976A6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43A832-4327-4171-AD62-E99022DB89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6-marker">
            <a:extLst>
              <a:ext uri="{FF2B5EF4-FFF2-40B4-BE49-F238E27FC236}">
                <a16:creationId xmlns:a16="http://schemas.microsoft.com/office/drawing/2014/main" id="{089DE44C-81BB-491B-B4C8-A26F931FDD52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6-label">
            <a:extLst>
              <a:ext uri="{FF2B5EF4-FFF2-40B4-BE49-F238E27FC236}">
                <a16:creationId xmlns:a16="http://schemas.microsoft.com/office/drawing/2014/main" id="{F8930B41-FD59-4FAB-BF56-6A8A7087621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 실제 처리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C811E-3FDF-4ECE-93F9-35FB3360D69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앞 단계들이 따로 잘 동작해도, 실제 요청에서는 모두 이어져야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0F2346-E5F3-4E84-8BB7-BEAA0ADBDE0A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M9는 한 요청을 처음부터 끝까지 처리합니다.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27B335-EEBF-4224-B382-EC02A485BE7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46/55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083B8E-0A8B-4984-84B3-4F11FEA2FF8F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CEAB4F-CC2B-46C7-9613-B11CF1F093C5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79B856-5030-4985-8E19-90EA607BD2DD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CBD801-2476-4A15-AF3F-5F852B75B55C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 010-1234-5678로 연락했습니다.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C6FA9F-CD7A-498E-A493-BCEEA9884DEE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FC2A30-1C9A-4DF6-8F26-BCA4DBE18F66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처리 과정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ED29C6-AB62-4386-93E7-E3061D96E222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ADF16F-CDC9-4F7B-AF53-45D394D5115C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 -&gt; PERSON_NAME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010-1234-5678 -&gt; PHONE 후보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조사/어미 분리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문맥 점수 조정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후보 정리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정책 적용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마스킹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응답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8A2BB7-68E8-458B-B161-8855933DBF2D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552900-6929-45D1-8319-5F6735C8B4EC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A6B52E-B11F-40BF-9CE0-CFE6FAF04BFB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4F2E45-F391-4995-8719-7FE78377801C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[PERSON_1]이 [PHONE_1]로 연락했습니다.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8205D8-A83D-4526-8DC4-23436218322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9FA03F-32BC-4AA5-8001-AF80B80A6F72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사용자가 호출할 수 있는 실제 가드레일 형태로 만드는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1170259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4CE2D4-E64E-438C-A532-229D7BAC11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99A073-DC6C-4848-88CF-98B5BA64BF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7-marker">
            <a:extLst>
              <a:ext uri="{FF2B5EF4-FFF2-40B4-BE49-F238E27FC236}">
                <a16:creationId xmlns:a16="http://schemas.microsoft.com/office/drawing/2014/main" id="{61C04C3D-4A46-4757-8F6E-2E042ACA8D8F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7-label">
            <a:extLst>
              <a:ext uri="{FF2B5EF4-FFF2-40B4-BE49-F238E27FC236}">
                <a16:creationId xmlns:a16="http://schemas.microsoft.com/office/drawing/2014/main" id="{5F8254E0-EED2-4B6F-B8CE-427515B9BB1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M9에서 하는 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DB04CC-8226-4202-8DFA-FDBA6178608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config 기반으로 pipeline을 조립하고, 처리 순서를 고정합니다.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EC09DD-A21C-4E7B-B5EB-0A065CBE491C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하드코딩된 규칙이 아니라 설정을 읽어서 동작해야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9AB457-2788-4DE5-8F62-30A4DDBF1EE7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47/55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F3D003-AA9C-442A-BD23-5CC3899A1DB8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A8B3E4-7701-4F72-B8EF-A53C221EE263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config 로딩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73FAF9-0BD3-48F4-AA8A-DC661F7CDF85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entity를 지원할지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각 detector의 기본 score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context rule을 적용할지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policy profile을 쓸지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어떤 entity를 MASK/HASH/BLOCK할지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AF41CC-EF88-4A57-B017-F38B9513A180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C723DB-F7F2-4BD3-9424-CAA305FB4AA1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처리 순서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67E912-481A-459F-ACA8-AE3D0FCB73A5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EAF0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F95556-BFC0-43DF-9EC6-57AF37A3F199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boundary 보정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context scoring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resolver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policy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masking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60DD7E-F7D4-49FA-BC9A-FDAA7EDF9E9D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F2DD17-7813-499C-BABA-F224897CAB72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순서가 중요한 이유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6607AA-59BF-4173-B728-238196C97E64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C495DA-BA06-4611-BB7B-5ADEDF234FD8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boundary 보정 전에 마스킹하면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 -&gt; [PERSON_1]</a:t>
            </a:r>
          </a:p>
          <a:p>
            <a:endParaRPr sz="127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조사 '이'가 사라질 수 있습니다.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F8F61C-AC3F-487B-8009-3DA79E8C3F5A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216B8A-C68A-4A03-9218-6B9302214FF9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 -&gt; M3에서 홍길동 + 이 -&gt; M7에서 [PERSON_1] + 이</a:t>
            </a:r>
          </a:p>
        </p:txBody>
      </p:sp>
    </p:spTree>
    <p:extLst>
      <p:ext uri="{BB962C8B-B14F-4D97-AF65-F5344CB8AC3E}">
        <p14:creationId xmlns:p14="http://schemas.microsoft.com/office/powerpoint/2010/main" val="947640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FAF482A7-8674-4C55-A37C-64BEC47A4F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467A14-FF16-4F87-B558-DEF3717CC9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8-marker">
            <a:extLst>
              <a:ext uri="{FF2B5EF4-FFF2-40B4-BE49-F238E27FC236}">
                <a16:creationId xmlns:a16="http://schemas.microsoft.com/office/drawing/2014/main" id="{45608548-D20E-4806-9A71-2088EB3667D6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8-label">
            <a:extLst>
              <a:ext uri="{FF2B5EF4-FFF2-40B4-BE49-F238E27FC236}">
                <a16:creationId xmlns:a16="http://schemas.microsoft.com/office/drawing/2014/main" id="{E9E571C5-302A-404B-8744-729E5409E40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M9의 optional NER와 응답 안전성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9D9977-5730-4802-A3DF-E72FC8F89B4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NER가 있어도 되고 없어도 돌아가야 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043BC0-9689-4340-9D08-E55A8D13D29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차단되어도 응답 구조는 깨지지 않아야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EBC043-06D3-45C3-B8F8-8A07D1209667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48/55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C4F70-9F69-41E6-BCB7-38248A77ACF9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F9927B-22EE-42AE-8FE5-C1861358C113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NER optional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D5D825-2F1C-4204-8422-9C64C1502BA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7BD1F6-FEB0-488B-BF10-1770F3AA7D7E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있음 -&gt; NER 후보도 같이 사용</a:t>
            </a:r>
          </a:p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없음 -&gt; regex/dictionary/context만으로 동작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5FD777-866E-48EB-AB26-EE6F41436C68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DEC70-C529-4FC2-8EC8-E5A1A72401C5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차단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DAD17C-2312-45D1-B70C-270392293665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89344C-A593-4AF4-AB4F-CDF2C8A8607B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내 API key는 sk-abcdef123456... 입니다.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M2: API_KEY_SECRET 후보 탐지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M7: 정책상 BLOCK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M8: raw key 없이 audit event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응답: blocked true / masked_text None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16D80C-6B59-4EA9-9307-AB7D67EB6EE9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3B7229-84BC-4522-B408-B9C5330D158A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public response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30A826-3265-4A9F-AAEC-B9D19924ACDB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0D473C-341C-4984-997F-B117EB39E907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내부 PIISpan에는 raw text가 있을 수 있음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외부 응답에는 raw text 없음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entity_type, span_length, score, action, value_hash만 제공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290DDA-B810-4763-B58C-82CDF35C3085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9CB396-05EC-48E0-9E05-2C86557ADC93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최종 응답과 audit log 어디에도 raw PII가 노출되지 않아야 합니다.</a:t>
            </a:r>
          </a:p>
        </p:txBody>
      </p:sp>
    </p:spTree>
    <p:extLst>
      <p:ext uri="{BB962C8B-B14F-4D97-AF65-F5344CB8AC3E}">
        <p14:creationId xmlns:p14="http://schemas.microsoft.com/office/powerpoint/2010/main" val="641565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BBDA16-EC14-4653-B5DC-F0B5704DE6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D3023A-B56E-4470-A896-5594D90902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9-marker">
            <a:extLst>
              <a:ext uri="{FF2B5EF4-FFF2-40B4-BE49-F238E27FC236}">
                <a16:creationId xmlns:a16="http://schemas.microsoft.com/office/drawing/2014/main" id="{0716BF52-8FD2-40FF-8BAF-ED7A83715636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9-label">
            <a:extLst>
              <a:ext uri="{FF2B5EF4-FFF2-40B4-BE49-F238E27FC236}">
                <a16:creationId xmlns:a16="http://schemas.microsoft.com/office/drawing/2014/main" id="{A3DDDDA1-7359-4A7F-96B0-86CF933C2B5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M9에서 아직 하지 않는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4B175F-A96A-4043-B7A8-9BF1564B13D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M9는 실행 pipeline을 만드는 단계이지, 평가 단계는 아닙니다.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735C1D-1C2F-4F1E-A2F9-F8E262DE6D73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품질 수치와 release 판단은 M10에서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0435F8-5DB4-4C9F-B325-0ADDC2AA2F59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49/55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1E57-27AC-4920-879A-E8EA069AFB05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503A9B-95BF-4FCB-91F1-B18F5AEFB324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확인해야 하는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2B393A-A62B-4D66-B143-1DE6D0E3DE16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모든 span은 원문 offset 기준인가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마스킹 결과에 raw PII가 남지 않는가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차단 응답도 정상 구조를 유지하는가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log에 raw PII가 없는가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NER가 없어도 pipeline이 동작하는가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config 기반으로 동작하는가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6DE512-5258-44FB-8112-4E1A29F15AD4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8BD9C3-98C9-447C-85DE-26275B820414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6DFD9A-98BB-4954-B730-597C9CC00F4B}"/>
              </a:ext>
            </a:extLst>
          </p:cNvPr>
          <p:cNvSpPr>
            <a:spLocks noGrp="1"/>
          </p:cNvSpPr>
          <p:nvPr/>
        </p:nvSpPr>
        <p:spPr>
          <a:xfrm>
            <a:off x="653415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전체 성능 점수 계산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F1 측정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entity별 FP/FN 리포트 생성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ablation 비교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release gate 자동 판정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1B782E-A254-4A33-8C29-F0EAF8B674FA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5A75D2-1415-4250-BB23-89549DACBFE2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 = M1~M8을 하나의 end-to-end 가드레일로 연결하는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492621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11E6CD-4194-4B97-A3C9-0F4535ADA6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FDB018-36C2-4CE9-B999-B319952AF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0-marker">
            <a:extLst>
              <a:ext uri="{FF2B5EF4-FFF2-40B4-BE49-F238E27FC236}">
                <a16:creationId xmlns:a16="http://schemas.microsoft.com/office/drawing/2014/main" id="{5A6C2DFD-EEA5-4338-87BB-18E8D0C6B938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0-label">
            <a:extLst>
              <a:ext uri="{FF2B5EF4-FFF2-40B4-BE49-F238E27FC236}">
                <a16:creationId xmlns:a16="http://schemas.microsoft.com/office/drawing/2014/main" id="{4CD1C8D4-B34A-472B-81EF-7EC994A6DC1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740571-7F4E-4A13-9424-83F5BD5F0F3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완성된 pipeline이 얼마나 잘 동작하는지 평가하는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79322-8242-44AE-B7DD-FF0B45E9B64B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실행 결과가 정답과 얼마나 맞는지 숫자로 측정합니다.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561D22-2897-4B74-97AF-8AD2A699540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50/55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95F646-7B6F-4CEC-8CFC-A00E3FD5EFC9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DB6063-8E1A-48EA-8E56-8B33D363D1F7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9D84B2-1218-4BA0-9E14-5958F4261F1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67EC93-7548-4C00-BDA6-189D5D8F4C53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M9: 가드레일을 실제로 실행 가능하게 만든다.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M10: 실행한 결과가 정답과 얼마나 맞는지 측정한다.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7EB42F-49E1-44AA-9967-22F44B185450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F5E5BA-1B2A-4BD4-A22A-3A916A3D451D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A88A7A-0805-4DE2-AE4C-13B5FBB0F4CF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BFAF7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7C76D9-AF8B-4223-B4C0-4233C8F2099D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평가 데이터 준비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pipeline 실행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예측 결과 수집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정답 gold와 비교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precision / recall / F1 계산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entity별 실패 사례 정리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ablation 비교</a:t>
            </a:r>
          </a:p>
          <a:p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-&gt; release gate 판단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3864-EA26-4BAA-A884-59336529D312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269CF4-C685-4B5C-A4F4-55AA8B9D6724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감이 아니라 숫자로 품질을 확인하는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5313685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C061BE-50CE-4075-84AD-766B7ED696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DCA672-264C-463F-B524-944A7D66C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1-marker">
            <a:extLst>
              <a:ext uri="{FF2B5EF4-FFF2-40B4-BE49-F238E27FC236}">
                <a16:creationId xmlns:a16="http://schemas.microsoft.com/office/drawing/2014/main" id="{3713178F-8A94-4565-AD46-BFA75CE41229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1-label">
            <a:extLst>
              <a:ext uri="{FF2B5EF4-FFF2-40B4-BE49-F238E27FC236}">
                <a16:creationId xmlns:a16="http://schemas.microsoft.com/office/drawing/2014/main" id="{EA737FEE-F2F9-41EE-8B8E-4D3AD41EB03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M10이 보는 질문과 지표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22E7A6-4C01-438D-A230-A4EF03A26920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한두 예시가 잘 된다고 충분한 것은 아닙니다.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470599-AA69-49B1-909F-4E6FB59D59C2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다양한 실제 케이스에서 얼마나 정확하고 안전한지 봐야 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936BD1-3168-486E-9ABD-E9553A48588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51/55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85B1EA-2680-4FFA-9064-DFD9FFCDCC72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EA0557-3300-4237-A1AE-68A2DE19CF36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확인해야 하는 질문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6DF2F5-9EC7-4F25-859F-BD910895000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전화번호는 얼마나 잘 찾는가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이메일 내부 이름 오탐은 줄었는가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이름 후보를 너무 많이 마스킹하지는 않는가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주민번호 같은 고위험 정보는 놓치지 않는가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조사/어미 경계는 정확한가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log에 raw PII가 없는가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NER를 켰을 때 좋아지는가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DB5E20-C866-475F-9B9A-BE3C4963A3FC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C523F3-596F-4FAD-A06B-61777B478390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주요 지표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D1EF18-D0F4-4B98-8972-D9583AE65208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48958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DC93D5-80CE-4D8F-B198-E72DD7B85419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5910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precision: 찾았다고 한 것 중 진짜 비율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recall: 진짜 개인정보 중 잡은 비율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F1: precision과 recall의 균형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boundary accuracy: span 경계 정확도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high-risk recall: 고위험 정보 누락 여부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latency: 처리 속도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 safety: 로그 안전성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167F58-2163-4169-A681-81C6539B7F44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896F48-2965-4B76-A2B1-0A69D6F96F6E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테스트보다 넓은 품질 검증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550372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43F395-870F-4C1C-BF7D-BD4633748A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22A2DA-9960-4A58-BC6F-3A4015865E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2-marker">
            <a:extLst>
              <a:ext uri="{FF2B5EF4-FFF2-40B4-BE49-F238E27FC236}">
                <a16:creationId xmlns:a16="http://schemas.microsoft.com/office/drawing/2014/main" id="{1ED5220E-5EA0-46CC-956D-79142C086544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2-label">
            <a:extLst>
              <a:ext uri="{FF2B5EF4-FFF2-40B4-BE49-F238E27FC236}">
                <a16:creationId xmlns:a16="http://schemas.microsoft.com/office/drawing/2014/main" id="{73E244D0-1E98-4D53-8463-151DB38B388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 실패 유형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79CAC6-8B8F-484D-A59A-0E5F75FB263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맞았는지만 보지 않고, 어떤 종류로 실패했는지도 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4E8B9-AF61-4900-B35E-78C6B46C689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false negative와 false positive는 개선 방향이 다릅니다.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31607B-416D-47E8-B05C-BC06F8FF6EC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52/55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D0D55D-8498-4A9E-86E7-FAB785092CFF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3936C4-430C-4D16-87C7-87E3E019D6CD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잘 맞은 경우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CCC7FC-547B-4E57-BBF7-FD83A93D7238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E7F6E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02CF3C-B776-4CC9-91A7-656B9EFEE285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정답: PHONE 010-1234-5678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예측: PHONE 010-1234-5678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정답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2B8077-240A-4F56-9739-C48D3E5A2695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7D994B-CE0F-4D3C-B74F-1E471401A698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놓친 경우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88E068-9538-4DB7-AB7D-B8F4BC52F559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9462F7-C3D4-480C-90DD-64455B627F0D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정답: PHONE 010-1234-5678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예측: 없음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false negative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개인정보를 놓친 것이라 위험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D10DC1-72B3-434B-9497-694136EEF848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294BA5-C9B4-483C-A99F-54C23A898F22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잘못 찾은 경우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60EC0-4067-44D5-96FA-69B6F16DE69F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31813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2D844E-097B-434B-B2E4-91F80EF70A9C}"/>
              </a:ext>
            </a:extLst>
          </p:cNvPr>
          <p:cNvSpPr>
            <a:spLocks noGrp="1"/>
          </p:cNvSpPr>
          <p:nvPr/>
        </p:nvSpPr>
        <p:spPr>
          <a:xfrm>
            <a:off x="845820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입력: 오늘 하늘이 맑네요.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정답: 없음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예측: PERSON_NAME 하늘</a:t>
            </a:r>
          </a:p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결과: false positive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E487FE-A209-49C7-A08C-979821FF15FA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B75FFB-5A3F-436D-A345-59439390D8BA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경계 오류도 따로 봅니다. 예: 정답은 홍길동인데 예측이 홍길동이인 경우.</a:t>
            </a:r>
          </a:p>
        </p:txBody>
      </p:sp>
    </p:spTree>
    <p:extLst>
      <p:ext uri="{BB962C8B-B14F-4D97-AF65-F5344CB8AC3E}">
        <p14:creationId xmlns:p14="http://schemas.microsoft.com/office/powerpoint/2010/main" val="6588352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4A4930-AA87-450F-9501-00559D5B27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5B20A1-E11E-44EB-9BC4-B2DE2B4964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3-marker">
            <a:extLst>
              <a:ext uri="{FF2B5EF4-FFF2-40B4-BE49-F238E27FC236}">
                <a16:creationId xmlns:a16="http://schemas.microsoft.com/office/drawing/2014/main" id="{5E823796-A15C-461E-AF15-F4BD208D97CC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3-label">
            <a:extLst>
              <a:ext uri="{FF2B5EF4-FFF2-40B4-BE49-F238E27FC236}">
                <a16:creationId xmlns:a16="http://schemas.microsoft.com/office/drawing/2014/main" id="{4BFE37F7-2ACC-4236-B13C-7770BECEA47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 high-risk와 ablation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D1A113-9F0A-4889-8CA1-5D6D4CA0BA6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고위험 개인정보는 특히 놓치면 안 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C6ABCD-4879-473E-B2A6-3B4D790E83A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ablation으로 어떤 모듈이 실제로 효과가 있는지도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2FFCB9-9831-4722-A068-663C1D5527F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53/55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F89937-1FA7-4E0B-88EA-C1266676EA15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E81952-12F3-459D-BDBF-4DE66BDEBE72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high-risk recall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4033C3-F1DA-4DEA-8A8D-15EC39E328BF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81350" cy="27622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5EA139-77B6-4A70-B800-C1A290922504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주민등록번호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외국인등록번호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신용카드번호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API key / secret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의료 기록 번호</a:t>
            </a:r>
          </a:p>
          <a:p>
            <a:endParaRPr sz="1275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고위험 개인정보 100개 중 몇 개를 잡았는가?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24F996-D7CF-4EF2-A0D1-48FDED7E0535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6358B4-6CD8-4956-8622-3C365E51B457}"/>
              </a:ext>
            </a:extLst>
          </p:cNvPr>
          <p:cNvSpPr>
            <a:spLocks noGrp="1"/>
          </p:cNvSpPr>
          <p:nvPr/>
        </p:nvSpPr>
        <p:spPr>
          <a:xfrm>
            <a:off x="4505325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ablation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C54B35-E7E8-4B86-8714-35FC4B3E887B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3181350" cy="2762250"/>
          </a:xfrm>
          <a:prstGeom prst="rect">
            <a:avLst/>
          </a:prstGeom>
          <a:solidFill>
            <a:srgbClr val="FFF2D6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A40523-73F3-43E7-A717-ED7CEBAA8617}"/>
              </a:ext>
            </a:extLst>
          </p:cNvPr>
          <p:cNvSpPr>
            <a:spLocks noGrp="1"/>
          </p:cNvSpPr>
          <p:nvPr/>
        </p:nvSpPr>
        <p:spPr>
          <a:xfrm>
            <a:off x="4657725" y="2705100"/>
            <a:ext cx="2876550" cy="2533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 variant 있음 vs 없음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 boundary corrector 있음 vs 없음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M4 context scorer 있음 vs 없음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mock vs real NER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7BE6A9-01B5-4F8E-AA4B-9BB5E1AA518F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524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74309CD-CD35-4B5A-BA9D-1BEEB4C52192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결과물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884E37-18F0-473C-9A69-E7F76C6BEB06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1051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전체 precision / recall / F1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entity별 지표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boundary accuracy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high-risk recall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latency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FP/FN 목록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audit safety 결과</a:t>
            </a:r>
          </a:p>
          <a:p>
            <a:pPr algn="l">
              <a:def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release gate 결과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460CAC-2EED-4250-A21E-DABFBA4136D8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D13F38-4472-40B9-BBB7-F0EF3EFD7D3F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ablation은 특정 모듈을 켰을 때와 껐을 때 성능 차이를 비교하는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552685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AD3FE8-1D1E-457E-B90F-4134D5E8E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1A7242-6F53-4122-8FE8-5F0AD8A3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4-marker">
            <a:extLst>
              <a:ext uri="{FF2B5EF4-FFF2-40B4-BE49-F238E27FC236}">
                <a16:creationId xmlns:a16="http://schemas.microsoft.com/office/drawing/2014/main" id="{B22AD0E1-1E02-4624-9FB7-863537F4BC60}"/>
              </a:ext>
            </a:extLst>
          </p:cNvPr>
          <p:cNvSpPr>
            <a:spLocks noGrp="1"/>
          </p:cNvSpPr>
          <p:nvPr/>
        </p:nvSpPr>
        <p:spPr>
          <a:xfrm>
            <a:off x="533400" y="40957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4-label">
            <a:extLst>
              <a:ext uri="{FF2B5EF4-FFF2-40B4-BE49-F238E27FC236}">
                <a16:creationId xmlns:a16="http://schemas.microsoft.com/office/drawing/2014/main" id="{DEED810D-07AC-4529-A329-45C21C3526D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M10에서 아직 하지 않는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A8C55F-64C3-476C-8A42-04D84809889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36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현재 가드레일을 평가하는 단계입니다.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EBE2A7-E282-4A0A-9469-B5DD89F7F88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673"/>
                </a:solidFill>
                <a:latin typeface="Malgun Gothic"/>
                <a:ea typeface="Malgun Gothic"/>
                <a:cs typeface="Malgun Gothic"/>
              </a:rPr>
              <a:t>새로운 큰 기능을 추가하는 단계가 아닙니다.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9E4532-64EC-4581-AF4C-78386877661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54/55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5AB16-EEAE-491C-A6FE-C759E4AB5458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238750" cy="3429000"/>
          </a:xfrm>
          <a:prstGeom prst="rect">
            <a:avLst/>
          </a:prstGeom>
          <a:solidFill>
            <a:srgbClr val="FDEAEA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7C3B72-8A23-414C-8B37-60166E25E92B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아직 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479885-75AC-45C3-B730-CDD5E7C7EDA1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819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새로운 pipeline 단계 추가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운영 dashboard 생성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human review workflow 생성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멀티턴 세션 추적 추가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RAG 문서 스캔 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BF9C9-A19C-4F91-92B4-E9F47353B574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5238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2E568D-6B12-4BB9-AB9F-BE4F3D721819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489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CDEF0D-554A-47CE-AA89-C4A63DE24C3F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577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M10은 평가 데이터에 pipeline을 실행하고, 예측 결과를 정답과 비교해서 precision, recall, F1, boundary accuracy, high-risk recall, latency, audit safety를 측정합니다.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622D62-1754-47D4-98E8-01F9B483A83C}"/>
              </a:ext>
            </a:extLst>
          </p:cNvPr>
          <p:cNvSpPr>
            <a:spLocks noGrp="1"/>
          </p:cNvSpPr>
          <p:nvPr/>
        </p:nvSpPr>
        <p:spPr>
          <a:xfrm>
            <a:off x="6534150" y="3752850"/>
            <a:ext cx="48196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ablation으로 어떤 모듈이 성능에 기여하는지 확인합니다.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release해도 되는지, 무엇을 더 개선해야 하는지 숫자로 판단합니다.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72901B-2DD8-4EF4-9B74-774D9AA89957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D12379-5656-4009-A75A-AE316F413390}"/>
              </a:ext>
            </a:extLst>
          </p:cNvPr>
          <p:cNvSpPr>
            <a:spLocks noGrp="1"/>
          </p:cNvSpPr>
          <p:nvPr/>
        </p:nvSpPr>
        <p:spPr>
          <a:xfrm>
            <a:off x="1104900" y="5924550"/>
            <a:ext cx="998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M10 = 완성된 pipeline이 얼마나 정확하고 안전한지 측정하는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290165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823CF2-748E-40B0-9FA9-414919D7A4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D36DB3-4DF8-428B-8033-C4B45227BB3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최종 요약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A42DDC-F74A-48AD-AC90-DB0BF3B878E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9144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흐름은 네 가지 규칙으로 다시 정리할 수 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F24B90-E4B1-4620-B3A0-6D26523315E1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이 규칙만 놓치지 않으면 M1~M10의 역할이 한눈에 보입니다.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C45958-71A9-49A0-A933-2CE582FD1F5A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762500" cy="121920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CC5C55-2D25-4C75-8C6A-585063146A3F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A48361-7596-4E7F-86F5-ED70EDEB2892}"/>
              </a:ext>
            </a:extLst>
          </p:cNvPr>
          <p:cNvSpPr>
            <a:spLocks noGrp="1"/>
          </p:cNvSpPr>
          <p:nvPr/>
        </p:nvSpPr>
        <p:spPr>
          <a:xfrm>
            <a:off x="1543050" y="2609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위치를 지킨다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FF3303-94EA-4EF4-87D3-22A1F3893188}"/>
              </a:ext>
            </a:extLst>
          </p:cNvPr>
          <p:cNvSpPr>
            <a:spLocks noGrp="1"/>
          </p:cNvSpPr>
          <p:nvPr/>
        </p:nvSpPr>
        <p:spPr>
          <a:xfrm>
            <a:off x="1562100" y="3009900"/>
            <a:ext cx="3524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탐지는 변형 텍스트에서 해도 최종 span은 raw text 기준입니다.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E5A83F-0956-4E9C-A587-E2AB097A17C1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4762500" cy="121920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44676-7615-461A-9C47-F60ED1C4BC8A}"/>
              </a:ext>
            </a:extLst>
          </p:cNvPr>
          <p:cNvSpPr>
            <a:spLocks noGrp="1"/>
          </p:cNvSpPr>
          <p:nvPr/>
        </p:nvSpPr>
        <p:spPr>
          <a:xfrm>
            <a:off x="6515100" y="26098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EDD953-E7BD-4B3E-BE01-56CA67271B5E}"/>
              </a:ext>
            </a:extLst>
          </p:cNvPr>
          <p:cNvSpPr>
            <a:spLocks noGrp="1"/>
          </p:cNvSpPr>
          <p:nvPr/>
        </p:nvSpPr>
        <p:spPr>
          <a:xfrm>
            <a:off x="7067550" y="2609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detector는 후보만 낸다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14AB56-77CF-4AE9-B23E-13E463006371}"/>
              </a:ext>
            </a:extLst>
          </p:cNvPr>
          <p:cNvSpPr>
            <a:spLocks noGrp="1"/>
          </p:cNvSpPr>
          <p:nvPr/>
        </p:nvSpPr>
        <p:spPr>
          <a:xfrm>
            <a:off x="7086600" y="3009900"/>
            <a:ext cx="3524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최종 action은 resolver와 policy가 결정합니다.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6C4FF6-319C-449A-9ED1-2873148A2976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4762500" cy="121920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E5ACF-2CC3-4E12-B966-F91583F4A7AF}"/>
              </a:ext>
            </a:extLst>
          </p:cNvPr>
          <p:cNvSpPr>
            <a:spLocks noGrp="1"/>
          </p:cNvSpPr>
          <p:nvPr/>
        </p:nvSpPr>
        <p:spPr>
          <a:xfrm>
            <a:off x="990600" y="441960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8E8E6D-DE7C-4B2B-9E21-21FB5AAE412E}"/>
              </a:ext>
            </a:extLst>
          </p:cNvPr>
          <p:cNvSpPr>
            <a:spLocks noGrp="1"/>
          </p:cNvSpPr>
          <p:nvPr/>
        </p:nvSpPr>
        <p:spPr>
          <a:xfrm>
            <a:off x="1543050" y="4419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suffix를 보존한다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26A9E2-5FCC-495D-913F-906F99A7E6F4}"/>
              </a:ext>
            </a:extLst>
          </p:cNvPr>
          <p:cNvSpPr>
            <a:spLocks noGrp="1"/>
          </p:cNvSpPr>
          <p:nvPr/>
        </p:nvSpPr>
        <p:spPr>
          <a:xfrm>
            <a:off x="1562100" y="4819650"/>
            <a:ext cx="3524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홍길동이는 [PERSON_1]이가 아니라 [PERSON_1]이로 처리합니다.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5018EE-B280-4689-B236-DE2959BA856C}"/>
              </a:ext>
            </a:extLst>
          </p:cNvPr>
          <p:cNvSpPr>
            <a:spLocks noGrp="1"/>
          </p:cNvSpPr>
          <p:nvPr/>
        </p:nvSpPr>
        <p:spPr>
          <a:xfrm>
            <a:off x="6286500" y="4191000"/>
            <a:ext cx="4762500" cy="121920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F109F0-B0D4-45E3-9AA9-769B46D09AE1}"/>
              </a:ext>
            </a:extLst>
          </p:cNvPr>
          <p:cNvSpPr>
            <a:spLocks noGrp="1"/>
          </p:cNvSpPr>
          <p:nvPr/>
        </p:nvSpPr>
        <p:spPr>
          <a:xfrm>
            <a:off x="6515100" y="441960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3CA64E3-3121-4EA0-A816-A15D255DB0AF}"/>
              </a:ext>
            </a:extLst>
          </p:cNvPr>
          <p:cNvSpPr>
            <a:spLocks noGrp="1"/>
          </p:cNvSpPr>
          <p:nvPr/>
        </p:nvSpPr>
        <p:spPr>
          <a:xfrm>
            <a:off x="7067550" y="4419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raw PII를 기록하지 않는다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D989FB-D3C2-4096-B1E8-730D6C0A85E5}"/>
              </a:ext>
            </a:extLst>
          </p:cNvPr>
          <p:cNvSpPr>
            <a:spLocks noGrp="1"/>
          </p:cNvSpPr>
          <p:nvPr/>
        </p:nvSpPr>
        <p:spPr>
          <a:xfrm>
            <a:off x="7086600" y="4819650"/>
            <a:ext cx="3524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public response와 audit log에는 원문 개인정보를 넣지 않습니다.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DCD1E3-A790-4A8B-B2B1-2F7D2162C896}"/>
              </a:ext>
            </a:extLst>
          </p:cNvPr>
          <p:cNvSpPr>
            <a:spLocks noGrp="1"/>
          </p:cNvSpPr>
          <p:nvPr/>
        </p:nvSpPr>
        <p:spPr>
          <a:xfrm>
            <a:off x="1066800" y="6076950"/>
            <a:ext cx="10058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M1 준비 -&gt; M2 탐지 -&gt; M3 경계 -&gt; M4 문맥 -&gt; M5 NER -&gt; M6 정리 -&gt; M7 처리 -&gt; M8 기록 -&gt; M9 통합 -&gt; M10 평가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3E5395-7536-48CB-B041-246C0A679FD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rPr>
              <a:t>Korean PII Guardrail v0.2 | 55/55</a:t>
            </a:r>
          </a:p>
        </p:txBody>
      </p:sp>
    </p:spTree>
    <p:extLst>
      <p:ext uri="{BB962C8B-B14F-4D97-AF65-F5344CB8AC3E}">
        <p14:creationId xmlns:p14="http://schemas.microsoft.com/office/powerpoint/2010/main" val="16821179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5682</Words>
  <Application>Microsoft Office PowerPoint</Application>
  <DocSecurity>0</DocSecurity>
  <PresentationFormat>와이드스크린</PresentationFormat>
  <Paragraphs>988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58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1</cp:revision>
  <dcterms:created xsi:type="dcterms:W3CDTF">2026-05-22T10:28:52Z</dcterms:created>
  <dcterms:modified xsi:type="dcterms:W3CDTF">2026-05-22T10:30:58Z</dcterms:modified>
</cp:coreProperties>
</file>