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D1AE3D-D60A-404C-9CCA-DFD4A564A05C}" v="2" dt="2026-05-07T21:10:32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06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20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시작에서는 이 프로젝트가 단순 개인정보 마스킹이 아니라, 한국어 문법과 문맥, 세션 누적 위험을 다루는 다층 가드레일 프로젝트임을 먼저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문제정의→설계 원칙→아키텍처→구현 분업→평가 계획 순서로 간다. 연구 자료를 그대로 나열하지 않고 설계 결정을 정당화하는 구조다.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장은 발표 전체의 결론이다. 교수님께 먼저 “왜 단일 NER가 아니라 위험 엔진인가”를 각인시키는 목적이다.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영어권 도구를 폄하하는 것이 아니라, 그 구조는 재사용하고 언어별 자원과 후처리를 한국어에 맞춰 바꿔야 한다는 메시지를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“보안비밀”은 법적 PII는 아니지만 guardrail 관점에서는 동일한 차단 대상이라는 점을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실용성: 완전히 새로 만들지 않는다. 영어권의 프레임워크적 장점은 가져오되 한국어 failure mode에 맞춰 recognizer를 새로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한국어 특화 설계의 핵심이다. 조사를 마스킹에 포함시키면 문장이 망가지고, 조사까지 놓치면 span F1도 흔들린다는 점을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NER 파인튜닝 자체도 중요하지만, 한국어에서는 후처리 설계가 모델 성능을 실사용 성능으로 전환하는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교수님에게 “사전 기반 탐지가 왜 최종 판정이 될 수 없는지”를 가장 직관적으로 보여주는 슬라이드다.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주소는 단순히 장소명 탐지가 아니라 privacy granularity 판단이다. 그래서 entity routing과 risk policy가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교수님께 이 프로젝트가 일반적인 regex/NER 마스킹보다 더 연구적인 이유를 보여준다. 세션 단위 누적 위험이 핵심 차별점이다.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근거 전체를 요약한다. 보고서 내용 전체를 보여주기보다, 어떤 근거가 어떤 설계 결정으로 이어졌는지를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원칙이 팀 분업에도 연결된다. NER 담당자는 모델 후보를 잘 찾고, 파이프라인 담당자는 모든 후보를 검증·보정·병합·마스킹한다.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탐지와 마스킹의 분리는 교수님에게 설계의 안정성을 설명하는 핵심이다. 모델이 boundary를 조금 틀려도 후처리로 복구한다.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P0는 false negative 비용이 극단적으로 크고, P2/P3는 false positive로 인한 사용성 저하가 크다. 그래서 하나의 threshold로 처리하면 안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 설명 시 후보 생성기와 최종 정책 엔진의 분리를 강조한다. 모든 detector는 후보만 생성하고, resolver/context/policy가 최종 결정을 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PII guardrail은 입력만 보면 부족하다. RAG 문서와 모델 출력도 동일한 파이프라인으로 검사해야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taxonomy는 단순 목록이 아니라 detector routing table의 키다. 그래서 schema 이름을 처음부터 고정해야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PII entity별로 어떤 레이어가 실제 책임을 지는지 설명한다. 구조형은 NER에 맡기면 비용과 불확실성이 증가한다.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전처리의 핵심은 깨끗한 텍스트 만들기가 아니라, 탐지 variant와 원문 offset을 동시에 보존하는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정규식 레이어는 low-level이지만 가장 중요한 안전장치다. 특히 P0 entity는 NER 결과와 무관하게 즉시 마스킹해야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사전은 위험하지만 필요하다. 사전 단독 마스킹을 금지하고 context scoring의 feature로 쓰는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조사-aware correction은 과도하게 전역 처리하면 오탐이 생긴다. 선택적으로 적용하는 설계가 중요하다.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NER의 목표를 명확히 한다. 정규식으로 잡을 수 있는 구조형 PII까지 NER로 잡으려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분업 설명으로 자연스럽게 연결한다. NER 담당자와 파이프라인 담당자의 책임 경계를 분리한다.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scorer는 LLM judge를 반드시 의미하지 않는다. v0에서는 rule-based score로 시작하고, 필요 시 작은 classifier나 LLM judge를 fallback으로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resolver는 모델링보다 엔지니어링이지만 PII guardrail 안정성을 좌우한다. 특히 overlap policy가 없으면 이메일이나 주소에서 과마스킹이 발생한다.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마스킹 policy는 제품 목적과 직접 연결된다. “무조건 삭제”는 안전하지만 downstream utility를 크게 해칠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NeuroFilter는 내부 activation 접근이 가능한 self-hosted model에서만 검토하고, 현재 MVP는 session-level text graph로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간단한 예시지만 파이프라인 전체의 핵심을 보여준다. 모델만으로는 아니라 여러 레이어가 함께 작동한다.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계좌번호와 주소는 entity routing의 필요성을 보여주는 예시다. regex 후보는 낮은 score에서 시작하고 문맥으로 승격한다.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멀티턴에서 중요한 것은 각 턴의 문자열 마스킹이 아니라 동일 subject에 대한 정보 수집 trajectory를 감지하는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교수님이 구현 가능성을 물으면 이 슬라이드를 사용한다. 분업은 가능하지만 interface contract 없이는 통합 리스크가 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schema는 구현의 접점이다. 이 규칙이 정해지면 NER가 늦어져도 mock NER로 pipeline 개발이 가능하다.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구현 계획의 핵심은 NER가 완성될 때까지 기다리지 않는 것이다. 파이프라인과 평가 하네스가 먼저 돌아가야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교수님에게 현실적인 실행 계획을 보여준다. MVP는 높은 recall과 기본 운영 안전성을 먼저 확보한다.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로드맵은 교수님에게 실행 가능성을 보여준다. 연구와 구현이 분리되지 않고 매달 측정 가능한 결과가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평가셋은 공동 작업의 중심이다. 공통 gold set이 없으면 NER와 pipeline의 성능 주장이 엇갈린다.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지표는 연구성과와 운영안전성을 연결한다. 특히 고위험 recall은 별도 KPI로 둬야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교수님께 연구 설계의 엄밀성을 보여준다. “좋아 보인다”가 아니라 ablation으로 검증한다.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criteria는 절대 기준이 아니라 초기 목표다. 교수님에게 성능 검증 계획을 구체적으로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리스크를 숨기지 않고 설계가 어떻게 완화하는지 설명한다. 특히 로그 프라이버시를 강조하면 프로젝트 신뢰도가 높아진다.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슬라이드는 발표 마지막에 방어 논리로 쓴다. 설계의 핵심 근거와 한계를 동시에 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마지막 결론이다. 교수님께 구체적으로 어떤 피드백을 받을지 명시해 논의가 산만해지지 않도록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참고문헌 슬라이드는 논문명을 세부적으로 나열하는 것보다 설계 반영 지점을 같이 보여주는 방식이 교수님 설명에 적합하다.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필요 시 appendix로 taxonomy를 상세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appendix는 실제 구현 명령으로 전환하기 위한 작업 순서다.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006840" y="777240"/>
            <a:ext cx="2468880" cy="3383280"/>
          </a:xfrm>
          <a:prstGeom prst="arc">
            <a:avLst/>
          </a:prstGeom>
          <a:noFill/>
          <a:ln w="31750">
            <a:solidFill>
              <a:srgbClr val="06B6D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74352" y="1389888"/>
            <a:ext cx="1508760" cy="2139696"/>
          </a:xfrm>
          <a:prstGeom prst="arc">
            <a:avLst/>
          </a:prstGeom>
          <a:noFill/>
          <a:ln w="31750">
            <a:solidFill>
              <a:srgbClr val="7C3AE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95097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7498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PII 가드레일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설명 자료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13232" y="32552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조사-aware boundary correction · entity routing · multi-turn privacy monitor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70916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48554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4965192"/>
            <a:ext cx="3383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41448" y="470916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41448" y="48554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67328" y="4965192"/>
            <a:ext cx="3383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105656" y="470916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05656" y="48554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31536" y="4965192"/>
            <a:ext cx="3383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769864" y="470916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69864" y="48554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95744" y="4965192"/>
            <a:ext cx="3383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34072" y="470916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34072" y="48554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61722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교수님 보고용 · 2026.05.07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구조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교수님께 설명드릴 핵심 질문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프로젝트가 해결하려는 문제, 설계 근거, 구현·검증 계획을 한 흐름으로 설명합니다.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1554480"/>
            <a:ext cx="9738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91640" y="1554480"/>
            <a:ext cx="7315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56232" y="1691640"/>
            <a:ext cx="9409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한국어 PII는 영어권보다 어렵나?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56232" y="2057400"/>
            <a:ext cx="94091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조사, 띄어쓰기, 짧은 이름, 주소 체계, 멀티턴 누출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" y="292608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30906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91640" y="2880360"/>
            <a:ext cx="9738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691640" y="288036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856232" y="3017520"/>
            <a:ext cx="9409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어떤 구조가 필요한가?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56232" y="3383280"/>
            <a:ext cx="94091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regex·사전·NER·문맥·boundary·session monitor를 라우팅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251960"/>
            <a:ext cx="658368" cy="6583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9808" y="44165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91640" y="4206240"/>
            <a:ext cx="9738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691640" y="4206240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56232" y="4343400"/>
            <a:ext cx="9409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구현과 검증은 어떻게 할 것인가?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56232" y="4709160"/>
            <a:ext cx="94091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담당/파이프라인 담당 분리, ablation, release criteria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장 요약: “탐지 모델”이 아니라 “위험 엔진”입니다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PII 문제는 span 탐지 하나로 끝나지 않고, 경계·문맥·조합 위험·마스킹 정책이 결합됩니다.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PII 범주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직접·준식별·보안비밀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71800" y="15087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108960" y="1645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08960" y="22219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레이어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탐지부터 세션 감시까지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15087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22219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분업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/ Pipeline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3800" y="15087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680960" y="1645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A/B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80960" y="22219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Ablation으로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타당성 검증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6112" y="32004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문제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96112" y="3566160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영어권 detector의 orchestration은 유용하지만, 한국어 조사·중의성·주소·대화 문맥은 별도 설계가 필요합니다.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343400" y="30632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343400" y="306324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07992" y="32004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설계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07992" y="3566160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entity별 detector routing: 구조형은 regex, 의미형은 NER, 결합형은 context/session graph로 처리합니다.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955280" y="30632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955280" y="306324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119872" y="32004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검증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19872" y="3566160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span F1뿐 아니라 boundary accuracy, subject-level leakage, latency, false block rate까지 봅니다.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영어권에서는</a:t>
            </a: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한 </a:t>
            </a:r>
            <a:r>
              <a:rPr lang="en-US" sz="2500" b="1" dirty="0" err="1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겹으로</a:t>
            </a: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500" b="1" dirty="0" err="1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되는</a:t>
            </a: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500" b="1" dirty="0" err="1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일이</a:t>
            </a: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500" b="1" dirty="0" err="1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한국어에서는</a:t>
            </a: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500" b="1" dirty="0" err="1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</a:t>
            </a: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500" b="1" dirty="0" err="1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겹을</a:t>
            </a: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500" b="1" dirty="0" err="1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PII detector의 성공 요인은 그대로 활용하되, 한국어의 실패 모드는 별도로 설계해야 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3152" cy="3840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96112" y="15544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영어권 PII detector가 상대적으로 강한 이유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4837176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공백 기반 tokenization이 비교적 안정적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first/last name, address 패턴 등 구조적 힌트가 많음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Presidio류 프레임워크가 pattern/context/NER를 이미 잘 조합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공개 benchmark와 상용 recognizer가 풍부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전화·이메일·카드 등 구조형은 regex/checksum이 강함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73152" cy="3840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73952" y="15544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PII detector가 약한 이유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73952" y="1920240"/>
            <a:ext cx="4837176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조사·어미가 PII 뒤에 붙어 span 경계를 흔듦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띄어쓰기 오류와 붙여쓰기 입력이 많음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이름이 짧고 일반명사와 자주 겹침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도로명/지번/동호수 주소 표현이 다양함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여러 턴에 조각난 PII가 결합될 수 있음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0" cy="3886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 정의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보호할 정보는 “직접 식별자 + 준식별자 + 보안비밀”입니다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가드레일은 단순 문자열 차단이 아니라, 조합 위험까지 고려하는 정책 엔진이어야 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69164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식별자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057400"/>
            <a:ext cx="291693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주민등록번호, 외국인등록번호, 여권번호, 전화번호, 이메일, 계좌번호, 카드번호, 실명, 상세주소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90872" y="169164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준식별자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0872" y="2057400"/>
            <a:ext cx="291693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생년월일, 성별, 나이, 학교, 직장, 부서, 직책, 거주지역, 가족관계, 방문 이력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55448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275320" y="1554480"/>
            <a:ext cx="73152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39912" y="169164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보안비밀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9912" y="2057400"/>
            <a:ext cx="291693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key, access token, password, device secret, internal credential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4160520"/>
            <a:ext cx="10149840" cy="1170432"/>
          </a:xfrm>
          <a:prstGeom prst="roundRect">
            <a:avLst>
              <a:gd name="adj" fmla="val 781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34440" y="453542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목표: “어떤 문자열인가?”뿐 아니라 “누구에게, 어떤 맥락에서, 조합되면 개인 식별이 가능한가?”를 판단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0080" y="61996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개인정보보호위원회/PIPC 가이드라인의 직접 식별정보·식별가능정보 구분을 운영 taxonomy로 확장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영어권 구조의 활용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가져올 것은 “오케스트레이션”, 바꿀 것은 “언어 자원”입니다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Presidio/Guardrails류 구조는 재사용 가능하지만, 한국어 recognizer와 context lexicon은 별도 설계가 필요합니다.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96112" y="15544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재사용 가능한 패턴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4837176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input/output/retrieval scan 위치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regex + checksum + format validator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context enhancer / score fusion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detector별 confidence와 reason code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span resolver / masking policy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audit logging / review queue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73952" y="15544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한국어에서 다시 만들어야 하는 것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73952" y="1920240"/>
            <a:ext cx="4837176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한국어 조사·어미 boundary correction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성씨/호칭/직함/관계어 lexicon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도로명·지번·동호수 주소 처리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한국어 이름·일반명사 중의성 문맥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한국형 PII taxonomy와 위험도 정책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multi-turn 조각 결합 감시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40080" y="61996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Presidio는 pattern/context/checksum/NER 결합형 구조를 제공하지만, 다국어에는 NLP engine과 recognizer 조정 필요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난점 ①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조사와 어미가 PII의 경계를 흐립니다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한국어는 PII 후보 뒤에 조사·호칭·어미가 붙어 “PII 본체”와 “문장 기능”이 한 어절에 섞입니다.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2628900" cy="438912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73252" y="1531620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 어절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3451860" y="1481328"/>
            <a:ext cx="2628900" cy="438912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02152" y="1531620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PII 본체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080760" y="1481328"/>
            <a:ext cx="2628900" cy="438912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131052" y="1531620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suffix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709660" y="1481328"/>
            <a:ext cx="2628900" cy="438912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759952" y="1531620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마스킹 결과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2960" y="1920240"/>
            <a:ext cx="26289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73252" y="1970532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홍길동이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3451860" y="1920240"/>
            <a:ext cx="26289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502152" y="1970532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26289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31052" y="1970532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709660" y="1920240"/>
            <a:ext cx="26289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759952" y="1970532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[PERSON]이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22960" y="2359152"/>
            <a:ext cx="2628900" cy="438912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73252" y="2409444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김민수에게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3451860" y="2359152"/>
            <a:ext cx="2628900" cy="438912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502152" y="2409444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김민수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080760" y="2359152"/>
            <a:ext cx="2628900" cy="438912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131052" y="2409444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에게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8709660" y="2359152"/>
            <a:ext cx="2628900" cy="438912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759952" y="2409444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[PERSON]에게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822960" y="2798064"/>
            <a:ext cx="26289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73252" y="2848356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010-1234-5678로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3451860" y="2798064"/>
            <a:ext cx="26289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502152" y="2848356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010-1234-5678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080760" y="2798064"/>
            <a:ext cx="26289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131052" y="2848356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709660" y="2798064"/>
            <a:ext cx="26289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759952" y="2848356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[PHONE]로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822960" y="3236976"/>
            <a:ext cx="2628900" cy="438912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73252" y="3287268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test@example.com입니다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3451860" y="3236976"/>
            <a:ext cx="2628900" cy="438912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502152" y="3287268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test@example.com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6080760" y="3236976"/>
            <a:ext cx="2628900" cy="438912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31052" y="3287268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입니다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8709660" y="3236976"/>
            <a:ext cx="2628900" cy="438912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759952" y="3287268"/>
            <a:ext cx="25283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[EMAIL]입니다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1005840" y="416052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234440" y="43525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설계 결정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234440" y="464515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Boundary correction은 전역 전처리가 아니라 detector 후처리입니다. 먼저 후보를 찾고, 그 다음 조사·호칭·어미를 분리합니다.</a:t>
            </a:r>
            <a:endParaRPr lang="en-US" sz="1330" dirty="0"/>
          </a:p>
        </p:txBody>
      </p:sp>
      <p:sp>
        <p:nvSpPr>
          <p:cNvPr id="48" name="Text 46"/>
          <p:cNvSpPr/>
          <p:nvPr/>
        </p:nvSpPr>
        <p:spPr>
          <a:xfrm>
            <a:off x="640080" y="61996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Thunder-DeID: 한국어 교착성과 조사 분리가 자연스러운 비식별화에 중요하다는 근거</a:t>
            </a:r>
            <a:endParaRPr lang="en-US" sz="690" dirty="0"/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난점 ②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이름·직함·접미사 결합은 단일 NER가 자주 놓치는 구간입니다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특히 “박과장”, “윤정씨”, “진아야” 같은 표현은 이름 본체와 관계/호칭 정보가 붙습니다.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73152" cy="2468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55448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메커니즘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87552" y="1920240"/>
            <a:ext cx="3008376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이름+직함/접미사를 하나의 lexical unit으로 보거나, 일반명사·직책으로 오인합니다.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73152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99432" y="155448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대응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99432" y="1920240"/>
            <a:ext cx="3008376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NER는 후보 생성기로 두고, suffix splitter와 span resolver가 최종 경계를 결정합니다.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73152" cy="2468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11312" y="155448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방식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11312" y="1920240"/>
            <a:ext cx="3008376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span F1만 보지 않고 partial span F1과 boundary accuracy를 함께 측정합니다.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1005840" y="4251960"/>
            <a:ext cx="3383280" cy="283464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56132" y="4302252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389120" y="4251960"/>
            <a:ext cx="3383280" cy="283464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439412" y="4302252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7772400" y="4251960"/>
            <a:ext cx="3383280" cy="283464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822692" y="4302252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 방안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1005840" y="4535424"/>
            <a:ext cx="3383280" cy="283464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56132" y="4585716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박과장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389120" y="4535424"/>
            <a:ext cx="3383280" cy="283464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439412" y="4585716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성+직함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7772400" y="4535424"/>
            <a:ext cx="3383280" cy="283464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822692" y="4585716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PERSON_REF 또는 context 판단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1005840" y="4818888"/>
            <a:ext cx="3383280" cy="283464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56132" y="486918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윤정씨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4389120" y="4818888"/>
            <a:ext cx="3383280" cy="283464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439412" y="486918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이름+호칭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7772400" y="4818888"/>
            <a:ext cx="3383280" cy="283464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822692" y="486918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[PERSON]씨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1005840" y="5102352"/>
            <a:ext cx="3383280" cy="283464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56132" y="5152644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진아야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4389120" y="5102352"/>
            <a:ext cx="3383280" cy="283464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439412" y="5152644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이름+호격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7772400" y="5102352"/>
            <a:ext cx="3383280" cy="283464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822692" y="5152644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[PERSON]야 또는 policy 보정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1005840" y="5385816"/>
            <a:ext cx="3383280" cy="283464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056132" y="5436108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김팀장에게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4389120" y="5385816"/>
            <a:ext cx="3383280" cy="283464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439412" y="5436108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성+직함+조사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7772400" y="5385816"/>
            <a:ext cx="3383280" cy="283464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822692" y="5436108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[PERSON_REF]에게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640080" y="61996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한국어 이름 PII 오류 분석: 구조 분해 실패, 이름+직함/접미사 누락이 대표 병목</a:t>
            </a:r>
            <a:endParaRPr lang="en-US" sz="690" dirty="0"/>
          </a:p>
        </p:txBody>
      </p:sp>
      <p:sp>
        <p:nvSpPr>
          <p:cNvPr id="48" name="Shape 4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난점 ③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이름은 일반명사와 자주 겹칩니다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“하늘”, “사랑”, “가을”, “유진”은 사람 이름일 수도 있고 일반 단어일 수도 있습니다.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148840" cy="585216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7532" y="1467612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2926080" y="1417320"/>
            <a:ext cx="2148840" cy="585216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976372" y="1467612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단독 판단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074920" y="1417320"/>
            <a:ext cx="2148840" cy="585216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25212" y="1467612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문맥 판단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777240" y="2002536"/>
            <a:ext cx="214884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7532" y="2052828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하늘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2926080" y="2002536"/>
            <a:ext cx="214884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976372" y="2052828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 confidence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74920" y="2002536"/>
            <a:ext cx="214884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125212" y="2052828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“고객명 하늘”이면 PERSON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2148840" cy="585216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7532" y="2638044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사랑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2926080" y="2587752"/>
            <a:ext cx="2148840" cy="585216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976372" y="2638044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일반명사 가능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074920" y="2587752"/>
            <a:ext cx="2148840" cy="585216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25212" y="2638044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“사랑님 연락처”이면 PERSON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777240" y="3172968"/>
            <a:ext cx="214884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7532" y="3223260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가을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2926080" y="3172968"/>
            <a:ext cx="214884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976372" y="3223260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계절 가능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074920" y="3172968"/>
            <a:ext cx="214884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125212" y="3223260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“가을이가 신청”이면 PERSON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777240" y="3758184"/>
            <a:ext cx="2148840" cy="585216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7532" y="3808476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2926080" y="3758184"/>
            <a:ext cx="2148840" cy="585216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976372" y="3808476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성씨/음절 가능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5074920" y="3758184"/>
            <a:ext cx="2148840" cy="585216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125212" y="3808476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“김 과장”이면 PERSON_REF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7543800" y="14173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543800" y="1417320"/>
            <a:ext cx="73152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708392" y="155448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원칙</a:t>
            </a:r>
            <a:endParaRPr lang="en-US" sz="1420" dirty="0"/>
          </a:p>
        </p:txBody>
      </p:sp>
      <p:sp>
        <p:nvSpPr>
          <p:cNvPr id="38" name="Text 36"/>
          <p:cNvSpPr/>
          <p:nvPr/>
        </p:nvSpPr>
        <p:spPr>
          <a:xfrm>
            <a:off x="7708392" y="1920240"/>
            <a:ext cx="355701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 match 단독으로 마스킹하지 않습니다.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543800" y="260604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7543800" y="260604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708392" y="274320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boost</a:t>
            </a:r>
            <a:endParaRPr lang="en-US" sz="1420" dirty="0"/>
          </a:p>
        </p:txBody>
      </p:sp>
      <p:sp>
        <p:nvSpPr>
          <p:cNvPr id="42" name="Text 40"/>
          <p:cNvSpPr/>
          <p:nvPr/>
        </p:nvSpPr>
        <p:spPr>
          <a:xfrm>
            <a:off x="7708392" y="3108960"/>
            <a:ext cx="355701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고객명·성명·님·씨·연락처가 있으면 score 상승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7543800" y="379476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543800" y="3794760"/>
            <a:ext cx="73152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708392" y="393192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negative context</a:t>
            </a:r>
            <a:endParaRPr lang="en-US" sz="1420" dirty="0"/>
          </a:p>
        </p:txBody>
      </p:sp>
      <p:sp>
        <p:nvSpPr>
          <p:cNvPr id="46" name="Text 44"/>
          <p:cNvSpPr/>
          <p:nvPr/>
        </p:nvSpPr>
        <p:spPr>
          <a:xfrm>
            <a:off x="7708392" y="4297680"/>
            <a:ext cx="355701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날씨·계절·일반 문장 문맥이면 score 하향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640080" y="61996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KDPII 및 한국어 이름 오류 분석: language-specific PII가 universal PII보다 어렵고 중의성이 높음</a:t>
            </a:r>
            <a:endParaRPr lang="en-US" sz="690" dirty="0"/>
          </a:p>
        </p:txBody>
      </p:sp>
      <p:sp>
        <p:nvSpPr>
          <p:cNvPr id="48" name="Shape 4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난점 ④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주소는 “상세도”가 올라갈수록 위험도가 달라집니다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단독은 낮은 위험이지만, 동·도로명·번지·동호수가 결합되면 직접 식별자로 바뀝니다.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325880" cy="1325880"/>
          </a:xfrm>
          <a:prstGeom prst="ellipse">
            <a:avLst/>
          </a:prstGeom>
          <a:solidFill>
            <a:srgbClr val="64748B">
              <a:alpha val="75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051560" y="28895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P3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176272" y="2578608"/>
            <a:ext cx="8138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017520" y="1920240"/>
            <a:ext cx="1325880" cy="1325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154680" y="23317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강남구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3246120" y="28895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P2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370832" y="2578608"/>
            <a:ext cx="8138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212080" y="1920240"/>
            <a:ext cx="1325880" cy="13258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49240" y="23317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역삼동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440680" y="28895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P2/P1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565392" y="2578608"/>
            <a:ext cx="8138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406640" y="1920240"/>
            <a:ext cx="1325880" cy="1325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543800" y="23317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테헤란로 123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635240" y="28895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P1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759952" y="2578608"/>
            <a:ext cx="8138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601200" y="1920240"/>
            <a:ext cx="1325880" cy="1325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738360" y="23317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101동 1203호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829800" y="28895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P1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14400" y="416052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14400" y="416052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78992" y="429768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탐지기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78992" y="4663440"/>
            <a:ext cx="282549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행정구역 사전 + 도로명/동호수 패턴 + NER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43400" y="416052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343400" y="416052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07992" y="429768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문맥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07992" y="4663440"/>
            <a:ext cx="282549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배송지·거주지·주소 label이 있으면 위험도 상승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0" y="416052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772400" y="416052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936992" y="429768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마스킹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936992" y="4663440"/>
            <a:ext cx="282549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상세주소는 [ADDRESS_1]로 일관 치환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난점 ⑤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턴에는 안전해도 여러 턴이 합쳐지면 개인정보가 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문장 PII detector는 조각난 정보의 누적 결합 위험을 놓칠 수 있습니다.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011680" y="132588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176272" y="1463040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 고객 이름만 알려줘”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176272" y="1828800"/>
            <a:ext cx="447141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 intent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371600" y="1901952"/>
            <a:ext cx="0" cy="374904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2432304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2313432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011680" y="2313432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176272" y="2450592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“전화 뒷자리만?”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176272" y="2816352"/>
            <a:ext cx="447141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PHONE fragment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1371600" y="2889504"/>
            <a:ext cx="0" cy="374904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3419856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35295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3300984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011680" y="3300984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176272" y="3438144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“사는 동네는?”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2176272" y="3803904"/>
            <a:ext cx="447141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LOCATION fragment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371600" y="3877056"/>
            <a:ext cx="0" cy="374904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440740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14400" y="45171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4288536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011680" y="4288536"/>
            <a:ext cx="7315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176272" y="4425696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“그럼 누군지 알겠네”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2176272" y="4791456"/>
            <a:ext cx="447141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escalation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543800" y="160020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772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Entity Graph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09560" y="25603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946136" y="278892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9464040" y="256032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500616" y="278892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8732520" y="342900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769096" y="365760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9646920" y="3840480"/>
            <a:ext cx="658368" cy="6583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683496" y="406908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위험도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229600" y="2880360"/>
            <a:ext cx="1234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784080" y="3154680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40080" y="61996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NeuroFilter/SPIA/PII-Bench 계열: multi-turn·subject-level leakage는 span masking만으로 부족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리서치 근거 지도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결정은 여러 근거의 수렴으로 정당화됩니다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논문 하나의 직접 증명보다는, 구성요소별 증거가 같은 방향을 가리키는 구조입니다.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4475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444752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58191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Presidio / Guardrails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41832" y="194767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pattern · context · checksum · NER 결합형 구조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44475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80560" y="1444752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45152" y="158191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Thunder-DeID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5152" y="194767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법률 비식별화, MeCab-ko+BPE, 조사 분리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44475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83880" y="1444752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48472" y="158191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K-LegalDeID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48472" y="194767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KLUEBERT-CRF, 한국어 법률 문서 고성능 비식별화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33472" y="368503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633472" y="3685032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98064" y="382219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KDPII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798064" y="418795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33개 한국어 특화 PII 범주, language-specific 난도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36792" y="368503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36792" y="3685032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01384" y="382219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NeuroFilter / SPIA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01384" y="418795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멀티턴·문맥·subject-level privacy risk 근거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88720" y="550468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결론: 영어권 프레임워크의 오케스트레이션은 재사용하고, 한국어 경계·문맥·세션 위험은 별도 설계한다.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0"/>
            <a:ext cx="128016" cy="685800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029968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원칙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PII 문제를 해결하기 위한 세 가지 핵심 원칙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224528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561320" y="61447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원칙 ①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detector가 아니라 entity별 routing이 필요합니다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형식형·의미형·조합형 PII는 최적 탐지기가 다릅니다.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063240" cy="13716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87552" y="2121408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형식형 PII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48716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주민번호·전화·이메일·카드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87552" y="2779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 + validator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063240" cy="1371600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36592" y="2121408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의미형 PII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6592" y="248716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이름·주소·조직·학교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736592" y="2779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+ dictionary + boundary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063240" cy="1371600"/>
          </a:xfrm>
          <a:prstGeom prst="chevron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485632" y="2121408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조합형 PII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85632" y="248716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생년+지역+학교+성별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485632" y="2779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+ session graph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" y="4160520"/>
            <a:ext cx="10012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51560" y="4160520"/>
            <a:ext cx="73152" cy="10515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16152" y="4297680"/>
            <a:ext cx="9683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결론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16152" y="4663440"/>
            <a:ext cx="96834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NER는 전체를 책임지는 모델이 아니라 “비정형 후보 생성기”입니다. 최종 판정은 validation, context score, resolver, masking policy가 함께 결정합니다.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원칙 ②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탐지와 마스킹을 분리해야 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후보가 곧 최종 마스킹 대상은 아닙니다. 보정과 정책 판단을 반드시 거칩니다.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58952" y="20116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Candidate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37744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regex/dict/NER 후보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2487168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26080" y="18745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926080" y="1874520"/>
            <a:ext cx="73152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090672" y="20116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Correct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90672" y="237744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조사·호칭·어미 보정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28032" y="2487168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257800" y="18745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257800" y="187452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22392" y="20116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Resolve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22392" y="237744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중복·겹침·충돌 해결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59752" y="2487168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589520" y="18745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589520" y="187452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54112" y="20116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54112" y="237744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policy 판정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91472" y="2487168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921240" y="18745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921240" y="187452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085832" y="20116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85832" y="237744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일관 placeholder 치환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4206240"/>
            <a:ext cx="10332720" cy="1024128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80160" y="456285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NER가 “홍길동이”를 잡아도 최종 출력은 “[PERSON_1]이”가 되어야 합니다.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원칙 ③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위험도별로 recall과 precision의 우선순위가 달라집니다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고유식별정보는 누락을 최소화하고, 중의성 높은 이름/장소는 문맥으로 오탐을 제어합니다.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663190" cy="5943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7532" y="146761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40430" y="1417320"/>
            <a:ext cx="2663190" cy="5943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90722" y="146761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03620" y="1417320"/>
            <a:ext cx="2663190" cy="5943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153912" y="146761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action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66810" y="1417320"/>
            <a:ext cx="2663190" cy="5943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817102" y="146761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최적화 방향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011680"/>
            <a:ext cx="2663190" cy="5943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7532" y="206197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40430" y="2011680"/>
            <a:ext cx="2663190" cy="5943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90722" y="206197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주민번호·카드·API key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03620" y="2011680"/>
            <a:ext cx="2663190" cy="5943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53912" y="206197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mask/block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66810" y="2011680"/>
            <a:ext cx="2663190" cy="5943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817102" y="206197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recall 최우선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2606040"/>
            <a:ext cx="2663190" cy="5943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7532" y="265633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40430" y="2606040"/>
            <a:ext cx="2663190" cy="5943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90722" y="265633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실명+전화·상세주소·계좌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03620" y="2606040"/>
            <a:ext cx="2663190" cy="5943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153912" y="265633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66810" y="2606040"/>
            <a:ext cx="2663190" cy="5943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817102" y="265633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recall 우선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3200400"/>
            <a:ext cx="2663190" cy="5943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7532" y="325069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40430" y="3200400"/>
            <a:ext cx="2663190" cy="5943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490722" y="325069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학교·직장·생년·거주지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03620" y="3200400"/>
            <a:ext cx="2663190" cy="5943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153912" y="325069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판단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66810" y="3200400"/>
            <a:ext cx="2663190" cy="5943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817102" y="325069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조합 위험 판단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7240" y="3794760"/>
            <a:ext cx="2663190" cy="5943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27532" y="384505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40430" y="3794760"/>
            <a:ext cx="2663190" cy="5943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490722" y="384505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나이·성별 단독 등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03620" y="3794760"/>
            <a:ext cx="2663190" cy="5943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53912" y="384505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pass/review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66810" y="3794760"/>
            <a:ext cx="2663190" cy="5943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817102" y="3845052"/>
            <a:ext cx="25626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precision 우선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97280" y="4736592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097280" y="4736592"/>
            <a:ext cx="73152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261872" y="4873752"/>
            <a:ext cx="9683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261872" y="5239512"/>
            <a:ext cx="96834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“모든 것을 많이 마스킹”하면 안전해 보이지만 제품 사용성이 떨어집니다. 위험도별 정책과 평가 지표를 분리해야 합니다.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0"/>
            <a:ext cx="128016" cy="685800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029968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 아키텍처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정규식·사전·NER·문맥·세션 감시가 결합된 한국어 특화 파이프라인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224528"/>
            <a:ext cx="27432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561320" y="61447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구조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아키텍처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생성은 병렬로, 경계 보정 이후 최종 판정과 마스킹을 수행합니다.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73152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265176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3017520"/>
            <a:ext cx="122529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 / RAG / output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057400" y="2852928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651760" y="25146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651760" y="251460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816352" y="26517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16352" y="3017520"/>
            <a:ext cx="131673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 + offset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297680" y="2852928"/>
            <a:ext cx="4114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800600" y="141732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800600" y="1417320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65192" y="155448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965192" y="1920240"/>
            <a:ext cx="1362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형식형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6492240" y="1682496"/>
            <a:ext cx="411480" cy="1170432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00600" y="2130552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800600" y="2130552"/>
            <a:ext cx="73152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965192" y="2267712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Dictionary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965192" y="2633472"/>
            <a:ext cx="1362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사전/문맥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492240" y="2395728"/>
            <a:ext cx="411480" cy="45720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800600" y="284378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800600" y="2843784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965192" y="298094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965192" y="3346704"/>
            <a:ext cx="1362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비정형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492240" y="3108960"/>
            <a:ext cx="411480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800600" y="3557016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800600" y="3557016"/>
            <a:ext cx="73152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965192" y="369417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Morph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965192" y="4059936"/>
            <a:ext cx="1362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형태소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6492240" y="3822192"/>
            <a:ext cx="411480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995160" y="251460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995160" y="2514600"/>
            <a:ext cx="73152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159752" y="265176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Boundary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159752" y="3017520"/>
            <a:ext cx="136245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조사/호칭 보정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686800" y="2852928"/>
            <a:ext cx="38404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144000" y="187452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9144000" y="1874520"/>
            <a:ext cx="73152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308592" y="201168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Resolver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9308592" y="2377440"/>
            <a:ext cx="122529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span 병합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9144000" y="278892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144000" y="2788920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9308592" y="292608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9308592" y="3291840"/>
            <a:ext cx="122529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scoring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10698480" y="2852928"/>
            <a:ext cx="4114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1155680" y="25146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155680" y="2514600"/>
            <a:ext cx="73152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1320272" y="265176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320272" y="3017520"/>
            <a:ext cx="63093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8823960" y="4160520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979408" y="434340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EA58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Graph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10040112" y="4160520"/>
            <a:ext cx="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777240" y="5074920"/>
            <a:ext cx="10652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77240" y="5074920"/>
            <a:ext cx="73152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941832" y="5212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원칙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941832" y="5577840"/>
            <a:ext cx="1032357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PII는 로그에 남기지 않고, span hash·detector id·score·reason code만 남깁니다.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위치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가드레일은 입력·검색·출력 세 지점에 붙습니다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LLM에 들어가기 전, RAG context에 들어가기 전, 사용자에게 나가기 전에 각각 스캔합니다.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68680" y="1481328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" y="161848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Scan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33272" y="1984248"/>
            <a:ext cx="1956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입력 → PII 마스킹 → LLM 전달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6400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977640" y="1481328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977640" y="1481328"/>
            <a:ext cx="73152" cy="86868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42232" y="161848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Guardrail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42232" y="1984248"/>
            <a:ext cx="15910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탐지·보정·정책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6400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720840" y="1481328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85432" y="161848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 처리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85432" y="1984248"/>
            <a:ext cx="40142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PII가 prompt에 그대로 들어가지 않음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68680" y="2898648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68680" y="2898648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33272" y="30358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Retrieval Scan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33272" y="3401568"/>
            <a:ext cx="1956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문서/RAG context → PII 제거 → prompt 구성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246120" y="3337560"/>
            <a:ext cx="6400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977640" y="2898648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977640" y="2898648"/>
            <a:ext cx="73152" cy="86868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142232" y="30358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Guardrail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42232" y="3401568"/>
            <a:ext cx="15910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탐지·보정·정책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989320" y="3337560"/>
            <a:ext cx="6400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720840" y="2898648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720840" y="2898648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85432" y="303580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 처리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85432" y="3401568"/>
            <a:ext cx="40142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PII가 RAG로 누출되지 않음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68680" y="4315968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68680" y="4315968"/>
            <a:ext cx="73152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33272" y="445312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 Scan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33272" y="4818888"/>
            <a:ext cx="1956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출력 → PII 재생성/누출 검사 → 안전 출력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3246120" y="4754880"/>
            <a:ext cx="6400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977640" y="4315968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977640" y="4315968"/>
            <a:ext cx="73152" cy="86868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142232" y="445312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Guardrail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142232" y="4818888"/>
            <a:ext cx="15910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탐지·보정·정책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989320" y="4754880"/>
            <a:ext cx="6400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720840" y="4315968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720840" y="4315968"/>
            <a:ext cx="73152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885432" y="445312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 처리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885432" y="4818888"/>
            <a:ext cx="40142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단계에서 재구성 PII 차단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640080" y="61996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NeMo Guardrails/GLiNER flow와 Presidio orchestration 관점을 한국어 pipeline에 맞게 적용</a:t>
            </a:r>
            <a:endParaRPr lang="en-US" sz="690" dirty="0"/>
          </a:p>
        </p:txBody>
      </p:sp>
      <p:sp>
        <p:nvSpPr>
          <p:cNvPr id="48" name="Shape 4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Taxonomy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taxonomy는 detector routing과 action policy를 결정합니다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법적 분류와 운영 분류를 분리하되, 구현에서는 entity별 위험도와 탐지기를 매핑합니다.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663190" cy="54102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7532" y="146761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범주</a:t>
            </a:r>
            <a:endParaRPr lang="en-US" sz="990" dirty="0"/>
          </a:p>
        </p:txBody>
      </p:sp>
      <p:sp>
        <p:nvSpPr>
          <p:cNvPr id="7" name="Shape 5"/>
          <p:cNvSpPr/>
          <p:nvPr/>
        </p:nvSpPr>
        <p:spPr>
          <a:xfrm>
            <a:off x="3440430" y="1417320"/>
            <a:ext cx="2663190" cy="54102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90722" y="146761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entity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103620" y="1417320"/>
            <a:ext cx="2663190" cy="54102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153912" y="146761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detector</a:t>
            </a:r>
            <a:endParaRPr lang="en-US" sz="990" dirty="0"/>
          </a:p>
        </p:txBody>
      </p:sp>
      <p:sp>
        <p:nvSpPr>
          <p:cNvPr id="11" name="Shape 9"/>
          <p:cNvSpPr/>
          <p:nvPr/>
        </p:nvSpPr>
        <p:spPr>
          <a:xfrm>
            <a:off x="8766810" y="1417320"/>
            <a:ext cx="2663190" cy="54102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817102" y="146761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action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777240" y="195834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7532" y="200863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고유식별</a:t>
            </a:r>
            <a:endParaRPr lang="en-US" sz="990" dirty="0"/>
          </a:p>
        </p:txBody>
      </p:sp>
      <p:sp>
        <p:nvSpPr>
          <p:cNvPr id="15" name="Shape 13"/>
          <p:cNvSpPr/>
          <p:nvPr/>
        </p:nvSpPr>
        <p:spPr>
          <a:xfrm>
            <a:off x="3440430" y="195834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90722" y="200863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RRN, FRN, 여권, 운전면허</a:t>
            </a:r>
            <a:endParaRPr lang="en-US" sz="990" dirty="0"/>
          </a:p>
        </p:txBody>
      </p:sp>
      <p:sp>
        <p:nvSpPr>
          <p:cNvPr id="17" name="Shape 15"/>
          <p:cNvSpPr/>
          <p:nvPr/>
        </p:nvSpPr>
        <p:spPr>
          <a:xfrm>
            <a:off x="6103620" y="195834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53912" y="200863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 + validator</a:t>
            </a:r>
            <a:endParaRPr lang="en-US" sz="990" dirty="0"/>
          </a:p>
        </p:txBody>
      </p:sp>
      <p:sp>
        <p:nvSpPr>
          <p:cNvPr id="19" name="Shape 17"/>
          <p:cNvSpPr/>
          <p:nvPr/>
        </p:nvSpPr>
        <p:spPr>
          <a:xfrm>
            <a:off x="8766810" y="195834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817102" y="200863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mask/block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777240" y="2499360"/>
            <a:ext cx="2663190" cy="54102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7532" y="254965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연락/금융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3440430" y="2499360"/>
            <a:ext cx="2663190" cy="54102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90722" y="254965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전화, 이메일, 계좌, 카드</a:t>
            </a:r>
            <a:endParaRPr lang="en-US" sz="990" dirty="0"/>
          </a:p>
        </p:txBody>
      </p:sp>
      <p:sp>
        <p:nvSpPr>
          <p:cNvPr id="25" name="Shape 23"/>
          <p:cNvSpPr/>
          <p:nvPr/>
        </p:nvSpPr>
        <p:spPr>
          <a:xfrm>
            <a:off x="6103620" y="2499360"/>
            <a:ext cx="2663190" cy="54102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153912" y="254965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 + context</a:t>
            </a:r>
            <a:endParaRPr lang="en-US" sz="990" dirty="0"/>
          </a:p>
        </p:txBody>
      </p:sp>
      <p:sp>
        <p:nvSpPr>
          <p:cNvPr id="27" name="Shape 25"/>
          <p:cNvSpPr/>
          <p:nvPr/>
        </p:nvSpPr>
        <p:spPr>
          <a:xfrm>
            <a:off x="8766810" y="2499360"/>
            <a:ext cx="2663190" cy="54102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817102" y="254965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777240" y="304038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7532" y="309067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개인/위치</a:t>
            </a:r>
            <a:endParaRPr lang="en-US" sz="990" dirty="0"/>
          </a:p>
        </p:txBody>
      </p:sp>
      <p:sp>
        <p:nvSpPr>
          <p:cNvPr id="31" name="Shape 29"/>
          <p:cNvSpPr/>
          <p:nvPr/>
        </p:nvSpPr>
        <p:spPr>
          <a:xfrm>
            <a:off x="3440430" y="304038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490722" y="309067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이름, 주소, 핸들</a:t>
            </a:r>
            <a:endParaRPr lang="en-US" sz="990" dirty="0"/>
          </a:p>
        </p:txBody>
      </p:sp>
      <p:sp>
        <p:nvSpPr>
          <p:cNvPr id="33" name="Shape 31"/>
          <p:cNvSpPr/>
          <p:nvPr/>
        </p:nvSpPr>
        <p:spPr>
          <a:xfrm>
            <a:off x="6103620" y="304038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153912" y="309067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+ dictionary</a:t>
            </a:r>
            <a:endParaRPr lang="en-US" sz="990" dirty="0"/>
          </a:p>
        </p:txBody>
      </p:sp>
      <p:sp>
        <p:nvSpPr>
          <p:cNvPr id="35" name="Shape 33"/>
          <p:cNvSpPr/>
          <p:nvPr/>
        </p:nvSpPr>
        <p:spPr>
          <a:xfrm>
            <a:off x="8766810" y="304038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817102" y="309067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mask/context</a:t>
            </a:r>
            <a:endParaRPr lang="en-US" sz="990" dirty="0"/>
          </a:p>
        </p:txBody>
      </p:sp>
      <p:sp>
        <p:nvSpPr>
          <p:cNvPr id="37" name="Shape 35"/>
          <p:cNvSpPr/>
          <p:nvPr/>
        </p:nvSpPr>
        <p:spPr>
          <a:xfrm>
            <a:off x="777240" y="3581400"/>
            <a:ext cx="2663190" cy="54102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27532" y="363169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소속/관계</a:t>
            </a:r>
            <a:endParaRPr lang="en-US" sz="990" dirty="0"/>
          </a:p>
        </p:txBody>
      </p:sp>
      <p:sp>
        <p:nvSpPr>
          <p:cNvPr id="39" name="Shape 37"/>
          <p:cNvSpPr/>
          <p:nvPr/>
        </p:nvSpPr>
        <p:spPr>
          <a:xfrm>
            <a:off x="3440430" y="3581400"/>
            <a:ext cx="2663190" cy="54102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490722" y="363169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학교, 직장, 직책, 가족관계</a:t>
            </a:r>
            <a:endParaRPr lang="en-US" sz="990" dirty="0"/>
          </a:p>
        </p:txBody>
      </p:sp>
      <p:sp>
        <p:nvSpPr>
          <p:cNvPr id="41" name="Shape 39"/>
          <p:cNvSpPr/>
          <p:nvPr/>
        </p:nvSpPr>
        <p:spPr>
          <a:xfrm>
            <a:off x="6103620" y="3581400"/>
            <a:ext cx="2663190" cy="54102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53912" y="363169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+ context</a:t>
            </a:r>
            <a:endParaRPr lang="en-US" sz="990" dirty="0"/>
          </a:p>
        </p:txBody>
      </p:sp>
      <p:sp>
        <p:nvSpPr>
          <p:cNvPr id="43" name="Shape 41"/>
          <p:cNvSpPr/>
          <p:nvPr/>
        </p:nvSpPr>
        <p:spPr>
          <a:xfrm>
            <a:off x="8766810" y="3581400"/>
            <a:ext cx="2663190" cy="54102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817102" y="363169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combination risk</a:t>
            </a:r>
            <a:endParaRPr lang="en-US" sz="990" dirty="0"/>
          </a:p>
        </p:txBody>
      </p:sp>
      <p:sp>
        <p:nvSpPr>
          <p:cNvPr id="45" name="Shape 43"/>
          <p:cNvSpPr/>
          <p:nvPr/>
        </p:nvSpPr>
        <p:spPr>
          <a:xfrm>
            <a:off x="777240" y="412242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27532" y="417271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보안비밀</a:t>
            </a:r>
            <a:endParaRPr lang="en-US" sz="990" dirty="0"/>
          </a:p>
        </p:txBody>
      </p:sp>
      <p:sp>
        <p:nvSpPr>
          <p:cNvPr id="47" name="Shape 45"/>
          <p:cNvSpPr/>
          <p:nvPr/>
        </p:nvSpPr>
        <p:spPr>
          <a:xfrm>
            <a:off x="3440430" y="412242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490722" y="417271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key, token, secret</a:t>
            </a:r>
            <a:endParaRPr lang="en-US" sz="990" dirty="0"/>
          </a:p>
        </p:txBody>
      </p:sp>
      <p:sp>
        <p:nvSpPr>
          <p:cNvPr id="49" name="Shape 47"/>
          <p:cNvSpPr/>
          <p:nvPr/>
        </p:nvSpPr>
        <p:spPr>
          <a:xfrm>
            <a:off x="6103620" y="412242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153912" y="417271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 + entropy</a:t>
            </a:r>
            <a:endParaRPr lang="en-US" sz="990" dirty="0"/>
          </a:p>
        </p:txBody>
      </p:sp>
      <p:sp>
        <p:nvSpPr>
          <p:cNvPr id="51" name="Shape 49"/>
          <p:cNvSpPr/>
          <p:nvPr/>
        </p:nvSpPr>
        <p:spPr>
          <a:xfrm>
            <a:off x="8766810" y="4122420"/>
            <a:ext cx="2663190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8817102" y="4172712"/>
            <a:ext cx="256260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</a:t>
            </a:r>
            <a:endParaRPr lang="en-US" sz="990" dirty="0"/>
          </a:p>
        </p:txBody>
      </p:sp>
      <p:sp>
        <p:nvSpPr>
          <p:cNvPr id="53" name="Shape 51"/>
          <p:cNvSpPr/>
          <p:nvPr/>
        </p:nvSpPr>
        <p:spPr>
          <a:xfrm>
            <a:off x="1097280" y="5166360"/>
            <a:ext cx="9966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97280" y="516636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261872" y="5303520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 판단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1261872" y="5669280"/>
            <a:ext cx="9637776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정규식으로 충분한 entity와 NER/context가 필요한 entity를 분리해야 비용과 정확도를 동시에 관리할 수 있습니다.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Routing Matrix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형식형은 규칙, 의미형은 NER, 결합형은 context가 담당합니다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표가 “여러 겹이 필요한 이유”를 가장 명확하게 보여줍니다.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828800" cy="51435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90372" y="14036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468880" y="1353312"/>
            <a:ext cx="1828800" cy="51435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519172" y="14036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297680" y="1353312"/>
            <a:ext cx="1828800" cy="51435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47972" y="14036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Dict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126480" y="1353312"/>
            <a:ext cx="1828800" cy="51435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76772" y="14036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955280" y="1353312"/>
            <a:ext cx="1828800" cy="51435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05572" y="14036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784080" y="1353312"/>
            <a:ext cx="1828800" cy="51435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834372" y="14036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Boundary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40080" y="18676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90372" y="19179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RRN / FRN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468880" y="18676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519172" y="19179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297680" y="18676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47972" y="19179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불필요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126480" y="18676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76772" y="19179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불필요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955280" y="18676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005572" y="19179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낮음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784080" y="18676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834372" y="19179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suffix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40080" y="23820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90372" y="24323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 / 이메일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468880" y="23820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519172" y="24323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297680" y="23820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47972" y="24323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낮음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126480" y="23820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76772" y="24323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불필요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955280" y="23820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005572" y="24323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9784080" y="23820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834372" y="24323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40080" y="28963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90372" y="29466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계좌번호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2468880" y="28963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519172" y="29466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297680" y="28963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347972" y="29466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은행명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126480" y="28963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176772" y="29466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낮음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7955280" y="28963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8005572" y="29466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9784080" y="28963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9834372" y="29466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640080" y="34107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90372" y="34610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이름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2468880" y="34107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2519172" y="34610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낮음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4297680" y="34107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347972" y="34610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6126480" y="34107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6176772" y="34610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7955280" y="34107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8005572" y="34610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9784080" y="34107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9834372" y="34610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640080" y="39250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690372" y="39753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2468880" y="39250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2519172" y="39753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4297680" y="39250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4347972" y="39753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6126480" y="39250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6176772" y="39753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73" name="Shape 71"/>
          <p:cNvSpPr/>
          <p:nvPr/>
        </p:nvSpPr>
        <p:spPr>
          <a:xfrm>
            <a:off x="7955280" y="39250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8005572" y="39753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75" name="Shape 73"/>
          <p:cNvSpPr/>
          <p:nvPr/>
        </p:nvSpPr>
        <p:spPr>
          <a:xfrm>
            <a:off x="9784080" y="39250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9834372" y="39753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77" name="Shape 75"/>
          <p:cNvSpPr/>
          <p:nvPr/>
        </p:nvSpPr>
        <p:spPr>
          <a:xfrm>
            <a:off x="640080" y="44394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690372" y="44897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학교/직장/직책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2468880" y="44394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2519172" y="44897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낮음</a:t>
            </a:r>
            <a:endParaRPr lang="en-US" sz="920" dirty="0"/>
          </a:p>
        </p:txBody>
      </p:sp>
      <p:sp>
        <p:nvSpPr>
          <p:cNvPr id="81" name="Shape 79"/>
          <p:cNvSpPr/>
          <p:nvPr/>
        </p:nvSpPr>
        <p:spPr>
          <a:xfrm>
            <a:off x="4297680" y="44394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4347972" y="44897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83" name="Shape 81"/>
          <p:cNvSpPr/>
          <p:nvPr/>
        </p:nvSpPr>
        <p:spPr>
          <a:xfrm>
            <a:off x="6126480" y="44394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6176772" y="44897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85" name="Shape 83"/>
          <p:cNvSpPr/>
          <p:nvPr/>
        </p:nvSpPr>
        <p:spPr>
          <a:xfrm>
            <a:off x="7955280" y="44394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8005572" y="44897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87" name="Shape 85"/>
          <p:cNvSpPr/>
          <p:nvPr/>
        </p:nvSpPr>
        <p:spPr>
          <a:xfrm>
            <a:off x="9784080" y="4439412"/>
            <a:ext cx="1828800" cy="51435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834372" y="448970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89" name="Shape 87"/>
          <p:cNvSpPr/>
          <p:nvPr/>
        </p:nvSpPr>
        <p:spPr>
          <a:xfrm>
            <a:off x="640080" y="49537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690372" y="50040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준식별자 조합</a:t>
            </a:r>
            <a:endParaRPr lang="en-US" sz="920" dirty="0"/>
          </a:p>
        </p:txBody>
      </p:sp>
      <p:sp>
        <p:nvSpPr>
          <p:cNvPr id="91" name="Shape 89"/>
          <p:cNvSpPr/>
          <p:nvPr/>
        </p:nvSpPr>
        <p:spPr>
          <a:xfrm>
            <a:off x="2468880" y="49537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2519172" y="50040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낮음</a:t>
            </a:r>
            <a:endParaRPr lang="en-US" sz="920" dirty="0"/>
          </a:p>
        </p:txBody>
      </p:sp>
      <p:sp>
        <p:nvSpPr>
          <p:cNvPr id="93" name="Shape 91"/>
          <p:cNvSpPr/>
          <p:nvPr/>
        </p:nvSpPr>
        <p:spPr>
          <a:xfrm>
            <a:off x="4297680" y="49537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4347972" y="50040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95" name="Shape 93"/>
          <p:cNvSpPr/>
          <p:nvPr/>
        </p:nvSpPr>
        <p:spPr>
          <a:xfrm>
            <a:off x="6126480" y="49537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/>
          <p:nvPr/>
        </p:nvSpPr>
        <p:spPr>
          <a:xfrm>
            <a:off x="6176772" y="50040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97" name="Shape 95"/>
          <p:cNvSpPr/>
          <p:nvPr/>
        </p:nvSpPr>
        <p:spPr>
          <a:xfrm>
            <a:off x="7955280" y="49537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/>
          <p:nvPr/>
        </p:nvSpPr>
        <p:spPr>
          <a:xfrm>
            <a:off x="8005572" y="50040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</a:t>
            </a:r>
            <a:endParaRPr lang="en-US" sz="920" dirty="0"/>
          </a:p>
        </p:txBody>
      </p:sp>
      <p:sp>
        <p:nvSpPr>
          <p:cNvPr id="99" name="Shape 97"/>
          <p:cNvSpPr/>
          <p:nvPr/>
        </p:nvSpPr>
        <p:spPr>
          <a:xfrm>
            <a:off x="9784080" y="4953762"/>
            <a:ext cx="1828800" cy="51435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/>
          <p:nvPr/>
        </p:nvSpPr>
        <p:spPr>
          <a:xfrm>
            <a:off x="9834372" y="5004054"/>
            <a:ext cx="1728216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920" dirty="0"/>
          </a:p>
        </p:txBody>
      </p:sp>
      <p:sp>
        <p:nvSpPr>
          <p:cNvPr id="101" name="Shape 9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0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전처리: 원문 offset을 보존하면서 여러 탐지 variant를 만듭니다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PII에서 offset이 깨지면 최종 마스킹이 깨지므로, 전처리가 전체 시스템의 기반입니다.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22960" y="144475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77824" y="15133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17320" y="1371600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17320" y="1371600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581912" y="1508760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Unicode 정규화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581912" y="1874520"/>
            <a:ext cx="9637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전각 숫자, dash, invisible char 정리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822960" y="2157984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77824" y="22265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17320" y="2084832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417320" y="2084832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81912" y="2221992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Offset map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581912" y="2587752"/>
            <a:ext cx="9637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↔ normalized 위치 복원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22960" y="2871216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7824" y="29397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17320" y="2798064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417320" y="2798064"/>
            <a:ext cx="73152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581912" y="2935224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Digit variant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581912" y="3300984"/>
            <a:ext cx="9637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 1234 5678 / 010-1234-5678 / 01012345678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822960" y="358444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77824" y="36530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17320" y="3511296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417320" y="3511296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581912" y="3648456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숫자 variant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581912" y="4014216"/>
            <a:ext cx="9637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공일공 일이삼사 → 0101234, 연락처 문맥에서만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822960" y="429768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77824" y="43662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17320" y="4224528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417320" y="4224528"/>
            <a:ext cx="73152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581912" y="4361688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문장/어절/형태소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581912" y="4727448"/>
            <a:ext cx="9637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window와 boundary correction에 사용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1097280" y="530352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97280" y="5303520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261872" y="5440680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금지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61872" y="5806440"/>
            <a:ext cx="9637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정규화된 텍스트 기준 offset만 반환하면 안 됩니다. 모든 최종 span은 raw text 기준 start/end를 가져야 합니다.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1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정규식 + 검증기는 구조형 PII를 가장 안정적으로 잡습니다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주민번호, 전화번호, 이메일, 카드번호는 NER보다 deterministic detector가 우선입니다.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353312"/>
            <a:ext cx="3550920" cy="509451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7532" y="1403604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4328160" y="1353312"/>
            <a:ext cx="3550920" cy="509451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8452" y="1403604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방식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7879080" y="1353312"/>
            <a:ext cx="3550920" cy="509451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29372" y="1403604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검증/보정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777240" y="1862763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7532" y="1913055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RRN / FRN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328160" y="1862763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8452" y="1913055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생년월일+성별 digit 패턴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879080" y="1862763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929372" y="1913055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날짜·길이·suffix trim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77240" y="2372215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7532" y="2422507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PHONE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328160" y="2372215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78452" y="2422507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010/+82/지역번호 pattern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879080" y="2372215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929372" y="2422507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길이·국번·한글 숫자 variant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77240" y="2881666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7532" y="2931958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EMAIL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328160" y="2881666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78452" y="2931958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RFC-like pattern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7879080" y="2881666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929372" y="2931958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 구조·종결어미 trim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777240" y="3391118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7532" y="3441410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CREDIT_CARD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4328160" y="3391118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78452" y="3441410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16자리 pattern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7879080" y="3391118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929372" y="3441410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Luhn checksum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777240" y="3900569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27532" y="3950861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BUSINESS_NO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4328160" y="3900569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78452" y="3950861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000-00-00000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7879080" y="3900569"/>
            <a:ext cx="3550920" cy="509451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929372" y="3950861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checksum/context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777240" y="4410021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27532" y="4460313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API_KEY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4328160" y="4410021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378452" y="4460313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prefix/entropy/length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7879080" y="4410021"/>
            <a:ext cx="3550920" cy="509451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929372" y="4460313"/>
            <a:ext cx="3450336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 policy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1097280" y="5285232"/>
            <a:ext cx="9921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097280" y="5285232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261872" y="5422392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61872" y="5788152"/>
            <a:ext cx="95920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계좌번호처럼 숫자열만으로 오탐이 큰 entity는 regex score를 낮게 시작하고 은행명/계좌 문맥으로 boost합니다.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2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사전은 “최종 판정자”가 아니라 “문맥 증거”입니다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이름·주소·조직·직함은 사전이 유용하지만, 단독 매칭은 오탐을 키웁니다.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31520" y="138988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89888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96112" y="152704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이름/성씨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96112" y="189280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김·이·박·지민·유진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이름 후보 생성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38988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80560" y="1389888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45152" y="152704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호칭/직함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45152" y="189280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님·씨·교수·과장·변호사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이름 score boost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138988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229600" y="1389888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94192" y="152704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394192" y="189280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시/구/동/로/길/아파트/동호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주소 후보/상세도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962656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31520" y="2962656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6112" y="3099816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96112" y="3465576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국민·신한·우리·계좌·입금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계좌번호 context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2962656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480560" y="2962656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45152" y="3099816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645152" y="3465576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환자·피고인·고객명·배송지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문서 유형별 boost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0" y="512064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828800" y="5120640"/>
            <a:ext cx="73152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993392" y="5257800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정책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993392" y="5623560"/>
            <a:ext cx="817473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사전은 versioning이 필요합니다. allow-list, deny-list, 도메인 overlay, 고객사별 예외를 분리합니다.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3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Boundary Corrector는 한국어 특화 핵심 레이어입니다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span에서 PII 본체와 조사/호칭/어미를 분리해 자연스러운 마스킹을 만듭니다.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2663190" cy="5257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7532" y="142189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 후보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40430" y="1371600"/>
            <a:ext cx="2663190" cy="5257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90722" y="142189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보정된 PII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03620" y="1371600"/>
            <a:ext cx="2663190" cy="5257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153912" y="142189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suffix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66810" y="1371600"/>
            <a:ext cx="2663190" cy="5257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817102" y="142189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189738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7532" y="194767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40430" y="189738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90722" y="194767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3620" y="189738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53912" y="194767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66810" y="189738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817102" y="194767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[PERSON_1]이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2423160"/>
            <a:ext cx="266319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7532" y="247345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김민수에게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40430" y="2423160"/>
            <a:ext cx="266319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90722" y="247345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김민수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03620" y="2423160"/>
            <a:ext cx="266319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153912" y="247345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766810" y="2423160"/>
            <a:ext cx="266319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817102" y="247345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[PERSON_1]에게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294894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7532" y="299923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010-1234-5678로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40430" y="294894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490722" y="299923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010-1234-5678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03620" y="294894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153912" y="299923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766810" y="294894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817102" y="299923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[PHONE_1]로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" y="3474720"/>
            <a:ext cx="266319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27532" y="352501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강남구에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40430" y="3474720"/>
            <a:ext cx="266319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490722" y="352501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강남구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03620" y="3474720"/>
            <a:ext cx="266319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53912" y="352501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766810" y="3474720"/>
            <a:ext cx="266319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817102" y="352501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[ADDRESS_1]에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400050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27532" y="405079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홍길동님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40430" y="400050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490722" y="405079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03620" y="400050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153912" y="405079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님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766810" y="4000500"/>
            <a:ext cx="266319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8817102" y="4050792"/>
            <a:ext cx="256260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[PERSON_1]님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68680" y="4956048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868680" y="4956048"/>
            <a:ext cx="7315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033272" y="50932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대상</a:t>
            </a:r>
            <a:endParaRPr lang="en-US" sz="1220" dirty="0"/>
          </a:p>
        </p:txBody>
      </p:sp>
      <p:sp>
        <p:nvSpPr>
          <p:cNvPr id="56" name="Text 54"/>
          <p:cNvSpPr/>
          <p:nvPr/>
        </p:nvSpPr>
        <p:spPr>
          <a:xfrm>
            <a:off x="1033272" y="5458968"/>
            <a:ext cx="305409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이름·주소·직함·핸들·조직명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434840" y="4956048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434840" y="4956048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599432" y="50932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비적용/단순 trim</a:t>
            </a:r>
            <a:endParaRPr lang="en-US" sz="1220" dirty="0"/>
          </a:p>
        </p:txBody>
      </p:sp>
      <p:sp>
        <p:nvSpPr>
          <p:cNvPr id="60" name="Text 58"/>
          <p:cNvSpPr/>
          <p:nvPr/>
        </p:nvSpPr>
        <p:spPr>
          <a:xfrm>
            <a:off x="4599432" y="5458968"/>
            <a:ext cx="305409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전화·이메일·주민번호 등 구조형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001000" y="4956048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001000" y="4956048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8165592" y="50932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 경계</a:t>
            </a:r>
            <a:endParaRPr lang="en-US" sz="1220" dirty="0"/>
          </a:p>
        </p:txBody>
      </p:sp>
      <p:sp>
        <p:nvSpPr>
          <p:cNvPr id="64" name="Text 62"/>
          <p:cNvSpPr/>
          <p:nvPr/>
        </p:nvSpPr>
        <p:spPr>
          <a:xfrm>
            <a:off x="8165592" y="5458968"/>
            <a:ext cx="305409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boundary는 pipeline 담당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4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NER는 비정형 PII 후보를 공급하는 핵심 모델입니다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이름·주소·소속·관계·도메인 식별자는 NER 없이 recall 확보가 어렵습니다.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55448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후보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291693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KLUE-BERT / KoELECTRA / KcBERT / KoBERT / XLM-R / GLiNER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CRF head 또는 span tagging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16552" y="155448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 entity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16552" y="1920240"/>
            <a:ext cx="291693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PERSON_NAME, ADDRESS_FULL, ADDRESS_UNIT, ORGANIZATION, SCHOOL, HOSPITAL, CUSTOMER_ID, MEDICAL_RECORD_NO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26680" y="14173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26680" y="1417320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891272" y="155448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후처리 필수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91272" y="1920240"/>
            <a:ext cx="291693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output은 바로 마스킹하지 않고 boundary correction, context scorer, span resolver를 통과합니다.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1051560" y="4069080"/>
            <a:ext cx="1001268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98448" y="4398264"/>
            <a:ext cx="9464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리서치 근거: K-LegalDeID는 KLUEBERT-CRF 기반 한국어 법률 비식별화에서 높은 entity-level micro F1을 보고했습니다. 다만 도메인 일반화는 별도 평가가 필요합니다.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담당 범위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파인튜닝 담당자는 “비정형 후보 recall”에 집중합니다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전체 시스템을 책임지는 것이 아니라, pipeline에 연결 가능한 NER 후보 생성기를 제공합니다.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46304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41832" y="1828800"/>
            <a:ext cx="4425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annotation guideline, synthetic augmentation, hard negatives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2313432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7240" y="2313432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41832" y="2450592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41832" y="2816352"/>
            <a:ext cx="4425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→ fine-tuning → CRF/adapter 검토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300984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3300984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1832" y="3438144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41832" y="3803904"/>
            <a:ext cx="4425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F1, exact/partial span F1, boundary error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4288536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77240" y="4288536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41832" y="4425696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41832" y="4791456"/>
            <a:ext cx="4425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offset 기준 PIISpan list + confidence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36792" y="155448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NER에서 우선 제외 가능한 entity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36792" y="1920240"/>
            <a:ext cx="433425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EMAIL, PHONE, RRN, FRN, CREDIT_CARD, IP, API_KEY 등은 정규식/validator가 우선입니다.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70332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172200" y="370332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36792" y="384048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원칙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6792" y="4206240"/>
            <a:ext cx="43342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결과는 final answer가 아니라 candidate span입니다. 최종 판단은 resolver/context/policy가 수행합니다.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Scorer는 중의성을 줄이고 준식별자 결합을 판단합니다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candidate span 주변의 label, 호칭, 공기 정보, 부정 문맥을 score에 반영합니다.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8920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5544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field label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45628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성명·고객명·연락처·배송지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+0.15~0.25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8920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73152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28232" y="15544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co-occurrence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45628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이름+전화, 이름+주소, 계좌+은행명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+0.10~0.25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8920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73152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1832" y="306324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negative context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41832" y="3429000"/>
            <a:ext cx="45628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예시·테스트·날씨·공공 대표번호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-0.10~-0.40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263640" y="2926080"/>
            <a:ext cx="48920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2926080"/>
            <a:ext cx="73152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28232" y="306324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context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428232" y="3429000"/>
            <a:ext cx="45628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이전 턴에 나온 이름/지역/번호 조각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상승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286000" y="4892040"/>
            <a:ext cx="3771900" cy="215798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336292" y="4942332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score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57900" y="4892040"/>
            <a:ext cx="3771900" cy="215798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08192" y="4942332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5107838"/>
            <a:ext cx="3771900" cy="215798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336292" y="5158130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≥0.90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57900" y="5107838"/>
            <a:ext cx="3771900" cy="215798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08192" y="5158130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0" y="5323637"/>
            <a:ext cx="3771900" cy="215798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336292" y="5373929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0.75–0.90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57900" y="5323637"/>
            <a:ext cx="3771900" cy="215798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108192" y="5373929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mask/review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0" y="5539435"/>
            <a:ext cx="3771900" cy="215798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336292" y="5589727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0.55–0.75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57900" y="5539435"/>
            <a:ext cx="3771900" cy="215798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08192" y="5589727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judge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0" y="5755234"/>
            <a:ext cx="3771900" cy="215798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336292" y="5805526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&lt;0.55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57900" y="5755234"/>
            <a:ext cx="3771900" cy="215798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108192" y="5805526"/>
            <a:ext cx="367131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 unless composite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6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Span Resolver는 detector 결과의 충돌을 정리합니다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regex, dictionary, NER가 서로 다른 span을 반환해도 최종 마스킹은 일관되어야 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353312"/>
            <a:ext cx="3550920" cy="57150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7532" y="1403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충돌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328160" y="1353312"/>
            <a:ext cx="3550920" cy="57150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8452" y="1403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879080" y="1353312"/>
            <a:ext cx="3550920" cy="57150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29372" y="1403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77240" y="1924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7532" y="1975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328160" y="1924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8452" y="1975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regex와 NER가 같은 전화번호 탐지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879080" y="1924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929372" y="1975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merge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7240" y="2496312"/>
            <a:ext cx="3550920" cy="57150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7532" y="2546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겹침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328160" y="2496312"/>
            <a:ext cx="3550920" cy="57150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78452" y="2546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이메일 username을 이름으로 오탐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879080" y="2496312"/>
            <a:ext cx="3550920" cy="57150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929372" y="2546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EMAIL 우선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77240" y="3067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7532" y="3118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 주소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328160" y="3067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78452" y="3118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강남구/역삼동/테헤란로 분리 탐지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879080" y="3067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929372" y="3118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ADDRESS_FULL merge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77240" y="3639312"/>
            <a:ext cx="3550920" cy="57150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7532" y="3689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이름+전화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328160" y="3639312"/>
            <a:ext cx="3550920" cy="57150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78452" y="3689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하늘 010-...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879080" y="3639312"/>
            <a:ext cx="3550920" cy="57150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929372" y="36896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composite PII 승격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77240" y="4210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27532" y="4261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이름+호칭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4328160" y="4210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78452" y="4261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홍길동님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879080" y="4210812"/>
            <a:ext cx="3550920" cy="57150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929372" y="4261104"/>
            <a:ext cx="345033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본체 mask + suffix 보존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1280160" y="5166360"/>
            <a:ext cx="9509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280160" y="5166360"/>
            <a:ext cx="73152" cy="5486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444752" y="5303520"/>
            <a:ext cx="9180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444752" y="5669280"/>
            <a:ext cx="91805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key &gt; 고유식별 &gt; 금융 &gt; 연락처 &gt; 주소 &gt; 내부ID &gt; 이름 &gt; 소속/준식별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7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마스킹은 목적별로 달라야 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출력, 내부 상담 UI, 분석용 데이터, 감사 로그는 서로 다른 비식별화 정책이 필요합니다.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389888"/>
            <a:ext cx="3550920" cy="5257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7532" y="144018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28160" y="1389888"/>
            <a:ext cx="3550920" cy="5257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8452" y="144018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79080" y="1389888"/>
            <a:ext cx="3550920" cy="5257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29372" y="144018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91566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7532" y="196596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label mask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8160" y="191566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8452" y="196596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[PERSON_1], [PHONE_1]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79080" y="191566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929372" y="196596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입력/외부 출력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2441448"/>
            <a:ext cx="355092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7532" y="249174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partial mask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28160" y="2441448"/>
            <a:ext cx="355092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78452" y="249174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010-****-5678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79080" y="2441448"/>
            <a:ext cx="355092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929372" y="249174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상담 UI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296722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7532" y="301752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pseudonym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28160" y="296722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78452" y="301752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 → 사람A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79080" y="296722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929372" y="301752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분석/리포트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3493008"/>
            <a:ext cx="355092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7532" y="354330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HMAC hash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28160" y="3493008"/>
            <a:ext cx="355092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78452" y="354330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hash(value)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79080" y="3493008"/>
            <a:ext cx="3550920" cy="5257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929372" y="354330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추적/로그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401878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27532" y="406908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28160" y="401878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78452" y="406908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 차단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79080" y="4018788"/>
            <a:ext cx="3550920" cy="5257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929372" y="4069080"/>
            <a:ext cx="345033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key/P0 고위험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280160" y="498348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280160" y="4983480"/>
            <a:ext cx="73152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444752" y="5120640"/>
            <a:ext cx="9180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원칙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444752" y="5486400"/>
            <a:ext cx="91805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PII 본체만 치환하고 조사는 보존합니다: “홍길동이” → “[PERSON_1]이”, “010-1234-5678로” → “[PHONE_1]로”.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8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Monitor는 조각난 PII를 누적 감시합니다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 단위 entity graph는 multi-turn mosaic leakage를 막기 위한 최소 장치입니다.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5544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Fragment Ledger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45628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정규화된 조각 hash 저장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 앞/뒤자리, 주소 일부, 이름 조각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73152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28232" y="15544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Subject Tracker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45628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사람, 고객, 팀장 등 지시 표현 연결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990088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2990088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1832" y="312724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Combination Risk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41832" y="3493008"/>
            <a:ext cx="45628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이름+생년+학교+지역 조합 위험 계산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990088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2990088"/>
            <a:ext cx="73152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28232" y="312724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Intent Signal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428232" y="3493008"/>
            <a:ext cx="45628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“뒷자리만”, “실명 알려줘” 등 추출 의도 탐지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34440" y="5148072"/>
            <a:ext cx="9738360" cy="566928"/>
          </a:xfrm>
          <a:prstGeom prst="roundRect">
            <a:avLst>
              <a:gd name="adj" fmla="val 1290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417320" y="5330952"/>
            <a:ext cx="9372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v0에서는 activation-space NeuroFilter가 아니라 text-level session graph부터 구현합니다.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0"/>
            <a:ext cx="128016" cy="685800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029968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예시로 보는 동작 방식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원문이 들어와 최종 마스킹되기까지의 end-to-end 처리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224528"/>
            <a:ext cx="274320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561320" y="61447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End-to-End 예시 ①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조사가 붙은 이름과 전화번호를 처리하는 과정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PII 본체와 조사를 분리해 문장 자연성을 유지합니다.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5840" y="1627632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원문: “홍길동이 010-1234-5678로 연락했습니다.”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58952" y="2880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58952" y="324612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010-1234-5678 탐지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PHONE score 0.98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3364992"/>
            <a:ext cx="31089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926080" y="2743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926080" y="274320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090672" y="2880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090672" y="324612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홍길동이 또는 홍길동 탐지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 후보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28032" y="3364992"/>
            <a:ext cx="31089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257800" y="2743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257800" y="2743200"/>
            <a:ext cx="73152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22392" y="2880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Boundary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422392" y="324612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 + 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전화번호 + 로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59752" y="3364992"/>
            <a:ext cx="31089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589520" y="2743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589520" y="2743200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54112" y="2880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Resolver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754112" y="324612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 + PHONE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composite high risk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91472" y="3364992"/>
            <a:ext cx="31089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921240" y="2743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921240" y="274320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0085832" y="2880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10085832" y="3246120"/>
            <a:ext cx="1545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[PERSON_1]이 [PHONE_1]로 연락했습니다.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34440" y="5138928"/>
            <a:ext cx="964692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463040" y="5367528"/>
            <a:ext cx="9189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최종: “[PERSON_1]이 [PHONE_1]로 연락했습니다.”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End-to-End 예시 ②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계좌번호와 주소는 “문맥 boost”가 필요합니다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숫자열 단독 마스킹은 오탐이 크므로 은행명·계좌·입금 문맥을 함께 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835640" cy="768096"/>
          </a:xfrm>
          <a:prstGeom prst="roundRect">
            <a:avLst>
              <a:gd name="adj" fmla="val 952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원문: “신한은행 110-123-456789로 입금하고, 서울 강남구 테헤란로 123에 배송해 주세요.”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7432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계좌 후보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87552" y="3108960"/>
            <a:ext cx="309981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패턴만으로는 score 낮음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은행명·입금 context로 score 상승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[BANK_ACCOUNT_1]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26060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80560" y="260604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45152" y="27432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 후보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3108960"/>
            <a:ext cx="309981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행정구역+도로명+번지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배송지 context로 P1 승격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[ADDRESS_1]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73152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02752" y="27432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마스킹 출력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309981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“신한은행 [BANK_ACCOUNT_1]로 입금하고, [ADDRESS_1]에 배송해 주세요.”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5074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숫자·주소 fragment는 단독 detector보다 context scorer와 resolver를 거쳐야 실사용 오탐을 줄일 수 있습니다.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End-to-End 예시 ③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턴의 조각을 session graph가 결합합니다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턴이 단독으로는 낮은 위험이어도, 동일 subject에 누적되면 차단 또는 review가 필요합니다.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4630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987552" y="1828800"/>
            <a:ext cx="149961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 fragment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80360" y="1325880"/>
            <a:ext cx="8183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4952" y="1463040"/>
            <a:ext cx="7854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고객 이름은 민수였지?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3774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22960" y="237744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87552" y="25146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87552" y="2880360"/>
            <a:ext cx="149961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PHONE extraction intent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80360" y="2377440"/>
            <a:ext cx="8183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044952" y="2514600"/>
            <a:ext cx="7854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전화번호 뒤 네 자리만 알려줘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4290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87552" y="35661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87552" y="3931920"/>
            <a:ext cx="149961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LOCATION fragment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80360" y="3429000"/>
            <a:ext cx="8183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044952" y="3566160"/>
            <a:ext cx="7854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사는 곳은 강남구 정도만?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4805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22960" y="4480560"/>
            <a:ext cx="7315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87552" y="46177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987552" y="4983480"/>
            <a:ext cx="149961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block/review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880360" y="4480560"/>
            <a:ext cx="8183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044952" y="4617720"/>
            <a:ext cx="7854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subject에 대한 조각 누적 → risk escalation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71600" y="5486400"/>
            <a:ext cx="9235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371600" y="5486400"/>
            <a:ext cx="73152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536192" y="5623560"/>
            <a:ext cx="8906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결론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36192" y="5989320"/>
            <a:ext cx="89062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 monitor는 MVP에서 완전한 graph reasoner가 아니어도, digit fragment와 direct+quasi 조합 감시는 반드시 포함해야 합니다.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0"/>
            <a:ext cx="128016" cy="685800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029968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분업과 인터페이스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파인튜닝과 deterministic pipeline을 병렬 구현하는 방법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224528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561320" y="61447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분업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명은 NER, 한 명은 나머지 pipeline을 맡는 구성이 적절합니다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단, entity schema와 raw offset 기준 PIISpan 계약은 반드시 먼저 고정해야 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" cy="3520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5544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A: NER Model Owner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4837176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annotation guideline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데이터 수집·증강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KLUE/KcBERT/KoBERT fine-tuning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model wrapper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entity/partial span F1 평가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boundary error report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73152" cy="352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28232" y="15544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B: Pipeline Owner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4837176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preprocessing + offset map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regex/validator/dictionary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boundary corrector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context scorer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span resolver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masking/session monitor/evaluation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0" y="534924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5349240"/>
            <a:ext cx="73152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61872" y="5486400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공동 책임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61872" y="5852160"/>
            <a:ext cx="9637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taxonomy · PIISpan schema · annotation guideline · gold dataset · release criteria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인터페이스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detector는 같은 PIISpan contract를 반환해야 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중요한 규칙은 “start/end는 raw text 기준 character offset”입니다.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3268980" cy="4927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7532" y="137617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046220" y="1325880"/>
            <a:ext cx="3268980" cy="4927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96512" y="137617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1818640"/>
            <a:ext cx="3268980" cy="4927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7532" y="186893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 / end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46220" y="1818640"/>
            <a:ext cx="3268980" cy="4927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096512" y="186893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text 기준 character offset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2311400"/>
            <a:ext cx="3268980" cy="4927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7532" y="236169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text_hash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46220" y="2311400"/>
            <a:ext cx="3268980" cy="4927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096512" y="236169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 값은 hash/tokenized 형태로만 저장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2804160"/>
            <a:ext cx="3268980" cy="4927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7532" y="285445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entity_type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46220" y="2804160"/>
            <a:ext cx="3268980" cy="4927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096512" y="285445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 taxonomy의 label만 사용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3296920"/>
            <a:ext cx="3268980" cy="4927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7532" y="334721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46220" y="3296920"/>
            <a:ext cx="3268980" cy="4927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096512" y="334721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 / dictionary / ner / context / session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3789680"/>
            <a:ext cx="3268980" cy="4927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7532" y="383997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46220" y="3789680"/>
            <a:ext cx="3268980" cy="4927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096512" y="383997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calibrated confidence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" y="4282440"/>
            <a:ext cx="3268980" cy="4927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7532" y="433273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suffix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46220" y="4282440"/>
            <a:ext cx="3268980" cy="4927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096512" y="433273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분리된 조사·호칭·어미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7240" y="4775200"/>
            <a:ext cx="3268980" cy="4927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27532" y="482549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risk_level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46220" y="4775200"/>
            <a:ext cx="3268980" cy="4927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096512" y="482549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P0/P1/P2/P3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7240" y="5267960"/>
            <a:ext cx="3268980" cy="4927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27532" y="531825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reason_codes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46220" y="5267960"/>
            <a:ext cx="3268980" cy="4927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096512" y="5318252"/>
            <a:ext cx="3168396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 근거와 audit trace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26680" y="14630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7726680" y="146304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891272" y="16002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중요한가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891272" y="1965960"/>
            <a:ext cx="3099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정규화·tokenizer·형태소 분석이 달라도 최종 마스킹 위치가 원문과 정확히 맞아야 합니다.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26680" y="28346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726680" y="28346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891272" y="29718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원칙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891272" y="3337560"/>
            <a:ext cx="3099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결과도 후보 span입니다. 최종 action은 context/resolver/policy가 결정합니다.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726680" y="42062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7726680" y="420624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7891272" y="43434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원칙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891272" y="4709160"/>
            <a:ext cx="3099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PII 저장 금지. hash, score, source, reason만 남깁니다.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모듈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v0는 NER 없이도 pipeline이 돌아가도록 설계합니다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wrapper는 mock으로 먼저 연결하고, 이후 파인튜닝 모델로 교체합니다.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3152" cy="8412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96112" y="146304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1828800"/>
            <a:ext cx="46542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schema.py · policy.py · pipeline.py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73952" y="146304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Deterministic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73952" y="1828800"/>
            <a:ext cx="46542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preprocess.py · regex_detectors.py · validators.py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532888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2532888"/>
            <a:ext cx="7315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96112" y="267004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Korean-specific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3035808"/>
            <a:ext cx="46542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korean_boundary.py · dictionary_loader.py · context_words.yaml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2532888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309360" y="2532888"/>
            <a:ext cx="7315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73952" y="267004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3035808"/>
            <a:ext cx="46542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ner/base.py · mock_ner.py · finetuned_wrapper.py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739896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31520" y="3739896"/>
            <a:ext cx="73152" cy="8412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96112" y="3877056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6112" y="4242816"/>
            <a:ext cx="46542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context_scorer.py · span_resolver.py · masker.py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3739896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09360" y="3739896"/>
            <a:ext cx="7315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73952" y="3877056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73952" y="4242816"/>
            <a:ext cx="46542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evaluation.py · run_ablation.py · tests/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34440" y="5166360"/>
            <a:ext cx="9829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234440" y="5166360"/>
            <a:ext cx="73152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399032" y="5303520"/>
            <a:ext cx="9500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개발 전략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1399032" y="5669280"/>
            <a:ext cx="95006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먼저 regex/boundary/resolver/masking/evaluation을 완성하고, NER는 mock → baseline → fine-tuned wrapper 순서로 붙입니다.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39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범위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MVP에 반드시 넣을 것과 미룰 것을 분리합니다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 모든 것을 넣으면 구현이 느려지고, 검증이 어려워집니다.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" cy="3794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5544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포함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4837176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Unicode 정규화 + offset map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구조형 PII regex + validator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한국어 이름/주소/조직 NER wrapper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조사-aware boundary corrector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context scorer + span resolver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deterministic masking policy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간단한 session fragment monitor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evaluation/ablation harness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73152" cy="379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28232" y="15544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v1 이후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4837176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full LLM judge on every turn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NeuroFilter activation probing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대규모 gazetteer 확장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truth-preserving pseudonymization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완전한 re-identification attacker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human review dashboard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도메인별 LoRA/adapter 고도화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로드맵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30/60/90일 계획: deterministic core → NER 통합 → 운영 검증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단계는 산출물과 평가 기준을 갖고 종료되어야 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32461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1746504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41832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Deterministic Core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schema·preprocess·regex·validator·boundary·masker·pytest 100+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32461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1746504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592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+ Context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3063240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baseline/fine-tuning·context scorer·span resolver·ablation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366760" y="16002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366760" y="1600200"/>
            <a:ext cx="32461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58200" y="1746504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31352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+ Deployment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3063240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monitor·latency·release criteria·운영 로그·failure report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1417320" y="5440680"/>
            <a:ext cx="9418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417320" y="5440680"/>
            <a:ext cx="73152" cy="56692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581912" y="5577840"/>
            <a:ext cx="9089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조건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1581912" y="5943600"/>
            <a:ext cx="908913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단계는 “작동하는 코드 + 공통 평가셋 성능 + 실패 사례 리포트”를 산출해야 다음 단계로 넘어갑니다.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0"/>
            <a:ext cx="128016" cy="685800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029968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검증과 평가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가설을 실험으로 검증하는 ablation plan과 release criteria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224528"/>
            <a:ext cx="274320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561320" y="61447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데이터셋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벤치마크 + 내부 gold set + adversarial set이 모두 필요합니다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한국어 법률/대화 데이터만으로는 실제 운영 실패를 충분히 잡지 못합니다.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5544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구조형 PII-heavy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4562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주민번호·전화·이메일·카드·계좌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28232" y="15544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이름/주소/소속-heavy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4562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 결합, 짧은 이름, 상세주소, 직책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1832" y="306324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멀티턴-heavy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41832" y="3429000"/>
            <a:ext cx="4562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번호 조각, 이름+생년+지역, 추출 의도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292608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2926080"/>
            <a:ext cx="73152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28232" y="306324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Adversarial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28232" y="3429000"/>
            <a:ext cx="4562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zero-width, 띄어쓰기 오류, 한글 숫자, 혼합 표기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88720" y="5074920"/>
            <a:ext cx="9875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88720" y="5074920"/>
            <a:ext cx="73152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353312" y="5212080"/>
            <a:ext cx="9546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Gold Set 원칙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1353312" y="5577840"/>
            <a:ext cx="95463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NER-only metric과 end-to-end metric을 분리해 측정합니다. 같은 데이터로 A/B 담당자가 모두 평가해야 합니다.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43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지표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span F1만으로는 부족합니다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PII는 boundary, session leakage, utility 보존, 운영 지연까지 함께 측정해야 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5544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Span 계층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4562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precision/recall/F1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exact·partial span F1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token-level F1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73152" cy="1078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28232" y="15544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특화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4562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josa boundary accuracy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name ambiguity FP/FN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address granularity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77240" y="2898648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2898648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1832" y="303580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계층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41832" y="3401568"/>
            <a:ext cx="4562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fragmented PII recall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subject-level protection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re-identification proxy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263640" y="2898648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2898648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28232" y="303580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계층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28232" y="3401568"/>
            <a:ext cx="4562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latency p50/p95/p99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false block/1K utterances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manual review rate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188720" y="5047488"/>
            <a:ext cx="9875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88720" y="5047488"/>
            <a:ext cx="7315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353312" y="5184648"/>
            <a:ext cx="9546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기준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1353312" y="5550408"/>
            <a:ext cx="9546336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P0/P1 누락률은 별도 high-risk recall로 관리합니다. 전체 평균 F1이 높아도 고위험 누락이 있으면 release 불가입니다.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Ablation Plan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“여러 겹이 필요한가?”를 실험으로 증명합니다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레이어가 어떤 실패 모드를 줄이는지 단계별로 비교합니다.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3596640" cy="542925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1812" y="134874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실험군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328160" y="1298448"/>
            <a:ext cx="3596640" cy="542925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8452" y="134874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924800" y="1298448"/>
            <a:ext cx="3596640" cy="542925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5092" y="134874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가설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1520" y="184137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81812" y="189166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28160" y="184137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8452" y="189166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 only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924800" y="184137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975092" y="189166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구조형 baseline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1520" y="238429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81812" y="243459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328160" y="238429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78452" y="243459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+ validator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924800" y="238429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975092" y="243459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구조형 FP 감소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31520" y="292722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81812" y="297751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328160" y="292722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78452" y="297751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+ dictionary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924800" y="292722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975092" y="297751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주소/조직 후보 recall 증가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31520" y="347014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81812" y="352044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328160" y="347014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78452" y="352044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+ boundary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924800" y="347014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975092" y="352044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 결합 span F1 증가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731520" y="401307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81812" y="406336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4328160" y="401307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78452" y="406336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 + NER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924800" y="401307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975092" y="406336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자유형 이름/주소 recall 증가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731520" y="455599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81812" y="460629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4328160" y="455599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378452" y="460629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 + context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924800" y="4555998"/>
            <a:ext cx="3596640" cy="542925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975092" y="4606290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이름/일반명사 오탐 감소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731520" y="509892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781812" y="514921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4328160" y="509892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378452" y="514921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 + session monitor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7924800" y="5098923"/>
            <a:ext cx="3596640" cy="542925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7975092" y="5149215"/>
            <a:ext cx="3496056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멀티턴 누출 탐지율 증가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45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Release Criteria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 release는 정확도뿐 아니라 운영 안전성을 통과해야 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특히 raw PII logging zero와 고위험 recall은 hard gate입니다.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99% 이상 목표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1305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structured recall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44568" y="141732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81728" y="15544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98% 이상 목표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81728" y="21305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전화/이메일 recall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311896" y="141732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449056" y="15544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95% 이상 목표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49056" y="21305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josa boundary accuracy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898648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3035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0건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PII logging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44568" y="2898648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81728" y="3035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 내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81728" y="3611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p95 latency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11896" y="2898648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449056" y="3035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레이어별 기여 확인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49056" y="3611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ablation report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43000" y="5166360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43000" y="5166360"/>
            <a:ext cx="73152" cy="56692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307592" y="5303520"/>
            <a:ext cx="9683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1307592" y="5669280"/>
            <a:ext cx="968349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수치는 초기 목표값입니다. 실제 threshold는 내부 gold set과 도메인별 risk tolerance에 맞춰 조정합니다.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리스크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가능성은 초기에 계측해야 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위음성, 위양성, 도메인 이동, 로그 프라이버시, 모델 적용 조건이 핵심 리스크입니다.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3642360" cy="7086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6092" y="140360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리스크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328160" y="1353312"/>
            <a:ext cx="3642360" cy="7086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8452" y="140360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예시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970520" y="1353312"/>
            <a:ext cx="3642360" cy="70866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20812" y="140360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완화책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85800" y="206197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6092" y="211226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위음성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28160" y="206197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8452" y="211226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직함/관계/일반명사형 이름 누락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970520" y="206197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020812" y="211226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hard negative + context/session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5800" y="2770632"/>
            <a:ext cx="3642360" cy="7086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6092" y="282092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위양성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328160" y="2770632"/>
            <a:ext cx="3642360" cy="7086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78452" y="282092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하늘·사랑·가을 같은 일반명사 마스킹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970520" y="2770632"/>
            <a:ext cx="3642360" cy="7086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020812" y="282092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negative context + review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347929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6092" y="352958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 이동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328160" y="347929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78452" y="352958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법률 성능이 상담/의료로 일반화되지 않음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970520" y="347929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020812" y="352958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도메인별 gold set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85800" y="4187952"/>
            <a:ext cx="3642360" cy="7086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6092" y="423824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역설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328160" y="4187952"/>
            <a:ext cx="3642360" cy="7086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78452" y="423824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guardrail 로그가 새 PII 저장소가 됨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970520" y="4187952"/>
            <a:ext cx="3642360" cy="70866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020812" y="423824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hash-only audit log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85800" y="489661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36092" y="494690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NeuroFilter 한계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4328160" y="489661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78452" y="494690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폐쇄 API는 activation 접근 불가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970520" y="4896612"/>
            <a:ext cx="3642360" cy="70866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020812" y="4946904"/>
            <a:ext cx="354177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text-level session monitor 우선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47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예상 질문과 답변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교수님이 물을 가능성이 높은 지점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선택의 이유를 짧고 명확하게 답할 수 있어야 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46304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Q1. 왜 NER 하나로 끝내지 않나?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41832" y="1828800"/>
            <a:ext cx="10323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구조형 PII는 regex/checksum이 더 안정적이고, 이름/주소는 NER+문맥이 필요합니다.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777240" y="2496312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7240" y="2496312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41832" y="2633472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Q2. boundary correction은 정말 필요한가?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41832" y="2999232"/>
            <a:ext cx="10323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조사·호칭·직함이 붙은 한국어 span에서 실제 누락/과마스킹을 줄입니다.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77240" y="3666744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3666744"/>
            <a:ext cx="73152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1832" y="3803904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Q3. 리서치 근거가 충분한가?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41832" y="4169664"/>
            <a:ext cx="10323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완전 ablation은 부족하지만 Presidio, 한국어 De-ID 연구, KDPII, session privacy 연구의 구성요소 증거가 수렴합니다.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777240" y="4837176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77240" y="4837176"/>
            <a:ext cx="73152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41832" y="4974336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Q4. 구현 가능성은?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41832" y="5340096"/>
            <a:ext cx="10323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NER 담당과 pipeline 담당을 분리하고, PIISpan contract와 공통 gold set으로 통합합니다.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48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교수님께 드릴 결론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우리는 한국어 PII를 위한 “검증 가능한 다층 가드레일”을 만들고 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프로젝트의 성과는 단순 모델 성능이 아니라, 한국어 특화 failure mode를 줄이는 시스템 설계입니다.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6459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만들 것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87552" y="2011680"/>
            <a:ext cx="309981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PII entity routing pipeline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NER 모델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boundary correction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session monitor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73152" cy="2057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45152" y="16459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증명할 것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309981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detector 대비 다층 구조가 한국어 boundary, 이름 중의성, 멀티턴 누출에서 유리한지 ablation으로 검증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73152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02752" y="16459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교수님께 받을 피드백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02752" y="2011680"/>
            <a:ext cx="309981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taxonomy 범위, 평가셋 설계, release 기준, NER 라벨 가이드라인의 타당성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280160" y="4709160"/>
            <a:ext cx="9692640" cy="822960"/>
          </a:xfrm>
          <a:prstGeom prst="roundRect">
            <a:avLst>
              <a:gd name="adj" fmla="val 888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554480" y="500176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단계: PIISpan schema와 gold set 100개를 먼저 고정하고, deterministic core와 NER baseline을 병렬 구현합니다.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49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근거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리서치 근거와 설계 반영 지점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세부 출처는 업로드된 심층 리서치 보고서의 citation과 함께 확인 가능합니다.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532120" cy="5638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4652" y="128473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6126480" y="1234440"/>
            <a:ext cx="5532120" cy="5638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176772" y="128473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반영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94360" y="1798320"/>
            <a:ext cx="5532120" cy="5638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4652" y="184861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Presidio / Guardrails / NeMo GLiNER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126480" y="1798320"/>
            <a:ext cx="5532120" cy="5638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76772" y="184861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pattern·context·checksum·NER 조합 및 input/output/retrieval flow 설계 근거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94360" y="2362200"/>
            <a:ext cx="5532120" cy="5638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4652" y="241249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Thunder-DeID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126480" y="2362200"/>
            <a:ext cx="5532120" cy="5638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76772" y="241249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법률 비식별화, MeCab-ko+BPE, 조사 분리와 placeholder 일관성 근거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4360" y="2926080"/>
            <a:ext cx="5532120" cy="5638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4652" y="297637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K-LegalDeID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5532120" cy="5638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76772" y="297637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KLUEBERT-CRF 기반 한국어 법률 문서 비식별화 및 entity-level 평가 근거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94360" y="3489960"/>
            <a:ext cx="5532120" cy="5638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4652" y="354025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KDPII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126480" y="3489960"/>
            <a:ext cx="5532120" cy="5638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76772" y="354025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대화형 PII와 language-specific category 난도 근거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94360" y="4053840"/>
            <a:ext cx="5532120" cy="5638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4652" y="410413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NeuroFilter / SPIA / PII-Bench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126480" y="4053840"/>
            <a:ext cx="5532120" cy="5638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76772" y="410413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multi-turn, subject-level, contextual privacy risk 설계 근거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617720"/>
            <a:ext cx="5532120" cy="5638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4652" y="466801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PIPC 가명정보 처리 가이드라인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126480" y="4617720"/>
            <a:ext cx="5532120" cy="5638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176772" y="466801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식별정보와 결합 식별가능정보 분류 근거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594360" y="5181600"/>
            <a:ext cx="5532120" cy="5638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44652" y="523189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이름 PII 오류 분석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126480" y="5181600"/>
            <a:ext cx="5532120" cy="5638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76772" y="523189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이름+직함, 이름+접미사, 일반명사형 이름 오류 근거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94360" y="5745480"/>
            <a:ext cx="5532120" cy="5638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44652" y="579577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deep research report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126480" y="5745480"/>
            <a:ext cx="5532120" cy="5638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176772" y="5795772"/>
            <a:ext cx="54315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 자료를 종합해 v0 설계 타당성과 한계를 정리한 기준 문서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References · 세부 출처는 심층 리서치 보고서 참조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A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 Entity Taxonomy 상세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구현에서는 전체 taxonomy 중 우선순위를 나눠 순차적으로 구현합니다.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5463540" cy="6781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6092" y="142189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149340" y="1371600"/>
            <a:ext cx="5463540" cy="678180"/>
          </a:xfrm>
          <a:prstGeom prst="rect">
            <a:avLst/>
          </a:prstGeom>
          <a:solidFill>
            <a:srgbClr val="0B1020"/>
          </a:solidFill>
          <a:ln w="4445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199632" y="142189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85800" y="2049780"/>
            <a:ext cx="5463540" cy="6781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6092" y="210007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149340" y="2049780"/>
            <a:ext cx="5463540" cy="6781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99632" y="210007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RRN, FRN, PASSPORT, DRIVER_LICENSE, CREDIT_CARD, BANK_ACCOUNT, API_KEY_SECRET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85800" y="2727960"/>
            <a:ext cx="5463540" cy="6781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6092" y="277825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P1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49340" y="2727960"/>
            <a:ext cx="5463540" cy="6781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99632" y="277825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PHONE, EMAIL, PERSON_NAME, ADDRESS_FULL, ADDRESS_UNIT, VEHICLE_REG_NO, MEDICAL_RECORD_NO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85800" y="3406140"/>
            <a:ext cx="5463540" cy="6781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6092" y="345643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P2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149340" y="3406140"/>
            <a:ext cx="5463540" cy="6781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99632" y="345643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DOB, SCHOOL, ORGANIZATION, EMPLOYEE_ID, STUDENT_ID, CUSTOMER_ID, FAMILY_RELATION, HEALTH_INFO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85800" y="4084320"/>
            <a:ext cx="5463540" cy="6781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6092" y="413461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P3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149340" y="4084320"/>
            <a:ext cx="5463540" cy="678180"/>
          </a:xfrm>
          <a:prstGeom prst="rect">
            <a:avLst/>
          </a:prstGeom>
          <a:solidFill>
            <a:srgbClr val="F8FAFC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99632" y="413461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AGE, GENDER, NATIONALITY, REGION, JOB_TITLE 단독, PUBLIC_ORG_ADDRESS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85800" y="4762500"/>
            <a:ext cx="5463540" cy="6781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36092" y="481279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Composite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149340" y="4762500"/>
            <a:ext cx="5463540" cy="678180"/>
          </a:xfrm>
          <a:prstGeom prst="rect">
            <a:avLst/>
          </a:prstGeom>
          <a:solidFill>
            <a:srgbClr val="FFFFFF"/>
          </a:solidFill>
          <a:ln w="444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99632" y="4812792"/>
            <a:ext cx="536295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NAME+PHONE, NAME+ADDRESS, DOB+SCHOOL+REGION, FAMILY+PHONE, CUSTOMER_ID+ADDRESS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1097280" y="5596128"/>
            <a:ext cx="9966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97280" y="5596128"/>
            <a:ext cx="73152" cy="4572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261872" y="5733288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원칙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61872" y="6099048"/>
            <a:ext cx="9637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P0/P1은 기본 mask, P2/P3는 context와 조합 위험에 따라 처리합니다.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51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B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가능한 prototype 작업 순서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CLI 또는 일반 구현 태스크로 바로 분해 가능한 수준의 작업 목록입니다.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48920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298448"/>
            <a:ext cx="73152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43560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801368"/>
            <a:ext cx="456285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schema.py / entities.yaml 확정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3640" y="1298448"/>
            <a:ext cx="48920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73152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28232" y="143560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28232" y="1801368"/>
            <a:ext cx="456285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preprocess.py: normalization + offset map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2322576"/>
            <a:ext cx="48920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2322576"/>
            <a:ext cx="73152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1832" y="2459736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" y="2825496"/>
            <a:ext cx="456285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regex_detectors.py + validators.py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2322576"/>
            <a:ext cx="48920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2322576"/>
            <a:ext cx="73152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28232" y="2459736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2825496"/>
            <a:ext cx="456285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korean_boundary.py + josa_rules.yaml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3346704"/>
            <a:ext cx="48920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77240" y="3346704"/>
            <a:ext cx="73152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41832" y="3483864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" y="3849624"/>
            <a:ext cx="456285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masker.py + span_resolver.py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3346704"/>
            <a:ext cx="48920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63640" y="3346704"/>
            <a:ext cx="73152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28232" y="3483864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28232" y="3849624"/>
            <a:ext cx="456285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mock_ner.py 연결 후 pipeline.py end-to-end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" y="4370832"/>
            <a:ext cx="48920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77240" y="4370832"/>
            <a:ext cx="73152" cy="676656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41832" y="45079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1832" y="4873752"/>
            <a:ext cx="456285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gold_v0.jsonl + pytest hard cases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4370832"/>
            <a:ext cx="48920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263640" y="4370832"/>
            <a:ext cx="73152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28232" y="45079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28232" y="4873752"/>
            <a:ext cx="456285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fine-tuned NER wrapper로 교체 후 ablation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2920" y="6519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Korean PII Guardrail v0 · 심층 리서치 기반 설계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7966588F522AB418DD792E84D80D917" ma:contentTypeVersion="10" ma:contentTypeDescription="새 문서를 만듭니다." ma:contentTypeScope="" ma:versionID="d310ffa6132ca4be75dbae917cefcb89">
  <xsd:schema xmlns:xsd="http://www.w3.org/2001/XMLSchema" xmlns:xs="http://www.w3.org/2001/XMLSchema" xmlns:p="http://schemas.microsoft.com/office/2006/metadata/properties" xmlns:ns3="a0b6b027-0c9f-4dc6-b6a4-478a9749d735" targetNamespace="http://schemas.microsoft.com/office/2006/metadata/properties" ma:root="true" ma:fieldsID="d58bde241821d218f599b8d06410a7c0" ns3:_="">
    <xsd:import namespace="a0b6b027-0c9f-4dc6-b6a4-478a9749d73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6b027-0c9f-4dc6-b6a4-478a9749d73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8253DD-A206-4F39-BEEB-F7A46B1769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b6b027-0c9f-4dc6-b6a4-478a9749d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410D10-1103-4055-8909-A715CE3D14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69918-87A4-4B39-A829-6F60A541BC2B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www.w3.org/XML/1998/namespace"/>
    <ds:schemaRef ds:uri="a0b6b027-0c9f-4dc6-b6a4-478a9749d735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6437</Words>
  <Application>Microsoft Office PowerPoint</Application>
  <PresentationFormat>와이드스크린</PresentationFormat>
  <Paragraphs>1146</Paragraphs>
  <Slides>52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5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한국어 PII 가드레일 v0 설계 설명 자료</dc:title>
  <dc:subject>Korean PII Guardrail v0 design deck</dc:subject>
  <dc:creator>OpenAI GPT-5.5 Pro</dc:creator>
  <cp:lastModifiedBy>양유상</cp:lastModifiedBy>
  <cp:revision>3</cp:revision>
  <dcterms:created xsi:type="dcterms:W3CDTF">2026-05-07T19:41:02Z</dcterms:created>
  <dcterms:modified xsi:type="dcterms:W3CDTF">2026-05-07T21:12:36Z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0x01010027966588F522AB418DD792E84D80D917</vt:lpwstr>
  </property>
</Properties>
</file>