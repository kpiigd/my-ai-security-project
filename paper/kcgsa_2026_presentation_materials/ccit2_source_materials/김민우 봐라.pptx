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FE8865-1335-48CD-AAD1-7A174B166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DFF532-0059-4B76-B19B-AB3EE64A2C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F206D2-F693-466D-9D7D-9568EFB716C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KOREAN PII GUARDRAIL v0.2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8A27D5-569D-4E46-87DA-808D23D12FE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8001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M1부터 M10까지</a:t>
            </a:r>
          </a:p>
          <a:p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번에 이해하는 가드레일 흐름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D21474-2185-4684-B53E-A2E86DB34FCF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723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핵심은 간단합니다. 원문 위치를 지키면서 개인정보 후보를 찾고, 정리하고, 정책에 따라 안전하게 처리한 뒤, 평가로 품질을 검증합니다.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777F21-E6A3-46AF-B188-AFFA31BF99F8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18B21A-9C28-446D-8816-967792EA5B77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single-turn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1E6C68-04DD-4D1F-8CFD-29A6A6685F3C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번 들어온 텍스트만 본다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E93A1-848D-43A8-AB78-F2171B8F8E65}"/>
              </a:ext>
            </a:extLst>
          </p:cNvPr>
          <p:cNvSpPr>
            <a:spLocks noGrp="1"/>
          </p:cNvSpPr>
          <p:nvPr/>
        </p:nvSpPr>
        <p:spPr>
          <a:xfrm>
            <a:off x="3333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82E7D8-04D5-4160-8EDC-C62E82E2B60C}"/>
              </a:ext>
            </a:extLst>
          </p:cNvPr>
          <p:cNvSpPr>
            <a:spLocks noGrp="1"/>
          </p:cNvSpPr>
          <p:nvPr/>
        </p:nvSpPr>
        <p:spPr>
          <a:xfrm>
            <a:off x="3505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raw offset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31CEFB-FCF8-4E47-A433-E4289190097E}"/>
              </a:ext>
            </a:extLst>
          </p:cNvPr>
          <p:cNvSpPr>
            <a:spLocks noGrp="1"/>
          </p:cNvSpPr>
          <p:nvPr/>
        </p:nvSpPr>
        <p:spPr>
          <a:xfrm>
            <a:off x="3505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위치는 항상 원문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392981-A019-4109-A9AC-089CF9AEAB13}"/>
              </a:ext>
            </a:extLst>
          </p:cNvPr>
          <p:cNvSpPr>
            <a:spLocks noGrp="1"/>
          </p:cNvSpPr>
          <p:nvPr/>
        </p:nvSpPr>
        <p:spPr>
          <a:xfrm>
            <a:off x="6000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DDC372-2A15-4C12-AE70-F0C0339A5E54}"/>
              </a:ext>
            </a:extLst>
          </p:cNvPr>
          <p:cNvSpPr>
            <a:spLocks noGrp="1"/>
          </p:cNvSpPr>
          <p:nvPr/>
        </p:nvSpPr>
        <p:spPr>
          <a:xfrm>
            <a:off x="6172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no raw log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D869A5-F950-4B54-A14D-289B5D27752E}"/>
              </a:ext>
            </a:extLst>
          </p:cNvPr>
          <p:cNvSpPr>
            <a:spLocks noGrp="1"/>
          </p:cNvSpPr>
          <p:nvPr/>
        </p:nvSpPr>
        <p:spPr>
          <a:xfrm>
            <a:off x="6172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로그와 응답에는 원문 PII 금지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D7990B-A295-4F21-823F-781A832FD955}"/>
              </a:ext>
            </a:extLst>
          </p:cNvPr>
          <p:cNvSpPr>
            <a:spLocks noGrp="1"/>
          </p:cNvSpPr>
          <p:nvPr/>
        </p:nvSpPr>
        <p:spPr>
          <a:xfrm>
            <a:off x="8667750" y="4857750"/>
            <a:ext cx="2286000" cy="9334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083C91-81CE-48F9-B090-9F88F20E7189}"/>
              </a:ext>
            </a:extLst>
          </p:cNvPr>
          <p:cNvSpPr>
            <a:spLocks noGrp="1"/>
          </p:cNvSpPr>
          <p:nvPr/>
        </p:nvSpPr>
        <p:spPr>
          <a:xfrm>
            <a:off x="8839200" y="5010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candidate first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6B32372-593A-4AA4-B18A-C0679DFBB237}"/>
              </a:ext>
            </a:extLst>
          </p:cNvPr>
          <p:cNvSpPr>
            <a:spLocks noGrp="1"/>
          </p:cNvSpPr>
          <p:nvPr/>
        </p:nvSpPr>
        <p:spPr>
          <a:xfrm>
            <a:off x="8839200" y="53149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detector 결과는 후보일 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2BFC37-64D8-4A3A-A261-B6DD152EEE3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rPr>
              <a:t>Korean PII Guardrail v0.2 | 1/14</a:t>
            </a:r>
          </a:p>
        </p:txBody>
      </p:sp>
    </p:spTree>
    <p:extLst>
      <p:ext uri="{BB962C8B-B14F-4D97-AF65-F5344CB8AC3E}">
        <p14:creationId xmlns:p14="http://schemas.microsoft.com/office/powerpoint/2010/main" val="163224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47ED13FE-2FC3-416E-93F0-21D53C7301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EB5C44-1B72-4593-B221-813C540945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2-marker">
            <a:extLst>
              <a:ext uri="{FF2B5EF4-FFF2-40B4-BE49-F238E27FC236}">
                <a16:creationId xmlns:a16="http://schemas.microsoft.com/office/drawing/2014/main" id="{84229A00-5265-4D5A-8FF1-65EA989F2E84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2-label">
            <a:extLst>
              <a:ext uri="{FF2B5EF4-FFF2-40B4-BE49-F238E27FC236}">
                <a16:creationId xmlns:a16="http://schemas.microsoft.com/office/drawing/2014/main" id="{F3CAAD1C-A0F2-461F-ADBF-33C888C78A0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WHOLE FLOW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B2CDB6-CCB9-4F9A-B4B8-ECE5CF9E073E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M1~M10은 하나의 파이프라인으로 이어집니다.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D0BBFB-31B7-449D-913C-38CDE9EDAB0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앞 단계는 뒤 단계가 정확하게 판단할 수 있도록 정보를 정리해 줍니다.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616CD0-3BCE-42C9-A519-012C8B00C41F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2/14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13A212-7AA1-40E2-A9E0-9C6B20138419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676400" cy="819150"/>
          </a:xfrm>
          <a:prstGeom prst="rect">
            <a:avLst/>
          </a:prstGeom>
          <a:solidFill>
            <a:srgbClr val="E9EFFF"/>
          </a:solidFill>
          <a:ln w="1333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BC244E-001C-4E9A-A82B-0E1EE2B786D7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437C79-659A-43B3-A8B8-8E52495F0480}"/>
              </a:ext>
            </a:extLst>
          </p:cNvPr>
          <p:cNvSpPr>
            <a:spLocks noGrp="1"/>
          </p:cNvSpPr>
          <p:nvPr/>
        </p:nvSpPr>
        <p:spPr>
          <a:xfrm>
            <a:off x="1257300" y="2343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22F789-B88F-49CE-A4C6-9D6E03592D9C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찾기 좋은 텍스트 준비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D459A4-81C6-40E1-AD62-B39B6632B858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1D53BB-167C-45B6-B009-8D4047352702}"/>
              </a:ext>
            </a:extLst>
          </p:cNvPr>
          <p:cNvSpPr>
            <a:spLocks noGrp="1"/>
          </p:cNvSpPr>
          <p:nvPr/>
        </p:nvSpPr>
        <p:spPr>
          <a:xfrm>
            <a:off x="2895600" y="2190750"/>
            <a:ext cx="1676400" cy="819150"/>
          </a:xfrm>
          <a:prstGeom prst="rect">
            <a:avLst/>
          </a:prstGeom>
          <a:solidFill>
            <a:srgbClr val="E8F6F0"/>
          </a:solidFill>
          <a:ln w="1333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7B12D4-DB58-4644-BCBB-65E166B815F9}"/>
              </a:ext>
            </a:extLst>
          </p:cNvPr>
          <p:cNvSpPr>
            <a:spLocks noGrp="1"/>
          </p:cNvSpPr>
          <p:nvPr/>
        </p:nvSpPr>
        <p:spPr>
          <a:xfrm>
            <a:off x="3048000" y="2324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C9831F-D4BC-4324-BFC3-FD5769F0B951}"/>
              </a:ext>
            </a:extLst>
          </p:cNvPr>
          <p:cNvSpPr>
            <a:spLocks noGrp="1"/>
          </p:cNvSpPr>
          <p:nvPr/>
        </p:nvSpPr>
        <p:spPr>
          <a:xfrm>
            <a:off x="3467100" y="2343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패턴 탐지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880559-46F6-457B-8333-AD83F7D78C8E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정규식과 validator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8AE2D8-EF4E-4D30-A25D-B6FE3000A781}"/>
              </a:ext>
            </a:extLst>
          </p:cNvPr>
          <p:cNvSpPr>
            <a:spLocks noGrp="1"/>
          </p:cNvSpPr>
          <p:nvPr/>
        </p:nvSpPr>
        <p:spPr>
          <a:xfrm>
            <a:off x="4648200" y="24574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DE3947-0C7C-45AF-ADA6-D539E7F82B17}"/>
              </a:ext>
            </a:extLst>
          </p:cNvPr>
          <p:cNvSpPr>
            <a:spLocks noGrp="1"/>
          </p:cNvSpPr>
          <p:nvPr/>
        </p:nvSpPr>
        <p:spPr>
          <a:xfrm>
            <a:off x="5105400" y="2190750"/>
            <a:ext cx="1676400" cy="819150"/>
          </a:xfrm>
          <a:prstGeom prst="rect">
            <a:avLst/>
          </a:prstGeom>
          <a:solidFill>
            <a:srgbClr val="FFF3D9"/>
          </a:solidFill>
          <a:ln w="1333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03F88C-E17C-48B0-B286-C05642261C9C}"/>
              </a:ext>
            </a:extLst>
          </p:cNvPr>
          <p:cNvSpPr>
            <a:spLocks noGrp="1"/>
          </p:cNvSpPr>
          <p:nvPr/>
        </p:nvSpPr>
        <p:spPr>
          <a:xfrm>
            <a:off x="5257800" y="2324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85199E-DA70-407C-B9B4-988883A932C3}"/>
              </a:ext>
            </a:extLst>
          </p:cNvPr>
          <p:cNvSpPr>
            <a:spLocks noGrp="1"/>
          </p:cNvSpPr>
          <p:nvPr/>
        </p:nvSpPr>
        <p:spPr>
          <a:xfrm>
            <a:off x="5676900" y="2343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경계 보정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CFDBF9-3CBC-4115-BBC0-9239D62B3F80}"/>
              </a:ext>
            </a:extLst>
          </p:cNvPr>
          <p:cNvSpPr>
            <a:spLocks noGrp="1"/>
          </p:cNvSpPr>
          <p:nvPr/>
        </p:nvSpPr>
        <p:spPr>
          <a:xfrm>
            <a:off x="5257800" y="2628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조사/어미 분리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5280EA-10CF-4E09-B735-84EC5E1B23E8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80B0A52-F5DC-4DE5-94B5-EC9C39C7DDF5}"/>
              </a:ext>
            </a:extLst>
          </p:cNvPr>
          <p:cNvSpPr>
            <a:spLocks noGrp="1"/>
          </p:cNvSpPr>
          <p:nvPr/>
        </p:nvSpPr>
        <p:spPr>
          <a:xfrm>
            <a:off x="7315200" y="2190750"/>
            <a:ext cx="1676400" cy="819150"/>
          </a:xfrm>
          <a:prstGeom prst="rect">
            <a:avLst/>
          </a:prstGeom>
          <a:solidFill>
            <a:srgbClr val="F0ECFF"/>
          </a:solidFill>
          <a:ln w="1333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4282D8-5045-4766-8D17-CD8ADB016CBA}"/>
              </a:ext>
            </a:extLst>
          </p:cNvPr>
          <p:cNvSpPr>
            <a:spLocks noGrp="1"/>
          </p:cNvSpPr>
          <p:nvPr/>
        </p:nvSpPr>
        <p:spPr>
          <a:xfrm>
            <a:off x="7467600" y="2324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D382CC-E32E-4D44-B66C-690EE18CE7A2}"/>
              </a:ext>
            </a:extLst>
          </p:cNvPr>
          <p:cNvSpPr>
            <a:spLocks noGrp="1"/>
          </p:cNvSpPr>
          <p:nvPr/>
        </p:nvSpPr>
        <p:spPr>
          <a:xfrm>
            <a:off x="7886700" y="2343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문맥 점수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C50FD3-C2E9-41A5-809C-C28692F677C6}"/>
              </a:ext>
            </a:extLst>
          </p:cNvPr>
          <p:cNvSpPr>
            <a:spLocks noGrp="1"/>
          </p:cNvSpPr>
          <p:nvPr/>
        </p:nvSpPr>
        <p:spPr>
          <a:xfrm>
            <a:off x="7467600" y="2628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주변 단서 반영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3BA149-A361-4C61-AE3C-1153EBCD7B35}"/>
              </a:ext>
            </a:extLst>
          </p:cNvPr>
          <p:cNvSpPr>
            <a:spLocks noGrp="1"/>
          </p:cNvSpPr>
          <p:nvPr/>
        </p:nvSpPr>
        <p:spPr>
          <a:xfrm>
            <a:off x="9067800" y="24574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832B6F7-8385-46B0-BD3F-78FAECC732A6}"/>
              </a:ext>
            </a:extLst>
          </p:cNvPr>
          <p:cNvSpPr>
            <a:spLocks noGrp="1"/>
          </p:cNvSpPr>
          <p:nvPr/>
        </p:nvSpPr>
        <p:spPr>
          <a:xfrm>
            <a:off x="9525000" y="2190750"/>
            <a:ext cx="1676400" cy="819150"/>
          </a:xfrm>
          <a:prstGeom prst="rect">
            <a:avLst/>
          </a:prstGeom>
          <a:solidFill>
            <a:srgbClr val="F0ECFF"/>
          </a:solidFill>
          <a:ln w="1333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37F2FB0-10C1-4145-8F0D-6A97F6DFA34E}"/>
              </a:ext>
            </a:extLst>
          </p:cNvPr>
          <p:cNvSpPr>
            <a:spLocks noGrp="1"/>
          </p:cNvSpPr>
          <p:nvPr/>
        </p:nvSpPr>
        <p:spPr>
          <a:xfrm>
            <a:off x="9677400" y="2324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66972CF-69FC-4A3A-9B1C-77F6E9539C9E}"/>
              </a:ext>
            </a:extLst>
          </p:cNvPr>
          <p:cNvSpPr>
            <a:spLocks noGrp="1"/>
          </p:cNvSpPr>
          <p:nvPr/>
        </p:nvSpPr>
        <p:spPr>
          <a:xfrm>
            <a:off x="10096500" y="2343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연결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85755E-7D17-43C6-9DCF-B139B8007941}"/>
              </a:ext>
            </a:extLst>
          </p:cNvPr>
          <p:cNvSpPr>
            <a:spLocks noGrp="1"/>
          </p:cNvSpPr>
          <p:nvPr/>
        </p:nvSpPr>
        <p:spPr>
          <a:xfrm>
            <a:off x="9677400" y="2628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모델 후보 합류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C8A981D-54E7-45F0-B506-8A64C9E84059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1676400" cy="819150"/>
          </a:xfrm>
          <a:prstGeom prst="rect">
            <a:avLst/>
          </a:prstGeom>
          <a:solidFill>
            <a:srgbClr val="E9EFFF"/>
          </a:solidFill>
          <a:ln w="1333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812069-446F-48F6-90CF-F353052CC3CD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D9C6CD-42FF-413D-9A98-6BA4887D97A5}"/>
              </a:ext>
            </a:extLst>
          </p:cNvPr>
          <p:cNvSpPr>
            <a:spLocks noGrp="1"/>
          </p:cNvSpPr>
          <p:nvPr/>
        </p:nvSpPr>
        <p:spPr>
          <a:xfrm>
            <a:off x="125730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후보 정리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5B2BB7-EDD0-4A96-BE83-B79F6019D08A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겹침/중복 해결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70E747E-C487-4151-B0F1-4F2930914CD5}"/>
              </a:ext>
            </a:extLst>
          </p:cNvPr>
          <p:cNvSpPr>
            <a:spLocks noGrp="1"/>
          </p:cNvSpPr>
          <p:nvPr/>
        </p:nvSpPr>
        <p:spPr>
          <a:xfrm>
            <a:off x="2438400" y="38862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AC20644-4991-451E-963D-B453BB6623CB}"/>
              </a:ext>
            </a:extLst>
          </p:cNvPr>
          <p:cNvSpPr>
            <a:spLocks noGrp="1"/>
          </p:cNvSpPr>
          <p:nvPr/>
        </p:nvSpPr>
        <p:spPr>
          <a:xfrm>
            <a:off x="2895600" y="3619500"/>
            <a:ext cx="1676400" cy="819150"/>
          </a:xfrm>
          <a:prstGeom prst="rect">
            <a:avLst/>
          </a:prstGeom>
          <a:solidFill>
            <a:srgbClr val="FDEAEA"/>
          </a:solidFill>
          <a:ln w="1333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21B4BD4-B139-47E8-8746-4A886AFBBD7E}"/>
              </a:ext>
            </a:extLst>
          </p:cNvPr>
          <p:cNvSpPr>
            <a:spLocks noGrp="1"/>
          </p:cNvSpPr>
          <p:nvPr/>
        </p:nvSpPr>
        <p:spPr>
          <a:xfrm>
            <a:off x="30480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1EFB7A6-15FF-4702-AA5D-D4BAF9B1FB88}"/>
              </a:ext>
            </a:extLst>
          </p:cNvPr>
          <p:cNvSpPr>
            <a:spLocks noGrp="1"/>
          </p:cNvSpPr>
          <p:nvPr/>
        </p:nvSpPr>
        <p:spPr>
          <a:xfrm>
            <a:off x="346710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정책/마스킹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9383FC-0A3F-4EE6-BB93-D9B19D5F2BDB}"/>
              </a:ext>
            </a:extLst>
          </p:cNvPr>
          <p:cNvSpPr>
            <a:spLocks noGrp="1"/>
          </p:cNvSpPr>
          <p:nvPr/>
        </p:nvSpPr>
        <p:spPr>
          <a:xfrm>
            <a:off x="3048000" y="40576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action 결정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7D6EE82-27D0-473C-9952-494424A6E680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BEE63F-BFD2-49E4-9FC0-45BF246C6C4D}"/>
              </a:ext>
            </a:extLst>
          </p:cNvPr>
          <p:cNvSpPr>
            <a:spLocks noGrp="1"/>
          </p:cNvSpPr>
          <p:nvPr/>
        </p:nvSpPr>
        <p:spPr>
          <a:xfrm>
            <a:off x="5105400" y="3619500"/>
            <a:ext cx="1676400" cy="819150"/>
          </a:xfrm>
          <a:prstGeom prst="rect">
            <a:avLst/>
          </a:prstGeom>
          <a:solidFill>
            <a:srgbClr val="E8F6F0"/>
          </a:solidFill>
          <a:ln w="1333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90CFABB-F512-426F-B07A-6222A34F2844}"/>
              </a:ext>
            </a:extLst>
          </p:cNvPr>
          <p:cNvSpPr>
            <a:spLocks noGrp="1"/>
          </p:cNvSpPr>
          <p:nvPr/>
        </p:nvSpPr>
        <p:spPr>
          <a:xfrm>
            <a:off x="52578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M8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41FC9BF-B40E-4466-9C6F-3BE600C1B5DA}"/>
              </a:ext>
            </a:extLst>
          </p:cNvPr>
          <p:cNvSpPr>
            <a:spLocks noGrp="1"/>
          </p:cNvSpPr>
          <p:nvPr/>
        </p:nvSpPr>
        <p:spPr>
          <a:xfrm>
            <a:off x="567690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감사 로그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272950D-1FCB-4D64-9930-BE465DDCB79B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원문 없이 기록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B36C91A-5A25-40D7-A96E-97910543F17D}"/>
              </a:ext>
            </a:extLst>
          </p:cNvPr>
          <p:cNvSpPr>
            <a:spLocks noGrp="1"/>
          </p:cNvSpPr>
          <p:nvPr/>
        </p:nvSpPr>
        <p:spPr>
          <a:xfrm>
            <a:off x="6858000" y="38862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E2443E5-A627-4E89-BD50-204A4D3BCDE7}"/>
              </a:ext>
            </a:extLst>
          </p:cNvPr>
          <p:cNvSpPr>
            <a:spLocks noGrp="1"/>
          </p:cNvSpPr>
          <p:nvPr/>
        </p:nvSpPr>
        <p:spPr>
          <a:xfrm>
            <a:off x="7315200" y="3619500"/>
            <a:ext cx="1676400" cy="819150"/>
          </a:xfrm>
          <a:prstGeom prst="rect">
            <a:avLst/>
          </a:prstGeom>
          <a:solidFill>
            <a:srgbClr val="E9EFFF"/>
          </a:solidFill>
          <a:ln w="1333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5046FB9-3B42-45CB-B80B-D73D147815C9}"/>
              </a:ext>
            </a:extLst>
          </p:cNvPr>
          <p:cNvSpPr>
            <a:spLocks noGrp="1"/>
          </p:cNvSpPr>
          <p:nvPr/>
        </p:nvSpPr>
        <p:spPr>
          <a:xfrm>
            <a:off x="74676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A2BDD44-8B9B-4C47-9A12-A0747633AD55}"/>
              </a:ext>
            </a:extLst>
          </p:cNvPr>
          <p:cNvSpPr>
            <a:spLocks noGrp="1"/>
          </p:cNvSpPr>
          <p:nvPr/>
        </p:nvSpPr>
        <p:spPr>
          <a:xfrm>
            <a:off x="788670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통합 실행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37A98EF-DB18-4D5B-A2D1-7DF1952F0D93}"/>
              </a:ext>
            </a:extLst>
          </p:cNvPr>
          <p:cNvSpPr>
            <a:spLocks noGrp="1"/>
          </p:cNvSpPr>
          <p:nvPr/>
        </p:nvSpPr>
        <p:spPr>
          <a:xfrm>
            <a:off x="7467600" y="40576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실제 응답 생성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3214699-A44B-417B-AA02-AE55E775D5BC}"/>
              </a:ext>
            </a:extLst>
          </p:cNvPr>
          <p:cNvSpPr>
            <a:spLocks noGrp="1"/>
          </p:cNvSpPr>
          <p:nvPr/>
        </p:nvSpPr>
        <p:spPr>
          <a:xfrm>
            <a:off x="9067800" y="38862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CAE86A9-FC42-48D8-B4A5-A53339C9BCA8}"/>
              </a:ext>
            </a:extLst>
          </p:cNvPr>
          <p:cNvSpPr>
            <a:spLocks noGrp="1"/>
          </p:cNvSpPr>
          <p:nvPr/>
        </p:nvSpPr>
        <p:spPr>
          <a:xfrm>
            <a:off x="9525000" y="3619500"/>
            <a:ext cx="1676400" cy="819150"/>
          </a:xfrm>
          <a:prstGeom prst="rect">
            <a:avLst/>
          </a:prstGeom>
          <a:solidFill>
            <a:srgbClr val="FFF3D9"/>
          </a:solidFill>
          <a:ln w="1333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53F64FB-A203-4C9B-A283-67723DD8B00E}"/>
              </a:ext>
            </a:extLst>
          </p:cNvPr>
          <p:cNvSpPr>
            <a:spLocks noGrp="1"/>
          </p:cNvSpPr>
          <p:nvPr/>
        </p:nvSpPr>
        <p:spPr>
          <a:xfrm>
            <a:off x="9677400" y="37528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DDA93C9-1D12-4726-9F8D-067A772924A4}"/>
              </a:ext>
            </a:extLst>
          </p:cNvPr>
          <p:cNvSpPr>
            <a:spLocks noGrp="1"/>
          </p:cNvSpPr>
          <p:nvPr/>
        </p:nvSpPr>
        <p:spPr>
          <a:xfrm>
            <a:off x="10096500" y="377190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543FB30-92E5-4B1D-96DC-97D2752302A0}"/>
              </a:ext>
            </a:extLst>
          </p:cNvPr>
          <p:cNvSpPr>
            <a:spLocks noGrp="1"/>
          </p:cNvSpPr>
          <p:nvPr/>
        </p:nvSpPr>
        <p:spPr>
          <a:xfrm>
            <a:off x="9677400" y="40576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성능과 안전성 측정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80CAC35-1313-4D98-A05D-9AE3D1CCE648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047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73E3AC8-4432-43B0-AF8A-61D70BA0DF63}"/>
              </a:ext>
            </a:extLst>
          </p:cNvPr>
          <p:cNvSpPr>
            <a:spLocks noGrp="1"/>
          </p:cNvSpPr>
          <p:nvPr/>
        </p:nvSpPr>
        <p:spPr>
          <a:xfrm>
            <a:off x="895350" y="5400675"/>
            <a:ext cx="10134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 입력 -&gt; 후보 탐지 -&gt; 후보 정리 -&gt; 정책 적용 -&gt; 안전한 응답과 로그 -&gt; 평가 리포트</a:t>
            </a:r>
          </a:p>
        </p:txBody>
      </p:sp>
    </p:spTree>
    <p:extLst>
      <p:ext uri="{BB962C8B-B14F-4D97-AF65-F5344CB8AC3E}">
        <p14:creationId xmlns:p14="http://schemas.microsoft.com/office/powerpoint/2010/main" val="110017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65792BF8-35AF-4AEE-A9FF-EC5ACCE14A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18183A-D5A5-46B9-B1EF-B1B417AC47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3-marker">
            <a:extLst>
              <a:ext uri="{FF2B5EF4-FFF2-40B4-BE49-F238E27FC236}">
                <a16:creationId xmlns:a16="http://schemas.microsoft.com/office/drawing/2014/main" id="{43479C1F-3802-4DEE-8E58-6636971A753A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3-label">
            <a:extLst>
              <a:ext uri="{FF2B5EF4-FFF2-40B4-BE49-F238E27FC236}">
                <a16:creationId xmlns:a16="http://schemas.microsoft.com/office/drawing/2014/main" id="{FD90DC65-37D2-44FE-9F29-D293517E282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M1 PREPROCESSOR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35E557-4032-4EB7-B38A-7D752E366989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원문은 그대로 두고, 찾기 쉬운 복사본을 만듭니다.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1BDA6C-EF43-4D37-9F81-131401BB78A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탐지는 변형 텍스트에서 해도 되지만, 최종 위치는 반드시 원문으로 되돌립니다.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47C852-4500-4A1F-AD72-6C0025F91B4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3/14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C0E87A-A1B6-4F8F-83EA-23594803714A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3381375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69A7FC-0A6D-442E-9A18-AD677070D5EA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30384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쉽게 말하면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C4B712-5EA7-43B5-8478-5B16AFFEC1AD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2952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원문은 원본 사진이고,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정규화/variant는 필터를 씌운 복사본입니다.</a:t>
            </a:r>
          </a:p>
          <a:p>
            <a:endParaRPr sz="1500" b="0">
              <a:solidFill>
                <a:srgbClr val="17202A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잘 보이는 복사본에서 찾되,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실제로 가릴 위치는 원본에서 찾아야 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AA6461-7E76-4D03-A6E0-93338C580DA8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3429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9AABA8-46C1-4621-A10C-17BC2B0026EC}"/>
              </a:ext>
            </a:extLst>
          </p:cNvPr>
          <p:cNvSpPr>
            <a:spLocks noGrp="1"/>
          </p:cNvSpPr>
          <p:nvPr/>
        </p:nvSpPr>
        <p:spPr>
          <a:xfrm>
            <a:off x="4572000" y="2143125"/>
            <a:ext cx="3086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한 줄 흐름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595E7ED-767F-41DE-8C4E-B051461FF8D9}"/>
              </a:ext>
            </a:extLst>
          </p:cNvPr>
          <p:cNvSpPr>
            <a:spLocks noGrp="1"/>
          </p:cNvSpPr>
          <p:nvPr/>
        </p:nvSpPr>
        <p:spPr>
          <a:xfrm>
            <a:off x="4686300" y="247650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21F5A5-4E64-42C6-B51B-828527CC62DC}"/>
              </a:ext>
            </a:extLst>
          </p:cNvPr>
          <p:cNvSpPr>
            <a:spLocks noGrp="1"/>
          </p:cNvSpPr>
          <p:nvPr/>
        </p:nvSpPr>
        <p:spPr>
          <a:xfrm>
            <a:off x="4762500" y="25336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원문 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FDD6A6-01EA-4C6C-9217-F8D1FFFFD458}"/>
              </a:ext>
            </a:extLst>
          </p:cNvPr>
          <p:cNvSpPr>
            <a:spLocks noGrp="1"/>
          </p:cNvSpPr>
          <p:nvPr/>
        </p:nvSpPr>
        <p:spPr>
          <a:xfrm>
            <a:off x="6772275" y="2543175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7486DC-D70B-489D-841C-C7BE079A1B82}"/>
              </a:ext>
            </a:extLst>
          </p:cNvPr>
          <p:cNvSpPr>
            <a:spLocks noGrp="1"/>
          </p:cNvSpPr>
          <p:nvPr/>
        </p:nvSpPr>
        <p:spPr>
          <a:xfrm>
            <a:off x="4686300" y="283845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719110-D8E7-49D9-A264-9937EB4FB18D}"/>
              </a:ext>
            </a:extLst>
          </p:cNvPr>
          <p:cNvSpPr>
            <a:spLocks noGrp="1"/>
          </p:cNvSpPr>
          <p:nvPr/>
        </p:nvSpPr>
        <p:spPr>
          <a:xfrm>
            <a:off x="4762500" y="289560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006A16-A6A7-4E82-9F08-0390EEB245C0}"/>
              </a:ext>
            </a:extLst>
          </p:cNvPr>
          <p:cNvSpPr>
            <a:spLocks noGrp="1"/>
          </p:cNvSpPr>
          <p:nvPr/>
        </p:nvSpPr>
        <p:spPr>
          <a:xfrm>
            <a:off x="6772275" y="2905125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5D3739-D594-4541-8E65-8ADF9F515665}"/>
              </a:ext>
            </a:extLst>
          </p:cNvPr>
          <p:cNvSpPr>
            <a:spLocks noGrp="1"/>
          </p:cNvSpPr>
          <p:nvPr/>
        </p:nvSpPr>
        <p:spPr>
          <a:xfrm>
            <a:off x="4686300" y="320040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DA5F24B-2198-4766-925F-84E75EB514D2}"/>
              </a:ext>
            </a:extLst>
          </p:cNvPr>
          <p:cNvSpPr>
            <a:spLocks noGrp="1"/>
          </p:cNvSpPr>
          <p:nvPr/>
        </p:nvSpPr>
        <p:spPr>
          <a:xfrm>
            <a:off x="4762500" y="32575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variant 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F589C7-8E31-466D-AC15-6F9B5A01F7EF}"/>
              </a:ext>
            </a:extLst>
          </p:cNvPr>
          <p:cNvSpPr>
            <a:spLocks noGrp="1"/>
          </p:cNvSpPr>
          <p:nvPr/>
        </p:nvSpPr>
        <p:spPr>
          <a:xfrm>
            <a:off x="6772275" y="3267075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57E4D8-22BD-4EED-9396-2DF0D863CF60}"/>
              </a:ext>
            </a:extLst>
          </p:cNvPr>
          <p:cNvSpPr>
            <a:spLocks noGrp="1"/>
          </p:cNvSpPr>
          <p:nvPr/>
        </p:nvSpPr>
        <p:spPr>
          <a:xfrm>
            <a:off x="4686300" y="356235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A44CA80-535D-4AC7-9C09-40971A8449D5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offset map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688116-812A-4EBB-9F02-3048B64A0013}"/>
              </a:ext>
            </a:extLst>
          </p:cNvPr>
          <p:cNvSpPr>
            <a:spLocks noGrp="1"/>
          </p:cNvSpPr>
          <p:nvPr/>
        </p:nvSpPr>
        <p:spPr>
          <a:xfrm>
            <a:off x="6772275" y="3629025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2C03B1-E873-4C1C-AD59-618F01B18360}"/>
              </a:ext>
            </a:extLst>
          </p:cNvPr>
          <p:cNvSpPr>
            <a:spLocks noGrp="1"/>
          </p:cNvSpPr>
          <p:nvPr/>
        </p:nvSpPr>
        <p:spPr>
          <a:xfrm>
            <a:off x="4686300" y="392430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0265F9-8619-425B-9C28-ED91A7329AA5}"/>
              </a:ext>
            </a:extLst>
          </p:cNvPr>
          <p:cNvSpPr>
            <a:spLocks noGrp="1"/>
          </p:cNvSpPr>
          <p:nvPr/>
        </p:nvSpPr>
        <p:spPr>
          <a:xfrm>
            <a:off x="4762500" y="39814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다음 탐지로 전달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D39E45-DB54-47E9-99D5-9CA4004A0488}"/>
              </a:ext>
            </a:extLst>
          </p:cNvPr>
          <p:cNvSpPr>
            <a:spLocks noGrp="1"/>
          </p:cNvSpPr>
          <p:nvPr/>
        </p:nvSpPr>
        <p:spPr>
          <a:xfrm>
            <a:off x="8267700" y="2000250"/>
            <a:ext cx="33337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08C65FC-41DF-4CEF-9376-AF3413AA90F4}"/>
              </a:ext>
            </a:extLst>
          </p:cNvPr>
          <p:cNvSpPr>
            <a:spLocks noGrp="1"/>
          </p:cNvSpPr>
          <p:nvPr/>
        </p:nvSpPr>
        <p:spPr>
          <a:xfrm>
            <a:off x="8439150" y="2143125"/>
            <a:ext cx="2990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예시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3775F8-D945-41A2-A0B7-94FABC285395}"/>
              </a:ext>
            </a:extLst>
          </p:cNvPr>
          <p:cNvSpPr>
            <a:spLocks noGrp="1"/>
          </p:cNvSpPr>
          <p:nvPr/>
        </p:nvSpPr>
        <p:spPr>
          <a:xfrm>
            <a:off x="8477250" y="2476500"/>
            <a:ext cx="2914650" cy="53340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A112AD-E76D-4472-A578-F1EE9F2C425B}"/>
              </a:ext>
            </a:extLst>
          </p:cNvPr>
          <p:cNvSpPr>
            <a:spLocks noGrp="1"/>
          </p:cNvSpPr>
          <p:nvPr/>
        </p:nvSpPr>
        <p:spPr>
          <a:xfrm>
            <a:off x="8648700" y="2590800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원문: ０１０－１２３４－５６７８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79CD1AF-D6EA-4E1C-836F-C976864FF015}"/>
              </a:ext>
            </a:extLst>
          </p:cNvPr>
          <p:cNvSpPr>
            <a:spLocks noGrp="1"/>
          </p:cNvSpPr>
          <p:nvPr/>
        </p:nvSpPr>
        <p:spPr>
          <a:xfrm>
            <a:off x="9753600" y="3095625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A5C92C9-8577-4812-94A0-61E8058F0F07}"/>
              </a:ext>
            </a:extLst>
          </p:cNvPr>
          <p:cNvSpPr>
            <a:spLocks noGrp="1"/>
          </p:cNvSpPr>
          <p:nvPr/>
        </p:nvSpPr>
        <p:spPr>
          <a:xfrm>
            <a:off x="8477250" y="3381375"/>
            <a:ext cx="2914650" cy="53340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048109-888F-4C5E-815D-8FAE8703E460}"/>
              </a:ext>
            </a:extLst>
          </p:cNvPr>
          <p:cNvSpPr>
            <a:spLocks noGrp="1"/>
          </p:cNvSpPr>
          <p:nvPr/>
        </p:nvSpPr>
        <p:spPr>
          <a:xfrm>
            <a:off x="8648700" y="349567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탐지용: 010-1234-5678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B26B72-0738-4B31-A546-6867DB880E23}"/>
              </a:ext>
            </a:extLst>
          </p:cNvPr>
          <p:cNvSpPr>
            <a:spLocks noGrp="1"/>
          </p:cNvSpPr>
          <p:nvPr/>
        </p:nvSpPr>
        <p:spPr>
          <a:xfrm>
            <a:off x="1219200" y="4876800"/>
            <a:ext cx="971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71ADE41-8FED-42BC-961C-AFD03C929F82}"/>
              </a:ext>
            </a:extLst>
          </p:cNvPr>
          <p:cNvSpPr>
            <a:spLocks noGrp="1"/>
          </p:cNvSpPr>
          <p:nvPr/>
        </p:nvSpPr>
        <p:spPr>
          <a:xfrm>
            <a:off x="1390650" y="4991100"/>
            <a:ext cx="937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핵심 규칙: span.text == raw_text[start:end] 를 증명할 수 없는 후보는 버립니다.</a:t>
            </a:r>
          </a:p>
        </p:txBody>
      </p:sp>
    </p:spTree>
    <p:extLst>
      <p:ext uri="{BB962C8B-B14F-4D97-AF65-F5344CB8AC3E}">
        <p14:creationId xmlns:p14="http://schemas.microsoft.com/office/powerpoint/2010/main" val="1598257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F2065164-3D22-40F7-831E-BB2D6714F7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9AA864-6C51-4432-A933-0916F7D7C8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4-marker">
            <a:extLst>
              <a:ext uri="{FF2B5EF4-FFF2-40B4-BE49-F238E27FC236}">
                <a16:creationId xmlns:a16="http://schemas.microsoft.com/office/drawing/2014/main" id="{D512EC5B-5E00-4F36-8372-921FE44CDA3E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4-label">
            <a:extLst>
              <a:ext uri="{FF2B5EF4-FFF2-40B4-BE49-F238E27FC236}">
                <a16:creationId xmlns:a16="http://schemas.microsoft.com/office/drawing/2014/main" id="{5D4E4C2B-2266-4EA7-8FDC-A6C91C2D85D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M2 DETECTORS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96FE52-A3A8-4060-9460-A59D1CEFEA44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전화번호, 이메일, 주민번호처럼 모양이 있는 후보를 찾습니다.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026416-BDA1-44B7-8C34-74C08CE3825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regex가 먼저 찾고, validator가 실제 규칙까지 맞는지 다시 확인합니다.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E3F489-5356-42D5-B269-B890976CC3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4/14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91260F-CDF9-4E21-B0FE-4B96A2B37043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4953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329284-332D-4F3D-A09C-10C64A18B09B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regex가 잘 찾는 것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903DA6-063B-4F56-B948-DDB136B78B05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4333875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전화번호: 010-1234-5678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이메일: test@example.com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주민등록번호: 900101-1234568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신용카드 / 사업자번호 / IP / API key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1963B2-C600-43A4-B721-F042A9959C57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4095750" cy="41910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8A7148-1F7D-466F-ACBE-58EF88B21DED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결과는 최종 판단이 아니라 '후보'입니다.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67EF54-6ED4-4552-86E0-B5AD4DF657AE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953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489418-EC04-4B04-88DC-67ACC8D3CA03}"/>
              </a:ext>
            </a:extLst>
          </p:cNvPr>
          <p:cNvSpPr>
            <a:spLocks noGrp="1"/>
          </p:cNvSpPr>
          <p:nvPr/>
        </p:nvSpPr>
        <p:spPr>
          <a:xfrm>
            <a:off x="6362700" y="2143125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validator가 다시 보는 것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4AED3F-5AEC-4FB6-AF8E-7D8DF0EF5502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1428750" cy="32385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D1D3E2D-0E07-4D16-B027-983B42EB040D}"/>
              </a:ext>
            </a:extLst>
          </p:cNvPr>
          <p:cNvSpPr>
            <a:spLocks noGrp="1"/>
          </p:cNvSpPr>
          <p:nvPr/>
        </p:nvSpPr>
        <p:spPr>
          <a:xfrm>
            <a:off x="6591300" y="2552700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신용카드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2E280B-8DA6-44A0-B774-1CAD0B6FD95B}"/>
              </a:ext>
            </a:extLst>
          </p:cNvPr>
          <p:cNvSpPr>
            <a:spLocks noGrp="1"/>
          </p:cNvSpPr>
          <p:nvPr/>
        </p:nvSpPr>
        <p:spPr>
          <a:xfrm>
            <a:off x="8058150" y="24765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125EF6-9C67-42A0-972D-FD2F0DD55BBE}"/>
              </a:ext>
            </a:extLst>
          </p:cNvPr>
          <p:cNvSpPr>
            <a:spLocks noGrp="1"/>
          </p:cNvSpPr>
          <p:nvPr/>
        </p:nvSpPr>
        <p:spPr>
          <a:xfrm>
            <a:off x="8420100" y="25527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Luhn checksum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D5489AE-87AA-4946-83B7-FF461CC69576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1428750" cy="32385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2C6457-006B-4195-9E27-389C2BADFA19}"/>
              </a:ext>
            </a:extLst>
          </p:cNvPr>
          <p:cNvSpPr>
            <a:spLocks noGrp="1"/>
          </p:cNvSpPr>
          <p:nvPr/>
        </p:nvSpPr>
        <p:spPr>
          <a:xfrm>
            <a:off x="6591300" y="3009900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사업자번호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661935-1CB0-4291-8F17-5CA25BD8ED78}"/>
              </a:ext>
            </a:extLst>
          </p:cNvPr>
          <p:cNvSpPr>
            <a:spLocks noGrp="1"/>
          </p:cNvSpPr>
          <p:nvPr/>
        </p:nvSpPr>
        <p:spPr>
          <a:xfrm>
            <a:off x="8058150" y="29337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0688F-37C3-45EF-957C-969FF0995821}"/>
              </a:ext>
            </a:extLst>
          </p:cNvPr>
          <p:cNvSpPr>
            <a:spLocks noGrp="1"/>
          </p:cNvSpPr>
          <p:nvPr/>
        </p:nvSpPr>
        <p:spPr>
          <a:xfrm>
            <a:off x="8420100" y="30099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사업자번호 checksum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1EBCB7-1ED2-48F6-A072-2422E51B1BE6}"/>
              </a:ext>
            </a:extLst>
          </p:cNvPr>
          <p:cNvSpPr>
            <a:spLocks noGrp="1"/>
          </p:cNvSpPr>
          <p:nvPr/>
        </p:nvSpPr>
        <p:spPr>
          <a:xfrm>
            <a:off x="6515100" y="3409950"/>
            <a:ext cx="1428750" cy="32385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1B2D28B-CD0D-4980-BEEC-CB3C638EAF95}"/>
              </a:ext>
            </a:extLst>
          </p:cNvPr>
          <p:cNvSpPr>
            <a:spLocks noGrp="1"/>
          </p:cNvSpPr>
          <p:nvPr/>
        </p:nvSpPr>
        <p:spPr>
          <a:xfrm>
            <a:off x="6591300" y="3467100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주민번호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38859-B096-4DCC-94E3-5E217787AE16}"/>
              </a:ext>
            </a:extLst>
          </p:cNvPr>
          <p:cNvSpPr>
            <a:spLocks noGrp="1"/>
          </p:cNvSpPr>
          <p:nvPr/>
        </p:nvSpPr>
        <p:spPr>
          <a:xfrm>
            <a:off x="8058150" y="33909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C4ADB9D-A383-463B-A925-6E0FD006639E}"/>
              </a:ext>
            </a:extLst>
          </p:cNvPr>
          <p:cNvSpPr>
            <a:spLocks noGrp="1"/>
          </p:cNvSpPr>
          <p:nvPr/>
        </p:nvSpPr>
        <p:spPr>
          <a:xfrm>
            <a:off x="8420100" y="3467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날짜/성별코드/checksum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04A3787-45FF-4CDA-9D32-FF8917A1D11F}"/>
              </a:ext>
            </a:extLst>
          </p:cNvPr>
          <p:cNvSpPr>
            <a:spLocks noGrp="1"/>
          </p:cNvSpPr>
          <p:nvPr/>
        </p:nvSpPr>
        <p:spPr>
          <a:xfrm>
            <a:off x="6515100" y="3867150"/>
            <a:ext cx="1428750" cy="32385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5BCCE28-FB55-4108-B8BF-DD0A94761057}"/>
              </a:ext>
            </a:extLst>
          </p:cNvPr>
          <p:cNvSpPr>
            <a:spLocks noGrp="1"/>
          </p:cNvSpPr>
          <p:nvPr/>
        </p:nvSpPr>
        <p:spPr>
          <a:xfrm>
            <a:off x="6591300" y="3924300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F0E6EF-B5DF-44E8-BD90-F677D904FFC0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3F9D57C-BAC7-4996-8652-10890C47BB58}"/>
              </a:ext>
            </a:extLst>
          </p:cNvPr>
          <p:cNvSpPr>
            <a:spLocks noGrp="1"/>
          </p:cNvSpPr>
          <p:nvPr/>
        </p:nvSpPr>
        <p:spPr>
          <a:xfrm>
            <a:off x="8420100" y="39243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기본 형식 검사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CA18344-F031-4082-BBBC-51A447295799}"/>
              </a:ext>
            </a:extLst>
          </p:cNvPr>
          <p:cNvSpPr>
            <a:spLocks noGrp="1"/>
          </p:cNvSpPr>
          <p:nvPr/>
        </p:nvSpPr>
        <p:spPr>
          <a:xfrm>
            <a:off x="1562100" y="5286375"/>
            <a:ext cx="904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E99F0FD-EB3D-4F10-981A-936AEFAB89C3}"/>
              </a:ext>
            </a:extLst>
          </p:cNvPr>
          <p:cNvSpPr>
            <a:spLocks noGrp="1"/>
          </p:cNvSpPr>
          <p:nvPr/>
        </p:nvSpPr>
        <p:spPr>
          <a:xfrm>
            <a:off x="1733550" y="5400675"/>
            <a:ext cx="870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M1에서 만든 탐지용 텍스트에서 찾아도, M2 후보는 반드시 원문 기준 start/end로 만들어집니다.</a:t>
            </a:r>
          </a:p>
        </p:txBody>
      </p:sp>
    </p:spTree>
    <p:extLst>
      <p:ext uri="{BB962C8B-B14F-4D97-AF65-F5344CB8AC3E}">
        <p14:creationId xmlns:p14="http://schemas.microsoft.com/office/powerpoint/2010/main" val="133533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C2773B-325D-427F-8860-C5EBDD0691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DD38EB-3324-4508-983B-09F0A3B32E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5-marker">
            <a:extLst>
              <a:ext uri="{FF2B5EF4-FFF2-40B4-BE49-F238E27FC236}">
                <a16:creationId xmlns:a16="http://schemas.microsoft.com/office/drawing/2014/main" id="{336AAAEE-1292-4DC7-8979-C0D580FB84FA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5-label">
            <a:extLst>
              <a:ext uri="{FF2B5EF4-FFF2-40B4-BE49-F238E27FC236}">
                <a16:creationId xmlns:a16="http://schemas.microsoft.com/office/drawing/2014/main" id="{A1763BB4-F90A-4517-88D2-C4E53A7F651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M3 KOREAN BOUNDARY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90F2CA-5535-42EF-BCAC-B937AFCADA2D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개인정보 본체와 한국어 조사/어미를 분리합니다.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161EAA-DA0F-4D8B-ABCB-480C7763718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그래야 마스킹 후에도 문장이 자연스럽고, span 경계도 정확해집니다.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66713A-5B64-4563-9FA9-BE375C55BB9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5/14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E2BE12-58E3-4EFE-80D2-65FEBCE5FD66}"/>
              </a:ext>
            </a:extLst>
          </p:cNvPr>
          <p:cNvSpPr>
            <a:spLocks noGrp="1"/>
          </p:cNvSpPr>
          <p:nvPr/>
        </p:nvSpPr>
        <p:spPr>
          <a:xfrm>
            <a:off x="952500" y="20764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후보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C8D3CB-6187-450F-982E-F326323C2E1E}"/>
              </a:ext>
            </a:extLst>
          </p:cNvPr>
          <p:cNvSpPr>
            <a:spLocks noGrp="1"/>
          </p:cNvSpPr>
          <p:nvPr/>
        </p:nvSpPr>
        <p:spPr>
          <a:xfrm>
            <a:off x="3667125" y="20764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본체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0D8608-A49C-462F-8E8E-BFD01DB18461}"/>
              </a:ext>
            </a:extLst>
          </p:cNvPr>
          <p:cNvSpPr>
            <a:spLocks noGrp="1"/>
          </p:cNvSpPr>
          <p:nvPr/>
        </p:nvSpPr>
        <p:spPr>
          <a:xfrm>
            <a:off x="6381750" y="20764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suffix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A76971-034B-4D87-85ED-79DB444DB68C}"/>
              </a:ext>
            </a:extLst>
          </p:cNvPr>
          <p:cNvSpPr>
            <a:spLocks noGrp="1"/>
          </p:cNvSpPr>
          <p:nvPr/>
        </p:nvSpPr>
        <p:spPr>
          <a:xfrm>
            <a:off x="9096375" y="20764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마스킹 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D218CD-B8F3-49FC-A74E-CEFC5BD2B73C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BBE1D7-FDE3-40C7-8CFF-BC2EB3472AD3}"/>
              </a:ext>
            </a:extLst>
          </p:cNvPr>
          <p:cNvSpPr>
            <a:spLocks noGrp="1"/>
          </p:cNvSpPr>
          <p:nvPr/>
        </p:nvSpPr>
        <p:spPr>
          <a:xfrm>
            <a:off x="857250" y="25812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EE8912-2054-45F1-BEB8-145488A75957}"/>
              </a:ext>
            </a:extLst>
          </p:cNvPr>
          <p:cNvSpPr>
            <a:spLocks noGrp="1"/>
          </p:cNvSpPr>
          <p:nvPr/>
        </p:nvSpPr>
        <p:spPr>
          <a:xfrm>
            <a:off x="3476625" y="24574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D5C625-0FD6-423A-9168-72E4989E2543}"/>
              </a:ext>
            </a:extLst>
          </p:cNvPr>
          <p:cNvSpPr>
            <a:spLocks noGrp="1"/>
          </p:cNvSpPr>
          <p:nvPr/>
        </p:nvSpPr>
        <p:spPr>
          <a:xfrm>
            <a:off x="3571875" y="25812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홍길동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16961D-D658-4001-AA4D-9D8DA7ABF378}"/>
              </a:ext>
            </a:extLst>
          </p:cNvPr>
          <p:cNvSpPr>
            <a:spLocks noGrp="1"/>
          </p:cNvSpPr>
          <p:nvPr/>
        </p:nvSpPr>
        <p:spPr>
          <a:xfrm>
            <a:off x="6191250" y="2457450"/>
            <a:ext cx="2333625" cy="4953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58EE47-B86E-450D-BC8A-27C8BBE41459}"/>
              </a:ext>
            </a:extLst>
          </p:cNvPr>
          <p:cNvSpPr>
            <a:spLocks noGrp="1"/>
          </p:cNvSpPr>
          <p:nvPr/>
        </p:nvSpPr>
        <p:spPr>
          <a:xfrm>
            <a:off x="6286500" y="25812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7C98CF-8987-4B68-AE06-C881284C2B97}"/>
              </a:ext>
            </a:extLst>
          </p:cNvPr>
          <p:cNvSpPr>
            <a:spLocks noGrp="1"/>
          </p:cNvSpPr>
          <p:nvPr/>
        </p:nvSpPr>
        <p:spPr>
          <a:xfrm>
            <a:off x="8905875" y="24574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208877-DDF3-440E-8E55-685121810282}"/>
              </a:ext>
            </a:extLst>
          </p:cNvPr>
          <p:cNvSpPr>
            <a:spLocks noGrp="1"/>
          </p:cNvSpPr>
          <p:nvPr/>
        </p:nvSpPr>
        <p:spPr>
          <a:xfrm>
            <a:off x="9001125" y="25812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[PERSON_1]이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0A5121-B9DA-4E03-836A-0B71CAFA0EEB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7C94DE-98FD-4EE3-9B57-DFF4190A624E}"/>
              </a:ext>
            </a:extLst>
          </p:cNvPr>
          <p:cNvSpPr>
            <a:spLocks noGrp="1"/>
          </p:cNvSpPr>
          <p:nvPr/>
        </p:nvSpPr>
        <p:spPr>
          <a:xfrm>
            <a:off x="857250" y="33051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김민수에게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A6406D-B1EB-4F72-9FC3-90DEC597F7BB}"/>
              </a:ext>
            </a:extLst>
          </p:cNvPr>
          <p:cNvSpPr>
            <a:spLocks noGrp="1"/>
          </p:cNvSpPr>
          <p:nvPr/>
        </p:nvSpPr>
        <p:spPr>
          <a:xfrm>
            <a:off x="3476625" y="31813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CC95384-22CA-4D35-9850-7F609B8098E8}"/>
              </a:ext>
            </a:extLst>
          </p:cNvPr>
          <p:cNvSpPr>
            <a:spLocks noGrp="1"/>
          </p:cNvSpPr>
          <p:nvPr/>
        </p:nvSpPr>
        <p:spPr>
          <a:xfrm>
            <a:off x="3571875" y="33051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김민수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3346244-9E6F-4897-B950-3589AF1F62E1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2333625" cy="4953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0CBB89-6CFC-4C0F-982A-2DE94C5D500D}"/>
              </a:ext>
            </a:extLst>
          </p:cNvPr>
          <p:cNvSpPr>
            <a:spLocks noGrp="1"/>
          </p:cNvSpPr>
          <p:nvPr/>
        </p:nvSpPr>
        <p:spPr>
          <a:xfrm>
            <a:off x="6286500" y="33051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에게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94F352-3AFA-4E66-B70B-87B78C53443A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E5FFBE-5954-4F5E-9C94-B82F86D28688}"/>
              </a:ext>
            </a:extLst>
          </p:cNvPr>
          <p:cNvSpPr>
            <a:spLocks noGrp="1"/>
          </p:cNvSpPr>
          <p:nvPr/>
        </p:nvSpPr>
        <p:spPr>
          <a:xfrm>
            <a:off x="9001125" y="33051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[PERSON_1]에게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A149FBE-5DB0-4ABC-954C-72FC727925B3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366053-6114-43A9-9290-034107BA09B5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A7D0581-11A6-4F68-AC51-366ED9D1F4EE}"/>
              </a:ext>
            </a:extLst>
          </p:cNvPr>
          <p:cNvSpPr>
            <a:spLocks noGrp="1"/>
          </p:cNvSpPr>
          <p:nvPr/>
        </p:nvSpPr>
        <p:spPr>
          <a:xfrm>
            <a:off x="3476625" y="39052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FF551B-7694-42DB-B5A6-B45303CBE63B}"/>
              </a:ext>
            </a:extLst>
          </p:cNvPr>
          <p:cNvSpPr>
            <a:spLocks noGrp="1"/>
          </p:cNvSpPr>
          <p:nvPr/>
        </p:nvSpPr>
        <p:spPr>
          <a:xfrm>
            <a:off x="3571875" y="40290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010-1234-5678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A9F0239-FEAC-4A68-9DEB-47B7E322F288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2333625" cy="4953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5EF878-4E86-4B6E-8F10-02B072F8C899}"/>
              </a:ext>
            </a:extLst>
          </p:cNvPr>
          <p:cNvSpPr>
            <a:spLocks noGrp="1"/>
          </p:cNvSpPr>
          <p:nvPr/>
        </p:nvSpPr>
        <p:spPr>
          <a:xfrm>
            <a:off x="6286500" y="40290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AA5C5C-A06B-474B-9A0D-348F51516AF8}"/>
              </a:ext>
            </a:extLst>
          </p:cNvPr>
          <p:cNvSpPr>
            <a:spLocks noGrp="1"/>
          </p:cNvSpPr>
          <p:nvPr/>
        </p:nvSpPr>
        <p:spPr>
          <a:xfrm>
            <a:off x="8905875" y="39052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A2D8017-DD82-4CEC-B2DC-4FDA59F80491}"/>
              </a:ext>
            </a:extLst>
          </p:cNvPr>
          <p:cNvSpPr>
            <a:spLocks noGrp="1"/>
          </p:cNvSpPr>
          <p:nvPr/>
        </p:nvSpPr>
        <p:spPr>
          <a:xfrm>
            <a:off x="9001125" y="40290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[PHONE_1]로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84A39F3-4010-4A18-AF40-EBD80DDE05C2}"/>
              </a:ext>
            </a:extLst>
          </p:cNvPr>
          <p:cNvSpPr>
            <a:spLocks noGrp="1"/>
          </p:cNvSpPr>
          <p:nvPr/>
        </p:nvSpPr>
        <p:spPr>
          <a:xfrm>
            <a:off x="762000" y="46291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51509EB-BE6F-4C74-99E2-B338ACFFD14C}"/>
              </a:ext>
            </a:extLst>
          </p:cNvPr>
          <p:cNvSpPr>
            <a:spLocks noGrp="1"/>
          </p:cNvSpPr>
          <p:nvPr/>
        </p:nvSpPr>
        <p:spPr>
          <a:xfrm>
            <a:off x="857250" y="47529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test@example.com입니다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F457914-D3DE-428C-8CCD-469E40A00211}"/>
              </a:ext>
            </a:extLst>
          </p:cNvPr>
          <p:cNvSpPr>
            <a:spLocks noGrp="1"/>
          </p:cNvSpPr>
          <p:nvPr/>
        </p:nvSpPr>
        <p:spPr>
          <a:xfrm>
            <a:off x="3476625" y="46291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4684CA3-5DFA-485D-8200-89C0F59F6093}"/>
              </a:ext>
            </a:extLst>
          </p:cNvPr>
          <p:cNvSpPr>
            <a:spLocks noGrp="1"/>
          </p:cNvSpPr>
          <p:nvPr/>
        </p:nvSpPr>
        <p:spPr>
          <a:xfrm>
            <a:off x="3571875" y="47529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test@example.com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72A57B6-6937-4B4B-BAAA-C1B1C3BA5E1B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2333625" cy="4953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B6E1F43-3FA9-49AE-A124-7F599D470FA9}"/>
              </a:ext>
            </a:extLst>
          </p:cNvPr>
          <p:cNvSpPr>
            <a:spLocks noGrp="1"/>
          </p:cNvSpPr>
          <p:nvPr/>
        </p:nvSpPr>
        <p:spPr>
          <a:xfrm>
            <a:off x="6286500" y="47529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입니다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9214DE5-473D-4B3C-95DC-A740A270C0FF}"/>
              </a:ext>
            </a:extLst>
          </p:cNvPr>
          <p:cNvSpPr>
            <a:spLocks noGrp="1"/>
          </p:cNvSpPr>
          <p:nvPr/>
        </p:nvSpPr>
        <p:spPr>
          <a:xfrm>
            <a:off x="8905875" y="4629150"/>
            <a:ext cx="2333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7530A8-CA84-4176-B5D5-48CD45BE6C5E}"/>
              </a:ext>
            </a:extLst>
          </p:cNvPr>
          <p:cNvSpPr>
            <a:spLocks noGrp="1"/>
          </p:cNvSpPr>
          <p:nvPr/>
        </p:nvSpPr>
        <p:spPr>
          <a:xfrm>
            <a:off x="9001125" y="4752975"/>
            <a:ext cx="2143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[EMAIL_1]입니다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EDA749A-803C-4066-BAB6-7EB230B725E6}"/>
              </a:ext>
            </a:extLst>
          </p:cNvPr>
          <p:cNvSpPr>
            <a:spLocks noGrp="1"/>
          </p:cNvSpPr>
          <p:nvPr/>
        </p:nvSpPr>
        <p:spPr>
          <a:xfrm>
            <a:off x="1752600" y="5600700"/>
            <a:ext cx="86677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046C08-331C-4105-963A-CCE2B9539859}"/>
              </a:ext>
            </a:extLst>
          </p:cNvPr>
          <p:cNvSpPr>
            <a:spLocks noGrp="1"/>
          </p:cNvSpPr>
          <p:nvPr/>
        </p:nvSpPr>
        <p:spPr>
          <a:xfrm>
            <a:off x="1924050" y="5715000"/>
            <a:ext cx="832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M3는 최종 판단을 하지 않습니다. 정확한 범위만 다듬어 뒤 단계로 넘깁니다.</a:t>
            </a:r>
          </a:p>
        </p:txBody>
      </p:sp>
    </p:spTree>
    <p:extLst>
      <p:ext uri="{BB962C8B-B14F-4D97-AF65-F5344CB8AC3E}">
        <p14:creationId xmlns:p14="http://schemas.microsoft.com/office/powerpoint/2010/main" val="200087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111515-7AD5-471F-AF69-6B3CC28B5B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C2D276-2E70-4A75-A3EA-470ED339F5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6-marker">
            <a:extLst>
              <a:ext uri="{FF2B5EF4-FFF2-40B4-BE49-F238E27FC236}">
                <a16:creationId xmlns:a16="http://schemas.microsoft.com/office/drawing/2014/main" id="{2B7A5F0C-95D3-4329-965A-61627F02892F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6-label">
            <a:extLst>
              <a:ext uri="{FF2B5EF4-FFF2-40B4-BE49-F238E27FC236}">
                <a16:creationId xmlns:a16="http://schemas.microsoft.com/office/drawing/2014/main" id="{F1486637-A05E-485E-9A61-CAF232DCC12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M4 CONTEXT SCORER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7D0F85-D286-42A7-A91B-9015396076F0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주변 문맥을 보고 후보의 신뢰도를 조정합니다.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4C751B-067B-47F0-8F4C-2A89A62E057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사전에서 찾았다고 바로 개인정보로 믿지 않고, 주변 단서를 함께 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8A041D-E9A0-4C72-B2EA-C9CB51EB5B2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6/14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BFBE-EC1D-42B8-B296-4966304F888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680AF8-12F2-4F37-B5B8-527F9DCE77E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990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낮게 봐야 하는 경우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AEDF1F-E74F-48F4-AFAD-BD60C798FEAB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857500" cy="68580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2F16A4-C441-43CA-A2F4-6AB93D573F80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2514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오늘 하늘이 맑네요.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425E96-6DC5-4600-9675-32ABEDDAF11F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2714625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하늘은 이름일 수도 있음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하지만 날씨 문맥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고객명/연락처 단서 없음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71DF54-4966-4799-8F46-5A405EC4A271}"/>
              </a:ext>
            </a:extLst>
          </p:cNvPr>
          <p:cNvSpPr>
            <a:spLocks noGrp="1"/>
          </p:cNvSpPr>
          <p:nvPr/>
        </p:nvSpPr>
        <p:spPr>
          <a:xfrm>
            <a:off x="4438650" y="1952625"/>
            <a:ext cx="3333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B1C258-2F2F-4142-A2CA-3B4464C3A180}"/>
              </a:ext>
            </a:extLst>
          </p:cNvPr>
          <p:cNvSpPr>
            <a:spLocks noGrp="1"/>
          </p:cNvSpPr>
          <p:nvPr/>
        </p:nvSpPr>
        <p:spPr>
          <a:xfrm>
            <a:off x="4610100" y="2095500"/>
            <a:ext cx="2990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높게 봐야 하는 경우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24FED0-E9AA-4257-917A-A84FAE296E72}"/>
              </a:ext>
            </a:extLst>
          </p:cNvPr>
          <p:cNvSpPr>
            <a:spLocks noGrp="1"/>
          </p:cNvSpPr>
          <p:nvPr/>
        </p:nvSpPr>
        <p:spPr>
          <a:xfrm>
            <a:off x="4667250" y="2457450"/>
            <a:ext cx="2857500" cy="68580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E00AB7-1097-4BF1-9800-539393FE1788}"/>
              </a:ext>
            </a:extLst>
          </p:cNvPr>
          <p:cNvSpPr>
            <a:spLocks noGrp="1"/>
          </p:cNvSpPr>
          <p:nvPr/>
        </p:nvSpPr>
        <p:spPr>
          <a:xfrm>
            <a:off x="4838700" y="2571750"/>
            <a:ext cx="2514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고객명 하늘,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연락처 010-1111-2222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70F192-394C-4BE4-94DF-7476B2832633}"/>
              </a:ext>
            </a:extLst>
          </p:cNvPr>
          <p:cNvSpPr>
            <a:spLocks noGrp="1"/>
          </p:cNvSpPr>
          <p:nvPr/>
        </p:nvSpPr>
        <p:spPr>
          <a:xfrm>
            <a:off x="4743450" y="3409950"/>
            <a:ext cx="2724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고객명 label 존재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전화번호와 함께 등장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PERSON score 상승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F94709-203A-4AE5-882B-BB5A8A5D6404}"/>
              </a:ext>
            </a:extLst>
          </p:cNvPr>
          <p:cNvSpPr>
            <a:spLocks noGrp="1"/>
          </p:cNvSpPr>
          <p:nvPr/>
        </p:nvSpPr>
        <p:spPr>
          <a:xfrm>
            <a:off x="8267700" y="1952625"/>
            <a:ext cx="3333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600F92-7FFB-4CB1-A2EC-AC1A9D835678}"/>
              </a:ext>
            </a:extLst>
          </p:cNvPr>
          <p:cNvSpPr>
            <a:spLocks noGrp="1"/>
          </p:cNvSpPr>
          <p:nvPr/>
        </p:nvSpPr>
        <p:spPr>
          <a:xfrm>
            <a:off x="8439150" y="2095500"/>
            <a:ext cx="2990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숫자도 문맥을 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A7264A-5DD8-4ACE-B11E-B5ABBF29DA46}"/>
              </a:ext>
            </a:extLst>
          </p:cNvPr>
          <p:cNvSpPr>
            <a:spLocks noGrp="1"/>
          </p:cNvSpPr>
          <p:nvPr/>
        </p:nvSpPr>
        <p:spPr>
          <a:xfrm>
            <a:off x="8496300" y="2457450"/>
            <a:ext cx="2857500" cy="6858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B0D566-8F65-4528-A4E9-A4E37124875D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514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신한은행 계좌</a:t>
            </a:r>
          </a:p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110-123-456789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DBFE8BD-7CC5-443F-9EC2-01AA18C63CD7}"/>
              </a:ext>
            </a:extLst>
          </p:cNvPr>
          <p:cNvSpPr>
            <a:spLocks noGrp="1"/>
          </p:cNvSpPr>
          <p:nvPr/>
        </p:nvSpPr>
        <p:spPr>
          <a:xfrm>
            <a:off x="8572500" y="3409950"/>
            <a:ext cx="2724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은행 + 계좌 + 입금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BANK_ACCOUNT 가능성 상승</a:t>
            </a:r>
          </a:p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예시 문맥이면 낮춤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33686-A429-4288-9012-24A0B1CC1C69}"/>
              </a:ext>
            </a:extLst>
          </p:cNvPr>
          <p:cNvSpPr>
            <a:spLocks noGrp="1"/>
          </p:cNvSpPr>
          <p:nvPr/>
        </p:nvSpPr>
        <p:spPr>
          <a:xfrm>
            <a:off x="1600200" y="5334000"/>
            <a:ext cx="8991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CB4AA9-C041-4233-A3D9-8CC0B45D7ABB}"/>
              </a:ext>
            </a:extLst>
          </p:cNvPr>
          <p:cNvSpPr>
            <a:spLocks noGrp="1"/>
          </p:cNvSpPr>
          <p:nvPr/>
        </p:nvSpPr>
        <p:spPr>
          <a:xfrm>
            <a:off x="1771650" y="5448300"/>
            <a:ext cx="8648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원칙: dictionary-only PERSON_NAME은 high confidence로 올리지 않습니다. 문맥이 있어야 강해집니다.</a:t>
            </a:r>
          </a:p>
        </p:txBody>
      </p:sp>
    </p:spTree>
    <p:extLst>
      <p:ext uri="{BB962C8B-B14F-4D97-AF65-F5344CB8AC3E}">
        <p14:creationId xmlns:p14="http://schemas.microsoft.com/office/powerpoint/2010/main" val="139225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2A758978-B658-424F-BA05-C78469BB07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4431BD-AF28-4230-B0C3-7CF0C196BE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7-marker">
            <a:extLst>
              <a:ext uri="{FF2B5EF4-FFF2-40B4-BE49-F238E27FC236}">
                <a16:creationId xmlns:a16="http://schemas.microsoft.com/office/drawing/2014/main" id="{882A607F-EE90-4BEB-9AD7-8C6B132EB4DF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785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7-label">
            <a:extLst>
              <a:ext uri="{FF2B5EF4-FFF2-40B4-BE49-F238E27FC236}">
                <a16:creationId xmlns:a16="http://schemas.microsoft.com/office/drawing/2014/main" id="{D5E98759-2390-4662-8C28-6887B88A448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M5 NER INTERFACE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78A89C-7774-4094-9243-E16954FCD0BD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모델이 후보를 낼 수 있는 통로를 만듭니다.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D28CB3-7840-4B9D-9C14-69941251201D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NER는 최종 판정자가 아니라, regex로 찾기 어려운 의미형 후보를 추가하는 역할입니다.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6DD69F-B2D5-458E-A127-2EE1E5BEB18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7/14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DD1C07-F993-4EF7-8A76-D2C6B58CCD18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476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CE1D98-4FE8-4ADB-BF8E-ABB122992C1B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413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왜 필요한가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E3E752-2E40-4659-AC43-D9EA1248BD58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3857625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홍길동 같은 사람 이름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서울시 강남구 같은 주소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기관명이나 조직명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모양만으로는 찾기 어려운 후보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52E0C2-86E0-4620-9A1D-95A544D0F559}"/>
              </a:ext>
            </a:extLst>
          </p:cNvPr>
          <p:cNvSpPr>
            <a:spLocks noGrp="1"/>
          </p:cNvSpPr>
          <p:nvPr/>
        </p:nvSpPr>
        <p:spPr>
          <a:xfrm>
            <a:off x="914400" y="4143375"/>
            <a:ext cx="3714750" cy="41910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CD6A7A-F9AE-409C-9CD6-1F5C822E7575}"/>
              </a:ext>
            </a:extLst>
          </p:cNvPr>
          <p:cNvSpPr>
            <a:spLocks noGrp="1"/>
          </p:cNvSpPr>
          <p:nvPr/>
        </p:nvSpPr>
        <p:spPr>
          <a:xfrm>
            <a:off x="1066800" y="42386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실제 모델이 없어도 pipeline은 돌아가야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179296-D16A-4210-BC6D-8E07AC52D317}"/>
              </a:ext>
            </a:extLst>
          </p:cNvPr>
          <p:cNvSpPr>
            <a:spLocks noGrp="1"/>
          </p:cNvSpPr>
          <p:nvPr/>
        </p:nvSpPr>
        <p:spPr>
          <a:xfrm>
            <a:off x="5905500" y="2000250"/>
            <a:ext cx="5334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D7D628-FBBC-4C10-839B-0A0CD5E5C827}"/>
              </a:ext>
            </a:extLst>
          </p:cNvPr>
          <p:cNvSpPr>
            <a:spLocks noGrp="1"/>
          </p:cNvSpPr>
          <p:nvPr/>
        </p:nvSpPr>
        <p:spPr>
          <a:xfrm>
            <a:off x="6076950" y="2143125"/>
            <a:ext cx="499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label mapping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A9DE6A-791A-498E-9C57-32C525D6F21F}"/>
              </a:ext>
            </a:extLst>
          </p:cNvPr>
          <p:cNvSpPr>
            <a:spLocks noGrp="1"/>
          </p:cNvSpPr>
          <p:nvPr/>
        </p:nvSpPr>
        <p:spPr>
          <a:xfrm>
            <a:off x="6419850" y="2571750"/>
            <a:ext cx="1524000" cy="3238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6D52C2-103E-4E0C-86F0-573233B36454}"/>
              </a:ext>
            </a:extLst>
          </p:cNvPr>
          <p:cNvSpPr>
            <a:spLocks noGrp="1"/>
          </p:cNvSpPr>
          <p:nvPr/>
        </p:nvSpPr>
        <p:spPr>
          <a:xfrm>
            <a:off x="6496050" y="26289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NAME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A42900D-F8CF-4543-B90D-24CC6506B8C7}"/>
              </a:ext>
            </a:extLst>
          </p:cNvPr>
          <p:cNvSpPr>
            <a:spLocks noGrp="1"/>
          </p:cNvSpPr>
          <p:nvPr/>
        </p:nvSpPr>
        <p:spPr>
          <a:xfrm>
            <a:off x="8153400" y="25527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BEC863-900D-494D-8AAE-EF7C7C87DDBE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713147-5533-4F5A-892F-208D18BBE358}"/>
              </a:ext>
            </a:extLst>
          </p:cNvPr>
          <p:cNvSpPr>
            <a:spLocks noGrp="1"/>
          </p:cNvSpPr>
          <p:nvPr/>
        </p:nvSpPr>
        <p:spPr>
          <a:xfrm>
            <a:off x="8743950" y="262890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PERSON_NAME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C394BC-B279-403C-8C35-43CBA15EE000}"/>
              </a:ext>
            </a:extLst>
          </p:cNvPr>
          <p:cNvSpPr>
            <a:spLocks noGrp="1"/>
          </p:cNvSpPr>
          <p:nvPr/>
        </p:nvSpPr>
        <p:spPr>
          <a:xfrm>
            <a:off x="6419850" y="3162300"/>
            <a:ext cx="1524000" cy="3238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AF5E5B-C606-48FD-8F4C-485F3ED61859}"/>
              </a:ext>
            </a:extLst>
          </p:cNvPr>
          <p:cNvSpPr>
            <a:spLocks noGrp="1"/>
          </p:cNvSpPr>
          <p:nvPr/>
        </p:nvSpPr>
        <p:spPr>
          <a:xfrm>
            <a:off x="6496050" y="321945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ADDRESS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1787CFF-3056-4BCE-BBAC-7BF28DF8F4EA}"/>
              </a:ext>
            </a:extLst>
          </p:cNvPr>
          <p:cNvSpPr>
            <a:spLocks noGrp="1"/>
          </p:cNvSpPr>
          <p:nvPr/>
        </p:nvSpPr>
        <p:spPr>
          <a:xfrm>
            <a:off x="8153400" y="31432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7F3051-48C6-41FD-8FD0-373882175662}"/>
              </a:ext>
            </a:extLst>
          </p:cNvPr>
          <p:cNvSpPr>
            <a:spLocks noGrp="1"/>
          </p:cNvSpPr>
          <p:nvPr/>
        </p:nvSpPr>
        <p:spPr>
          <a:xfrm>
            <a:off x="8667750" y="316230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E5CAED-1CD2-46EB-BCD7-168483E43BB0}"/>
              </a:ext>
            </a:extLst>
          </p:cNvPr>
          <p:cNvSpPr>
            <a:spLocks noGrp="1"/>
          </p:cNvSpPr>
          <p:nvPr/>
        </p:nvSpPr>
        <p:spPr>
          <a:xfrm>
            <a:off x="8743950" y="32194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ADDRESS_FULL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657B3A-474D-4618-A3D6-CE56328A7354}"/>
              </a:ext>
            </a:extLst>
          </p:cNvPr>
          <p:cNvSpPr>
            <a:spLocks noGrp="1"/>
          </p:cNvSpPr>
          <p:nvPr/>
        </p:nvSpPr>
        <p:spPr>
          <a:xfrm>
            <a:off x="6419850" y="3752850"/>
            <a:ext cx="1524000" cy="3238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1BCE47C-186C-43E6-B935-4310CA994C39}"/>
              </a:ext>
            </a:extLst>
          </p:cNvPr>
          <p:cNvSpPr>
            <a:spLocks noGrp="1"/>
          </p:cNvSpPr>
          <p:nvPr/>
        </p:nvSpPr>
        <p:spPr>
          <a:xfrm>
            <a:off x="6496050" y="3810000"/>
            <a:ext cx="1371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ORG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9373A7-0D5C-459F-9EF7-44FBCF6847CF}"/>
              </a:ext>
            </a:extLst>
          </p:cNvPr>
          <p:cNvSpPr>
            <a:spLocks noGrp="1"/>
          </p:cNvSpPr>
          <p:nvPr/>
        </p:nvSpPr>
        <p:spPr>
          <a:xfrm>
            <a:off x="8153400" y="37338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62B60D3-4E39-4DE1-89FB-2AEA1F4D1351}"/>
              </a:ext>
            </a:extLst>
          </p:cNvPr>
          <p:cNvSpPr>
            <a:spLocks noGrp="1"/>
          </p:cNvSpPr>
          <p:nvPr/>
        </p:nvSpPr>
        <p:spPr>
          <a:xfrm>
            <a:off x="8667750" y="3752850"/>
            <a:ext cx="2000250" cy="3238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A88B30-B414-455A-BCA0-8B264BBA52F7}"/>
              </a:ext>
            </a:extLst>
          </p:cNvPr>
          <p:cNvSpPr>
            <a:spLocks noGrp="1"/>
          </p:cNvSpPr>
          <p:nvPr/>
        </p:nvSpPr>
        <p:spPr>
          <a:xfrm>
            <a:off x="8743950" y="381000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ORGANIZATION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8E20383-A8A5-439B-9A8D-95FC902556C7}"/>
              </a:ext>
            </a:extLst>
          </p:cNvPr>
          <p:cNvSpPr>
            <a:spLocks noGrp="1"/>
          </p:cNvSpPr>
          <p:nvPr/>
        </p:nvSpPr>
        <p:spPr>
          <a:xfrm>
            <a:off x="1504950" y="5334000"/>
            <a:ext cx="91821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334BDF9-D02C-4A30-AEF7-09F4FFCF00A9}"/>
              </a:ext>
            </a:extLst>
          </p:cNvPr>
          <p:cNvSpPr>
            <a:spLocks noGrp="1"/>
          </p:cNvSpPr>
          <p:nvPr/>
        </p:nvSpPr>
        <p:spPr>
          <a:xfrm>
            <a:off x="1676400" y="5448300"/>
            <a:ext cx="8839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NER 후보도 반드시 raw offset을 지켜야 합니다. offset이 틀리면 마스킹 위치가 틀어집니다.</a:t>
            </a:r>
          </a:p>
        </p:txBody>
      </p:sp>
    </p:spTree>
    <p:extLst>
      <p:ext uri="{BB962C8B-B14F-4D97-AF65-F5344CB8AC3E}">
        <p14:creationId xmlns:p14="http://schemas.microsoft.com/office/powerpoint/2010/main" val="141005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5D603209-E805-442A-872E-5ABB1D4E10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304D4-53B1-4C30-ACD1-8797919044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8-marker">
            <a:extLst>
              <a:ext uri="{FF2B5EF4-FFF2-40B4-BE49-F238E27FC236}">
                <a16:creationId xmlns:a16="http://schemas.microsoft.com/office/drawing/2014/main" id="{D0AB3047-B2A5-4E8F-B9C0-CA15AB2E8B28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8-label">
            <a:extLst>
              <a:ext uri="{FF2B5EF4-FFF2-40B4-BE49-F238E27FC236}">
                <a16:creationId xmlns:a16="http://schemas.microsoft.com/office/drawing/2014/main" id="{87254B34-BE4B-4961-9F04-6966ACD3DA1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M6 SPAN RESOLVER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8B62D7-42FB-47B1-A54E-925D563BD267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겹치고 중복된 후보를 정리해 최종 후보 목록을 만듭니다.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000927-8C9B-4010-9C9D-101C66979B9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여러 detector가 낸 후보를 그대로 두면 중복 마스킹과 오탐이 생깁니다.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56F2BA-FD74-4DFD-A4FE-44D63764F23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8/14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6382DA-294C-4086-97D7-89B5C154D1E9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32575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A055C0-44D4-41DD-A351-5121C7E20874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중복 병합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A091B2-24C6-4616-97D2-6BE8B2F0BC28}"/>
              </a:ext>
            </a:extLst>
          </p:cNvPr>
          <p:cNvSpPr>
            <a:spLocks noGrp="1"/>
          </p:cNvSpPr>
          <p:nvPr/>
        </p:nvSpPr>
        <p:spPr>
          <a:xfrm>
            <a:off x="895350" y="2533650"/>
            <a:ext cx="2724150" cy="40005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B3130F-37B2-43C4-BC19-582A5FF24D48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PHONE 0.90 regex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2323B8-5B9E-43BA-807C-8F4E0FB8DB2D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2724150" cy="40005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D6E49E-2165-4574-8BA1-E28CA0250D76}"/>
              </a:ext>
            </a:extLst>
          </p:cNvPr>
          <p:cNvSpPr>
            <a:spLocks noGrp="1"/>
          </p:cNvSpPr>
          <p:nvPr/>
        </p:nvSpPr>
        <p:spPr>
          <a:xfrm>
            <a:off x="1066800" y="31623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PHONE 0.85 context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E1AAAA-1157-4879-B738-71B922E15D2F}"/>
              </a:ext>
            </a:extLst>
          </p:cNvPr>
          <p:cNvSpPr>
            <a:spLocks noGrp="1"/>
          </p:cNvSpPr>
          <p:nvPr/>
        </p:nvSpPr>
        <p:spPr>
          <a:xfrm>
            <a:off x="2105025" y="40005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1DB430-194E-4EC6-9D6A-9AFEE47569F4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2571750" cy="45720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8D1E3C-394A-47C5-8202-9C28A2547965}"/>
              </a:ext>
            </a:extLst>
          </p:cNvPr>
          <p:cNvSpPr>
            <a:spLocks noGrp="1"/>
          </p:cNvSpPr>
          <p:nvPr/>
        </p:nvSpPr>
        <p:spPr>
          <a:xfrm>
            <a:off x="1104900" y="4410075"/>
            <a:ext cx="2305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하나로 합치고</a:t>
            </a:r>
          </a:p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sources는 보존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7E8462-A878-441A-B88E-DB6938EA0495}"/>
              </a:ext>
            </a:extLst>
          </p:cNvPr>
          <p:cNvSpPr>
            <a:spLocks noGrp="1"/>
          </p:cNvSpPr>
          <p:nvPr/>
        </p:nvSpPr>
        <p:spPr>
          <a:xfrm>
            <a:off x="4419600" y="2000250"/>
            <a:ext cx="32575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D518D6-1DC8-4C0F-BC43-0781F87398C0}"/>
              </a:ext>
            </a:extLst>
          </p:cNvPr>
          <p:cNvSpPr>
            <a:spLocks noGrp="1"/>
          </p:cNvSpPr>
          <p:nvPr/>
        </p:nvSpPr>
        <p:spPr>
          <a:xfrm>
            <a:off x="4591050" y="2143125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겹침 해결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C3ACF0-2848-4FF5-83C8-5BCDFFB8B717}"/>
              </a:ext>
            </a:extLst>
          </p:cNvPr>
          <p:cNvSpPr>
            <a:spLocks noGrp="1"/>
          </p:cNvSpPr>
          <p:nvPr/>
        </p:nvSpPr>
        <p:spPr>
          <a:xfrm>
            <a:off x="4686300" y="2533650"/>
            <a:ext cx="2724150" cy="40005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6E6EB7-A9A8-40CB-BF01-19B571C03C08}"/>
              </a:ext>
            </a:extLst>
          </p:cNvPr>
          <p:cNvSpPr>
            <a:spLocks noGrp="1"/>
          </p:cNvSpPr>
          <p:nvPr/>
        </p:nvSpPr>
        <p:spPr>
          <a:xfrm>
            <a:off x="4857750" y="26479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EMAIL: test@example.com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CBA884-A5BC-4317-AA3F-9A421E684AD3}"/>
              </a:ext>
            </a:extLst>
          </p:cNvPr>
          <p:cNvSpPr>
            <a:spLocks noGrp="1"/>
          </p:cNvSpPr>
          <p:nvPr/>
        </p:nvSpPr>
        <p:spPr>
          <a:xfrm>
            <a:off x="4686300" y="3048000"/>
            <a:ext cx="2724150" cy="40005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1B80903-6FA0-4DA3-A021-224E0340518F}"/>
              </a:ext>
            </a:extLst>
          </p:cNvPr>
          <p:cNvSpPr>
            <a:spLocks noGrp="1"/>
          </p:cNvSpPr>
          <p:nvPr/>
        </p:nvSpPr>
        <p:spPr>
          <a:xfrm>
            <a:off x="4857750" y="31623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PERSON: test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00E649-55B2-4DD3-B809-61EDC3B74CD4}"/>
              </a:ext>
            </a:extLst>
          </p:cNvPr>
          <p:cNvSpPr>
            <a:spLocks noGrp="1"/>
          </p:cNvSpPr>
          <p:nvPr/>
        </p:nvSpPr>
        <p:spPr>
          <a:xfrm>
            <a:off x="5895975" y="40005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862F70B-B11D-42E7-98BB-B774E720101C}"/>
              </a:ext>
            </a:extLst>
          </p:cNvPr>
          <p:cNvSpPr>
            <a:spLocks noGrp="1"/>
          </p:cNvSpPr>
          <p:nvPr/>
        </p:nvSpPr>
        <p:spPr>
          <a:xfrm>
            <a:off x="4762500" y="4362450"/>
            <a:ext cx="2571750" cy="45720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BB353D7-6BC4-46D5-974A-99E2C7E84F26}"/>
              </a:ext>
            </a:extLst>
          </p:cNvPr>
          <p:cNvSpPr>
            <a:spLocks noGrp="1"/>
          </p:cNvSpPr>
          <p:nvPr/>
        </p:nvSpPr>
        <p:spPr>
          <a:xfrm>
            <a:off x="4895850" y="4410075"/>
            <a:ext cx="2305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EMAIL을 남기고</a:t>
            </a:r>
          </a:p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내부 후보 제거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D76D3D1-27E6-44E0-AEFE-008B8D4DD577}"/>
              </a:ext>
            </a:extLst>
          </p:cNvPr>
          <p:cNvSpPr>
            <a:spLocks noGrp="1"/>
          </p:cNvSpPr>
          <p:nvPr/>
        </p:nvSpPr>
        <p:spPr>
          <a:xfrm>
            <a:off x="8210550" y="2000250"/>
            <a:ext cx="32575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AD1131A-C941-4EFE-9654-A7933C468601}"/>
              </a:ext>
            </a:extLst>
          </p:cNvPr>
          <p:cNvSpPr>
            <a:spLocks noGrp="1"/>
          </p:cNvSpPr>
          <p:nvPr/>
        </p:nvSpPr>
        <p:spPr>
          <a:xfrm>
            <a:off x="8382000" y="2143125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주소 병합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9C328AC-D515-4432-AF88-11C73F7273AA}"/>
              </a:ext>
            </a:extLst>
          </p:cNvPr>
          <p:cNvSpPr>
            <a:spLocks noGrp="1"/>
          </p:cNvSpPr>
          <p:nvPr/>
        </p:nvSpPr>
        <p:spPr>
          <a:xfrm>
            <a:off x="8477250" y="2533650"/>
            <a:ext cx="2724150" cy="40005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3AA2C95-FDBF-44C9-ADDF-7CC75421E6B8}"/>
              </a:ext>
            </a:extLst>
          </p:cNvPr>
          <p:cNvSpPr>
            <a:spLocks noGrp="1"/>
          </p:cNvSpPr>
          <p:nvPr/>
        </p:nvSpPr>
        <p:spPr>
          <a:xfrm>
            <a:off x="8648700" y="26479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서울시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06EE5D-5F8C-4EAA-8933-FD5187F97A3C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724150" cy="40005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1FE54F-EB44-4AB8-9153-85742585451C}"/>
              </a:ext>
            </a:extLst>
          </p:cNvPr>
          <p:cNvSpPr>
            <a:spLocks noGrp="1"/>
          </p:cNvSpPr>
          <p:nvPr/>
        </p:nvSpPr>
        <p:spPr>
          <a:xfrm>
            <a:off x="8648700" y="31623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강남구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1F99F73-E612-4C53-997F-0944AB5A896F}"/>
              </a:ext>
            </a:extLst>
          </p:cNvPr>
          <p:cNvSpPr>
            <a:spLocks noGrp="1"/>
          </p:cNvSpPr>
          <p:nvPr/>
        </p:nvSpPr>
        <p:spPr>
          <a:xfrm>
            <a:off x="8477250" y="3562350"/>
            <a:ext cx="2724150" cy="400050"/>
          </a:xfrm>
          <a:prstGeom prst="rect">
            <a:avLst/>
          </a:prstGeom>
          <a:solidFill>
            <a:srgbClr val="FDFBF7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7B29ED-396B-41C0-8127-0DCFE620C0F5}"/>
              </a:ext>
            </a:extLst>
          </p:cNvPr>
          <p:cNvSpPr>
            <a:spLocks noGrp="1"/>
          </p:cNvSpPr>
          <p:nvPr/>
        </p:nvSpPr>
        <p:spPr>
          <a:xfrm>
            <a:off x="8648700" y="36766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테헤란로 123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950A953-E8D4-4BB3-A3CF-462A2AE0D654}"/>
              </a:ext>
            </a:extLst>
          </p:cNvPr>
          <p:cNvSpPr>
            <a:spLocks noGrp="1"/>
          </p:cNvSpPr>
          <p:nvPr/>
        </p:nvSpPr>
        <p:spPr>
          <a:xfrm>
            <a:off x="9686925" y="40005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249B816-31E9-47E5-82EB-B2FC4FA8A1DB}"/>
              </a:ext>
            </a:extLst>
          </p:cNvPr>
          <p:cNvSpPr>
            <a:spLocks noGrp="1"/>
          </p:cNvSpPr>
          <p:nvPr/>
        </p:nvSpPr>
        <p:spPr>
          <a:xfrm>
            <a:off x="8553450" y="4362450"/>
            <a:ext cx="2571750" cy="45720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8D50605-0530-4402-A816-52C6F6E39FDF}"/>
              </a:ext>
            </a:extLst>
          </p:cNvPr>
          <p:cNvSpPr>
            <a:spLocks noGrp="1"/>
          </p:cNvSpPr>
          <p:nvPr/>
        </p:nvSpPr>
        <p:spPr>
          <a:xfrm>
            <a:off x="8686800" y="4410075"/>
            <a:ext cx="2305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ADDRESS_FULL로</a:t>
            </a:r>
          </a:p>
          <a:p>
            <a:pPr algn="ctr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하나의 주소 처리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93FFF25-AEC4-4C8F-8A46-424E6BA69F37}"/>
              </a:ext>
            </a:extLst>
          </p:cNvPr>
          <p:cNvSpPr>
            <a:spLocks noGrp="1"/>
          </p:cNvSpPr>
          <p:nvPr/>
        </p:nvSpPr>
        <p:spPr>
          <a:xfrm>
            <a:off x="1581150" y="5476875"/>
            <a:ext cx="90297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9BAFD6-CB13-432D-99F2-9B6190D834BA}"/>
              </a:ext>
            </a:extLst>
          </p:cNvPr>
          <p:cNvSpPr>
            <a:spLocks noGrp="1"/>
          </p:cNvSpPr>
          <p:nvPr/>
        </p:nvSpPr>
        <p:spPr>
          <a:xfrm>
            <a:off x="1752600" y="5591175"/>
            <a:ext cx="868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추가로 같은 문장 안에 PERSON + PHONE이 있으면 composite 위험으로 표시할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94935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2789CDB-7A89-43C3-8445-126515569E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D99983-AE50-4365-A98B-6490AE5DCF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9-marker">
            <a:extLst>
              <a:ext uri="{FF2B5EF4-FFF2-40B4-BE49-F238E27FC236}">
                <a16:creationId xmlns:a16="http://schemas.microsoft.com/office/drawing/2014/main" id="{A2607978-811F-4C2B-A681-CA313639870A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9-label">
            <a:extLst>
              <a:ext uri="{FF2B5EF4-FFF2-40B4-BE49-F238E27FC236}">
                <a16:creationId xmlns:a16="http://schemas.microsoft.com/office/drawing/2014/main" id="{73D55277-F70B-418D-99D7-633835BC0C9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M7 POLICY + MASKER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3EB7E4-26AD-44F9-831F-8D1EC4ED3236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각 후보를 PASS, MASK, HASH, BLOCK 중 하나로 처리합니다.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1B0470-9C3E-4159-A4FF-087D86E3B278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무엇을 찾았는지뿐 아니라 어디에 쓰이는지, 위험도가 어떤지도 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7EEF32-EE33-4A56-8D3E-36415A24E57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9/14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05EA1E-115F-4E16-A364-7880C65B9C97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62466C-61B3-42AF-A00C-3B8874B863DF}"/>
              </a:ext>
            </a:extLst>
          </p:cNvPr>
          <p:cNvSpPr>
            <a:spLocks noGrp="1"/>
          </p:cNvSpPr>
          <p:nvPr/>
        </p:nvSpPr>
        <p:spPr>
          <a:xfrm>
            <a:off x="2905125" y="204787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언제 쓰나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26EF40-BB74-4A59-A36B-D0862BFD16BA}"/>
              </a:ext>
            </a:extLst>
          </p:cNvPr>
          <p:cNvSpPr>
            <a:spLocks noGrp="1"/>
          </p:cNvSpPr>
          <p:nvPr/>
        </p:nvSpPr>
        <p:spPr>
          <a:xfrm>
            <a:off x="7286625" y="204787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3BDE6D-182D-4141-9620-FF49A104D5CD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10477500" cy="51435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11AFCD-5042-4AD3-A099-C0E9094FBEA5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E9BC61-2CC3-4E1A-AB60-2F79DB6D349A}"/>
              </a:ext>
            </a:extLst>
          </p:cNvPr>
          <p:cNvSpPr>
            <a:spLocks noGrp="1"/>
          </p:cNvSpPr>
          <p:nvPr/>
        </p:nvSpPr>
        <p:spPr>
          <a:xfrm>
            <a:off x="2905125" y="259080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낮은 신뢰도나 안전한 문맥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1F7607-D785-4CB1-AA63-03988E59EC3B}"/>
              </a:ext>
            </a:extLst>
          </p:cNvPr>
          <p:cNvSpPr>
            <a:spLocks noGrp="1"/>
          </p:cNvSpPr>
          <p:nvPr/>
        </p:nvSpPr>
        <p:spPr>
          <a:xfrm>
            <a:off x="7286625" y="259080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그대로 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495C63-1CB1-44A4-939B-3F9E31665745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0477500" cy="5143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6D0BA9-F2A9-4EB9-9E60-D3F0EA8FF049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MASK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012F6E-DE48-4B48-AE85-BDD8AB2DD89D}"/>
              </a:ext>
            </a:extLst>
          </p:cNvPr>
          <p:cNvSpPr>
            <a:spLocks noGrp="1"/>
          </p:cNvSpPr>
          <p:nvPr/>
        </p:nvSpPr>
        <p:spPr>
          <a:xfrm>
            <a:off x="2905125" y="327660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전화번호, 이름, 이메일 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3D4D46-49F9-4FA2-8FB5-CF8A79BF5632}"/>
              </a:ext>
            </a:extLst>
          </p:cNvPr>
          <p:cNvSpPr>
            <a:spLocks noGrp="1"/>
          </p:cNvSpPr>
          <p:nvPr/>
        </p:nvSpPr>
        <p:spPr>
          <a:xfrm>
            <a:off x="7286625" y="327660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[PHONE_1]처럼 대체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6D90D3-45BC-41AF-8522-ACC10535D7B6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10477500" cy="514350"/>
          </a:xfrm>
          <a:prstGeom prst="rect">
            <a:avLst/>
          </a:prstGeom>
          <a:solidFill>
            <a:srgbClr val="F0ECFF"/>
          </a:solidFill>
          <a:ln w="9525">
            <a:solidFill>
              <a:srgbClr val="785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0D75795-A8DC-4C1A-B162-9E34A9CE4234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856D9"/>
                </a:solidFill>
                <a:latin typeface="Malgun Gothic"/>
                <a:ea typeface="Malgun Gothic"/>
                <a:cs typeface="Malgun Gothic"/>
              </a:rPr>
              <a:t>HASH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E805E1-9B49-4BEF-B571-07FB6EC19C04}"/>
              </a:ext>
            </a:extLst>
          </p:cNvPr>
          <p:cNvSpPr>
            <a:spLocks noGrp="1"/>
          </p:cNvSpPr>
          <p:nvPr/>
        </p:nvSpPr>
        <p:spPr>
          <a:xfrm>
            <a:off x="2905125" y="396240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audit_log target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ECAE45C-D372-4433-A57D-66AF1955DD3A}"/>
              </a:ext>
            </a:extLst>
          </p:cNvPr>
          <p:cNvSpPr>
            <a:spLocks noGrp="1"/>
          </p:cNvSpPr>
          <p:nvPr/>
        </p:nvSpPr>
        <p:spPr>
          <a:xfrm>
            <a:off x="7286625" y="396240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원문 대신 HMAC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773961-4DBF-4C0F-89EA-824EA22991B0}"/>
              </a:ext>
            </a:extLst>
          </p:cNvPr>
          <p:cNvSpPr>
            <a:spLocks noGrp="1"/>
          </p:cNvSpPr>
          <p:nvPr/>
        </p:nvSpPr>
        <p:spPr>
          <a:xfrm>
            <a:off x="723900" y="4514850"/>
            <a:ext cx="10477500" cy="51435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689520-B835-4DAA-9E68-E23A0D5FD1DF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BLOCK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11606B-6036-41BB-A77D-AD72E3C40A74}"/>
              </a:ext>
            </a:extLst>
          </p:cNvPr>
          <p:cNvSpPr>
            <a:spLocks noGrp="1"/>
          </p:cNvSpPr>
          <p:nvPr/>
        </p:nvSpPr>
        <p:spPr>
          <a:xfrm>
            <a:off x="2905125" y="464820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API key / secret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CF0E73F-2A00-4281-8655-66B73B25CE3E}"/>
              </a:ext>
            </a:extLst>
          </p:cNvPr>
          <p:cNvSpPr>
            <a:spLocks noGrp="1"/>
          </p:cNvSpPr>
          <p:nvPr/>
        </p:nvSpPr>
        <p:spPr>
          <a:xfrm>
            <a:off x="7286625" y="464820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응답 자체 차단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7C1F1ED-D85B-4605-9CAB-9DBA845D2370}"/>
              </a:ext>
            </a:extLst>
          </p:cNvPr>
          <p:cNvSpPr>
            <a:spLocks noGrp="1"/>
          </p:cNvSpPr>
          <p:nvPr/>
        </p:nvSpPr>
        <p:spPr>
          <a:xfrm>
            <a:off x="1619250" y="5429250"/>
            <a:ext cx="8953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E794365-EE7D-4EAD-B65A-45BEF34D1A4C}"/>
              </a:ext>
            </a:extLst>
          </p:cNvPr>
          <p:cNvSpPr>
            <a:spLocks noGrp="1"/>
          </p:cNvSpPr>
          <p:nvPr/>
        </p:nvSpPr>
        <p:spPr>
          <a:xfrm>
            <a:off x="1790700" y="5543550"/>
            <a:ext cx="861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M3에서 분리한 suffix를 보존하기 때문에 '홍길동이'는 '[PERSON_1]이'처럼 자연스럽게 바뀝니다.</a:t>
            </a:r>
          </a:p>
        </p:txBody>
      </p:sp>
    </p:spTree>
    <p:extLst>
      <p:ext uri="{BB962C8B-B14F-4D97-AF65-F5344CB8AC3E}">
        <p14:creationId xmlns:p14="http://schemas.microsoft.com/office/powerpoint/2010/main" val="51666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B03BFC-B7E3-4790-B1B8-098957A9D0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805E88-2825-436A-8D21-D447A23D32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0-marker">
            <a:extLst>
              <a:ext uri="{FF2B5EF4-FFF2-40B4-BE49-F238E27FC236}">
                <a16:creationId xmlns:a16="http://schemas.microsoft.com/office/drawing/2014/main" id="{2D7CAA21-CE21-4D98-9FFF-4E54B40F7EC6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1F9D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0-label">
            <a:extLst>
              <a:ext uri="{FF2B5EF4-FFF2-40B4-BE49-F238E27FC236}">
                <a16:creationId xmlns:a16="http://schemas.microsoft.com/office/drawing/2014/main" id="{EDE6FA06-F900-4ABD-AA8E-C92E468654B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M8 AUDIT LOGGER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1C7C26-405F-4283-A75C-1E5402FD548D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무엇을 처리했는지는 남기되, 원문 개인정보는 절대 남기지 않습니다.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B3BF39-31A3-4C71-B7FF-163B490E19F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감사 로그 자체가 개인정보 유출 경로가 되지 않게 만드는 단계입니다.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23DFDA-F41F-4CE6-84AB-BE3DE242C3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10/14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0308B1-8C94-406E-A88B-D855C25316DD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4762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9F5561-1585-4495-B02F-73CD09C30034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441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로그에 남기면 안 되는 것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ADDA56-D79C-4250-9BC3-DF78E9B3FB86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4095750" cy="68580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1EB153-3151-40C2-A0EC-30CBE76D08A2}"/>
              </a:ext>
            </a:extLst>
          </p:cNvPr>
          <p:cNvSpPr>
            <a:spLocks noGrp="1"/>
          </p:cNvSpPr>
          <p:nvPr/>
        </p:nvSpPr>
        <p:spPr>
          <a:xfrm>
            <a:off x="1162050" y="2686050"/>
            <a:ext cx="3752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PHONE: 010-1234-5678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PERSON_NAME: 홍길동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ED4C41-AB63-44A3-8AF2-94EC07E07D74}"/>
              </a:ext>
            </a:extLst>
          </p:cNvPr>
          <p:cNvSpPr>
            <a:spLocks noGrp="1"/>
          </p:cNvSpPr>
          <p:nvPr/>
        </p:nvSpPr>
        <p:spPr>
          <a:xfrm>
            <a:off x="1028700" y="3571875"/>
            <a:ext cx="3905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raw value</a:t>
            </a:r>
          </a:p>
          <a:p>
            <a:pPr algn="l">
              <a:def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span_text</a:t>
            </a:r>
          </a:p>
          <a:p>
            <a:pPr algn="l">
              <a:def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original</a:t>
            </a:r>
          </a:p>
          <a:p>
            <a:pPr algn="l">
              <a:def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normalized</a:t>
            </a:r>
          </a:p>
          <a:p>
            <a:pPr algn="l">
              <a:def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matched_value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329921-E2A3-4E59-B6DD-28332A133160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4762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7CF574-D59C-4C73-999E-3D09D775D815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441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대신 남기는 안전한 정보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835592-8E36-46C2-8B8B-532C8DF5FBC4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4095750" cy="1619250"/>
          </a:xfrm>
          <a:prstGeom prst="rect">
            <a:avLst/>
          </a:prstGeom>
          <a:solidFill>
            <a:srgbClr val="E8F6F0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D5A6F6-4BB3-4A19-8733-5FD3665B097F}"/>
              </a:ext>
            </a:extLst>
          </p:cNvPr>
          <p:cNvSpPr>
            <a:spLocks noGrp="1"/>
          </p:cNvSpPr>
          <p:nvPr/>
        </p:nvSpPr>
        <p:spPr>
          <a:xfrm>
            <a:off x="6781800" y="2686050"/>
            <a:ext cx="37528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entity_type: PHONE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action: MASK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span_length: 13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value_hash: HMAC(...)</a:t>
            </a:r>
          </a:p>
          <a:p>
            <a:pPr algn="l">
              <a:def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raw_value_logged: false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A239AE-0392-4556-8647-009ACD58684E}"/>
              </a:ext>
            </a:extLst>
          </p:cNvPr>
          <p:cNvSpPr>
            <a:spLocks noGrp="1"/>
          </p:cNvSpPr>
          <p:nvPr/>
        </p:nvSpPr>
        <p:spPr>
          <a:xfrm>
            <a:off x="6858000" y="4429125"/>
            <a:ext cx="361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2A2D0B-D10A-4F9C-9FCF-6F423563635C}"/>
              </a:ext>
            </a:extLst>
          </p:cNvPr>
          <p:cNvSpPr>
            <a:spLocks noGrp="1"/>
          </p:cNvSpPr>
          <p:nvPr/>
        </p:nvSpPr>
        <p:spPr>
          <a:xfrm>
            <a:off x="7029450" y="4533900"/>
            <a:ext cx="3276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9D72"/>
                </a:solidFill>
                <a:latin typeface="Malgun Gothic"/>
                <a:ea typeface="Malgun Gothic"/>
                <a:cs typeface="Malgun Gothic"/>
              </a:rPr>
              <a:t>MASK / HASH / BLOCK 같은 실제 action만 기록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198E001-6B6A-4E96-A8B0-6E1E00CC1BD1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9D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8D3888-8793-4EEE-BDE0-92769276D86B}"/>
              </a:ext>
            </a:extLst>
          </p:cNvPr>
          <p:cNvSpPr>
            <a:spLocks noGrp="1"/>
          </p:cNvSpPr>
          <p:nvPr/>
        </p:nvSpPr>
        <p:spPr>
          <a:xfrm>
            <a:off x="1790700" y="5734050"/>
            <a:ext cx="861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HMAC을 쓰면 같은 값 반복 여부는 추적할 수 있지만, 로그만으로 원문을 복원하기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984435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E8C2B33D-727D-43AC-A966-D61F490511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B9AE1D-81D5-4C44-869A-EB35546304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1-marker">
            <a:extLst>
              <a:ext uri="{FF2B5EF4-FFF2-40B4-BE49-F238E27FC236}">
                <a16:creationId xmlns:a16="http://schemas.microsoft.com/office/drawing/2014/main" id="{41F5EA2A-0F11-41FE-8303-CE6DB85E70F8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1-label">
            <a:extLst>
              <a:ext uri="{FF2B5EF4-FFF2-40B4-BE49-F238E27FC236}">
                <a16:creationId xmlns:a16="http://schemas.microsoft.com/office/drawing/2014/main" id="{BB4B58E3-9F68-4701-86CC-7819CE00315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 PIPELINE INTEGRATION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056931-604F-4F17-8136-D6C9F9793E29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M1~M8 부품을 하나의 실제 요청 처리 흐름으로 연결합니다.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314E8E-CBEE-4D3D-B336-FABA52E0132D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사용자가 텍스트를 넣으면 순서대로 실행하고 GuardrailResponse를 반환합니다.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5670E8-7516-42AF-A699-8686880B58A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11/14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9E5FBD-5A2F-4E94-BCD0-E1BF0BC09CE8}"/>
              </a:ext>
            </a:extLst>
          </p:cNvPr>
          <p:cNvSpPr>
            <a:spLocks noGrp="1"/>
          </p:cNvSpPr>
          <p:nvPr/>
        </p:nvSpPr>
        <p:spPr>
          <a:xfrm>
            <a:off x="742950" y="2333625"/>
            <a:ext cx="1428750" cy="15049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C28C46-7FCC-47C3-99A0-03E97B32633B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04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66D543-69A9-4833-861D-A9E2B0B76BB0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7E97D6-9D2B-4682-BFFA-8D5898CAD7C7}"/>
              </a:ext>
            </a:extLst>
          </p:cNvPr>
          <p:cNvSpPr>
            <a:spLocks noGrp="1"/>
          </p:cNvSpPr>
          <p:nvPr/>
        </p:nvSpPr>
        <p:spPr>
          <a:xfrm>
            <a:off x="885825" y="31813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text / target / profile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536E96-A40A-49CE-A870-7B3AFD643FD9}"/>
              </a:ext>
            </a:extLst>
          </p:cNvPr>
          <p:cNvSpPr>
            <a:spLocks noGrp="1"/>
          </p:cNvSpPr>
          <p:nvPr/>
        </p:nvSpPr>
        <p:spPr>
          <a:xfrm>
            <a:off x="2228850" y="28575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E1DE1F-D766-4278-B30F-74B2A9BAADA0}"/>
              </a:ext>
            </a:extLst>
          </p:cNvPr>
          <p:cNvSpPr>
            <a:spLocks noGrp="1"/>
          </p:cNvSpPr>
          <p:nvPr/>
        </p:nvSpPr>
        <p:spPr>
          <a:xfrm>
            <a:off x="2552700" y="2333625"/>
            <a:ext cx="1428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E304A6-70A2-4C4B-ACCB-3FDBE8778306}"/>
              </a:ext>
            </a:extLst>
          </p:cNvPr>
          <p:cNvSpPr>
            <a:spLocks noGrp="1"/>
          </p:cNvSpPr>
          <p:nvPr/>
        </p:nvSpPr>
        <p:spPr>
          <a:xfrm>
            <a:off x="2724150" y="2476500"/>
            <a:ext cx="304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BE6420-BCC9-4C32-9B14-47988D109873}"/>
              </a:ext>
            </a:extLst>
          </p:cNvPr>
          <p:cNvSpPr>
            <a:spLocks noGrp="1"/>
          </p:cNvSpPr>
          <p:nvPr/>
        </p:nvSpPr>
        <p:spPr>
          <a:xfrm>
            <a:off x="2724150" y="28765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Preprocess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D365F4-5CFF-4DD1-B2E1-3D0B704B2ECB}"/>
              </a:ext>
            </a:extLst>
          </p:cNvPr>
          <p:cNvSpPr>
            <a:spLocks noGrp="1"/>
          </p:cNvSpPr>
          <p:nvPr/>
        </p:nvSpPr>
        <p:spPr>
          <a:xfrm>
            <a:off x="2695575" y="31813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variants + offset map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F8C10F-A127-4950-B15E-1892CCAD3E3A}"/>
              </a:ext>
            </a:extLst>
          </p:cNvPr>
          <p:cNvSpPr>
            <a:spLocks noGrp="1"/>
          </p:cNvSpPr>
          <p:nvPr/>
        </p:nvSpPr>
        <p:spPr>
          <a:xfrm>
            <a:off x="4038600" y="28575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111C6D-0186-4BBD-9244-26EFAE099479}"/>
              </a:ext>
            </a:extLst>
          </p:cNvPr>
          <p:cNvSpPr>
            <a:spLocks noGrp="1"/>
          </p:cNvSpPr>
          <p:nvPr/>
        </p:nvSpPr>
        <p:spPr>
          <a:xfrm>
            <a:off x="4362450" y="2333625"/>
            <a:ext cx="1428750" cy="15049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827976-0BC4-4F9C-A53B-7E993A41711B}"/>
              </a:ext>
            </a:extLst>
          </p:cNvPr>
          <p:cNvSpPr>
            <a:spLocks noGrp="1"/>
          </p:cNvSpPr>
          <p:nvPr/>
        </p:nvSpPr>
        <p:spPr>
          <a:xfrm>
            <a:off x="4533900" y="2476500"/>
            <a:ext cx="304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4DF821-6623-49D4-96E2-99DE6CB5FE0B}"/>
              </a:ext>
            </a:extLst>
          </p:cNvPr>
          <p:cNvSpPr>
            <a:spLocks noGrp="1"/>
          </p:cNvSpPr>
          <p:nvPr/>
        </p:nvSpPr>
        <p:spPr>
          <a:xfrm>
            <a:off x="4533900" y="28765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Detect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38442E-AB16-4413-BF58-45321B38D155}"/>
              </a:ext>
            </a:extLst>
          </p:cNvPr>
          <p:cNvSpPr>
            <a:spLocks noGrp="1"/>
          </p:cNvSpPr>
          <p:nvPr/>
        </p:nvSpPr>
        <p:spPr>
          <a:xfrm>
            <a:off x="4505325" y="31813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regex + dictionary + optional NER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65F636-8B58-4D78-962C-BCF1DC07F9C5}"/>
              </a:ext>
            </a:extLst>
          </p:cNvPr>
          <p:cNvSpPr>
            <a:spLocks noGrp="1"/>
          </p:cNvSpPr>
          <p:nvPr/>
        </p:nvSpPr>
        <p:spPr>
          <a:xfrm>
            <a:off x="5848350" y="28575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33B961-093F-4A84-AA89-521319E1D762}"/>
              </a:ext>
            </a:extLst>
          </p:cNvPr>
          <p:cNvSpPr>
            <a:spLocks noGrp="1"/>
          </p:cNvSpPr>
          <p:nvPr/>
        </p:nvSpPr>
        <p:spPr>
          <a:xfrm>
            <a:off x="6172200" y="2333625"/>
            <a:ext cx="1428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F56330-770F-4A4C-9006-64415A40ACA2}"/>
              </a:ext>
            </a:extLst>
          </p:cNvPr>
          <p:cNvSpPr>
            <a:spLocks noGrp="1"/>
          </p:cNvSpPr>
          <p:nvPr/>
        </p:nvSpPr>
        <p:spPr>
          <a:xfrm>
            <a:off x="6343650" y="2476500"/>
            <a:ext cx="304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48CFDA-32A1-4502-9B3A-D225D3B62B42}"/>
              </a:ext>
            </a:extLst>
          </p:cNvPr>
          <p:cNvSpPr>
            <a:spLocks noGrp="1"/>
          </p:cNvSpPr>
          <p:nvPr/>
        </p:nvSpPr>
        <p:spPr>
          <a:xfrm>
            <a:off x="6343650" y="28765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Refine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02C275-C9C9-496D-AEB0-BCF962D744CB}"/>
              </a:ext>
            </a:extLst>
          </p:cNvPr>
          <p:cNvSpPr>
            <a:spLocks noGrp="1"/>
          </p:cNvSpPr>
          <p:nvPr/>
        </p:nvSpPr>
        <p:spPr>
          <a:xfrm>
            <a:off x="6315075" y="31813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boundary + context + resolver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170195-3484-40AA-90C7-AC4DD579E51D}"/>
              </a:ext>
            </a:extLst>
          </p:cNvPr>
          <p:cNvSpPr>
            <a:spLocks noGrp="1"/>
          </p:cNvSpPr>
          <p:nvPr/>
        </p:nvSpPr>
        <p:spPr>
          <a:xfrm>
            <a:off x="7658100" y="28575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38A69B-C9C1-4675-A7E5-90F9D34E968A}"/>
              </a:ext>
            </a:extLst>
          </p:cNvPr>
          <p:cNvSpPr>
            <a:spLocks noGrp="1"/>
          </p:cNvSpPr>
          <p:nvPr/>
        </p:nvSpPr>
        <p:spPr>
          <a:xfrm>
            <a:off x="7981950" y="2333625"/>
            <a:ext cx="1428750" cy="1504950"/>
          </a:xfrm>
          <a:prstGeom prst="rect">
            <a:avLst/>
          </a:prstGeom>
          <a:solidFill>
            <a:srgbClr val="E9EF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0403B7-5D86-462C-A2E6-AC94CA516646}"/>
              </a:ext>
            </a:extLst>
          </p:cNvPr>
          <p:cNvSpPr>
            <a:spLocks noGrp="1"/>
          </p:cNvSpPr>
          <p:nvPr/>
        </p:nvSpPr>
        <p:spPr>
          <a:xfrm>
            <a:off x="8153400" y="2476500"/>
            <a:ext cx="304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989E126-997A-430D-A34C-D36FF8400C54}"/>
              </a:ext>
            </a:extLst>
          </p:cNvPr>
          <p:cNvSpPr>
            <a:spLocks noGrp="1"/>
          </p:cNvSpPr>
          <p:nvPr/>
        </p:nvSpPr>
        <p:spPr>
          <a:xfrm>
            <a:off x="8153400" y="28765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Act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54ACF35-50AC-43B3-9E53-488D5BF4A1E7}"/>
              </a:ext>
            </a:extLst>
          </p:cNvPr>
          <p:cNvSpPr>
            <a:spLocks noGrp="1"/>
          </p:cNvSpPr>
          <p:nvPr/>
        </p:nvSpPr>
        <p:spPr>
          <a:xfrm>
            <a:off x="8124825" y="31813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policy + masker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EA0503B-AC7F-4522-8549-FEF611430525}"/>
              </a:ext>
            </a:extLst>
          </p:cNvPr>
          <p:cNvSpPr>
            <a:spLocks noGrp="1"/>
          </p:cNvSpPr>
          <p:nvPr/>
        </p:nvSpPr>
        <p:spPr>
          <a:xfrm>
            <a:off x="9467850" y="285750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1755CD-618A-4374-BF3D-7290328A08C6}"/>
              </a:ext>
            </a:extLst>
          </p:cNvPr>
          <p:cNvSpPr>
            <a:spLocks noGrp="1"/>
          </p:cNvSpPr>
          <p:nvPr/>
        </p:nvSpPr>
        <p:spPr>
          <a:xfrm>
            <a:off x="9791700" y="2333625"/>
            <a:ext cx="1428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E0ABE46-8367-4A8E-BA22-0427AD39622A}"/>
              </a:ext>
            </a:extLst>
          </p:cNvPr>
          <p:cNvSpPr>
            <a:spLocks noGrp="1"/>
          </p:cNvSpPr>
          <p:nvPr/>
        </p:nvSpPr>
        <p:spPr>
          <a:xfrm>
            <a:off x="9963150" y="2476500"/>
            <a:ext cx="304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D0BC731-0D16-4FCF-9F5B-285EAFB27D12}"/>
              </a:ext>
            </a:extLst>
          </p:cNvPr>
          <p:cNvSpPr>
            <a:spLocks noGrp="1"/>
          </p:cNvSpPr>
          <p:nvPr/>
        </p:nvSpPr>
        <p:spPr>
          <a:xfrm>
            <a:off x="9963150" y="28765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Respond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F4AADA8-7410-41F9-A18E-3ACAD526CB71}"/>
              </a:ext>
            </a:extLst>
          </p:cNvPr>
          <p:cNvSpPr>
            <a:spLocks noGrp="1"/>
          </p:cNvSpPr>
          <p:nvPr/>
        </p:nvSpPr>
        <p:spPr>
          <a:xfrm>
            <a:off x="9934575" y="31813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public spans + audit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7099D67-D328-4949-A9CF-41E7986B19D8}"/>
              </a:ext>
            </a:extLst>
          </p:cNvPr>
          <p:cNvSpPr>
            <a:spLocks noGrp="1"/>
          </p:cNvSpPr>
          <p:nvPr/>
        </p:nvSpPr>
        <p:spPr>
          <a:xfrm>
            <a:off x="1619250" y="4495800"/>
            <a:ext cx="8953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4200AC-00A6-4558-A15C-D95596E0BEB8}"/>
              </a:ext>
            </a:extLst>
          </p:cNvPr>
          <p:cNvSpPr>
            <a:spLocks noGrp="1"/>
          </p:cNvSpPr>
          <p:nvPr/>
        </p:nvSpPr>
        <p:spPr>
          <a:xfrm>
            <a:off x="1790700" y="4638675"/>
            <a:ext cx="861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BFF"/>
                </a:solidFill>
                <a:latin typeface="Malgun Gothic"/>
                <a:ea typeface="Malgun Gothic"/>
                <a:cs typeface="Malgun Gothic"/>
              </a:rPr>
              <a:t>M9에서 확인해야 하는 것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4C1FC0-F695-4B71-88E8-49DF02561F0D}"/>
              </a:ext>
            </a:extLst>
          </p:cNvPr>
          <p:cNvSpPr>
            <a:spLocks noGrp="1"/>
          </p:cNvSpPr>
          <p:nvPr/>
        </p:nvSpPr>
        <p:spPr>
          <a:xfrm>
            <a:off x="1885950" y="4914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NER가 없어도 동작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차단되어도 응답 구조 유지</a:t>
            </a:r>
          </a:p>
          <a:p>
            <a:pPr algn="l">
              <a:def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• public response와 audit log에 raw PII 없음</a:t>
            </a:r>
          </a:p>
        </p:txBody>
      </p:sp>
    </p:spTree>
    <p:extLst>
      <p:ext uri="{BB962C8B-B14F-4D97-AF65-F5344CB8AC3E}">
        <p14:creationId xmlns:p14="http://schemas.microsoft.com/office/powerpoint/2010/main" val="1948325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8556631-7EF8-4534-B1A8-B2EA5D0490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E6D3F0-8725-4430-B83B-34B1557C23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2-marker">
            <a:extLst>
              <a:ext uri="{FF2B5EF4-FFF2-40B4-BE49-F238E27FC236}">
                <a16:creationId xmlns:a16="http://schemas.microsoft.com/office/drawing/2014/main" id="{5654215A-C376-48A2-95EF-48A6C513796B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D989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2-label">
            <a:extLst>
              <a:ext uri="{FF2B5EF4-FFF2-40B4-BE49-F238E27FC236}">
                <a16:creationId xmlns:a16="http://schemas.microsoft.com/office/drawing/2014/main" id="{070B322A-7D52-4A85-8963-5FBF0AE1AEF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M10 EVALUATION HARNESS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6108BB-A465-48D5-9E70-8AC92AD75FFA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완성된 pipeline이 얼마나 정확하고 안전한지 숫자로 평가합니다.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CBBCD-26E2-4608-BB53-79C9119DF14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한두 예시가 아니라 평가 데이터 전체에서 precision, recall, F1, 안전성을 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930EAA-B585-425B-B7B1-59E5222306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12/14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D7965E-B610-4BCE-A1DA-BA0D6B368450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3048000" cy="8382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9B5E25-301C-44A2-831B-0F6A55435E5A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precision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75D3F4-785A-4EFB-8F1B-7E696C1269F2}"/>
              </a:ext>
            </a:extLst>
          </p:cNvPr>
          <p:cNvSpPr>
            <a:spLocks noGrp="1"/>
          </p:cNvSpPr>
          <p:nvPr/>
        </p:nvSpPr>
        <p:spPr>
          <a:xfrm>
            <a:off x="952500" y="2638425"/>
            <a:ext cx="2619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찾았다고 한 것 중 진짜 비율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648F54-76A4-49C4-AF55-A4532F4DF8A3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3048000" cy="8382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D46C94-B549-4EA2-824F-444BA32209C9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recall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2864C8-4EF5-48B8-8EDD-2EC8FB132B4B}"/>
              </a:ext>
            </a:extLst>
          </p:cNvPr>
          <p:cNvSpPr>
            <a:spLocks noGrp="1"/>
          </p:cNvSpPr>
          <p:nvPr/>
        </p:nvSpPr>
        <p:spPr>
          <a:xfrm>
            <a:off x="4572000" y="2638425"/>
            <a:ext cx="2619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진짜 개인정보 중 잡은 비율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063392-7464-4BAE-BBCF-5DE603DF7710}"/>
              </a:ext>
            </a:extLst>
          </p:cNvPr>
          <p:cNvSpPr>
            <a:spLocks noGrp="1"/>
          </p:cNvSpPr>
          <p:nvPr/>
        </p:nvSpPr>
        <p:spPr>
          <a:xfrm>
            <a:off x="8020050" y="2190750"/>
            <a:ext cx="3048000" cy="838200"/>
          </a:xfrm>
          <a:prstGeom prst="rect">
            <a:avLst/>
          </a:prstGeom>
          <a:solidFill>
            <a:srgbClr val="FFF3D9"/>
          </a:solidFill>
          <a:ln w="9525">
            <a:solidFill>
              <a:srgbClr val="D989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F810E6-4CDF-492D-9608-3D83EA8C5D8F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F1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D34EFF-D277-4AEA-843C-B09A905C4DDC}"/>
              </a:ext>
            </a:extLst>
          </p:cNvPr>
          <p:cNvSpPr>
            <a:spLocks noGrp="1"/>
          </p:cNvSpPr>
          <p:nvPr/>
        </p:nvSpPr>
        <p:spPr>
          <a:xfrm>
            <a:off x="8191500" y="2638425"/>
            <a:ext cx="2619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precision과 recall의 균형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7B400CA-EAC4-4F7B-A909-AEDB8CB7BD32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3048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ABA69C-5C77-4634-AF7E-98E449567380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boundary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CD96BB-97E7-46A0-A7E9-9B81823BBF9D}"/>
              </a:ext>
            </a:extLst>
          </p:cNvPr>
          <p:cNvSpPr>
            <a:spLocks noGrp="1"/>
          </p:cNvSpPr>
          <p:nvPr/>
        </p:nvSpPr>
        <p:spPr>
          <a:xfrm>
            <a:off x="952500" y="3876675"/>
            <a:ext cx="2619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span 경계가 정확한지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2210D9-DD42-482C-A5DC-8DDE97AD70DF}"/>
              </a:ext>
            </a:extLst>
          </p:cNvPr>
          <p:cNvSpPr>
            <a:spLocks noGrp="1"/>
          </p:cNvSpPr>
          <p:nvPr/>
        </p:nvSpPr>
        <p:spPr>
          <a:xfrm>
            <a:off x="4400550" y="3429000"/>
            <a:ext cx="3048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17EFAF1-74D2-4178-8AC5-416EF3312E88}"/>
              </a:ext>
            </a:extLst>
          </p:cNvPr>
          <p:cNvSpPr>
            <a:spLocks noGrp="1"/>
          </p:cNvSpPr>
          <p:nvPr/>
        </p:nvSpPr>
        <p:spPr>
          <a:xfrm>
            <a:off x="4572000" y="3562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high-risk recall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7752C8B-47DC-427A-A5A4-875FD1D44B04}"/>
              </a:ext>
            </a:extLst>
          </p:cNvPr>
          <p:cNvSpPr>
            <a:spLocks noGrp="1"/>
          </p:cNvSpPr>
          <p:nvPr/>
        </p:nvSpPr>
        <p:spPr>
          <a:xfrm>
            <a:off x="4572000" y="3876675"/>
            <a:ext cx="2619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주민번호/API key를 놓치지 않는지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427B99-213D-4F92-A7AC-8B3019D75511}"/>
              </a:ext>
            </a:extLst>
          </p:cNvPr>
          <p:cNvSpPr>
            <a:spLocks noGrp="1"/>
          </p:cNvSpPr>
          <p:nvPr/>
        </p:nvSpPr>
        <p:spPr>
          <a:xfrm>
            <a:off x="8020050" y="3429000"/>
            <a:ext cx="3048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47C948-2B59-4439-AD46-B97F179592E4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audit safety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DCBE6B-5559-47B1-AA50-25BE58BE40C4}"/>
              </a:ext>
            </a:extLst>
          </p:cNvPr>
          <p:cNvSpPr>
            <a:spLocks noGrp="1"/>
          </p:cNvSpPr>
          <p:nvPr/>
        </p:nvSpPr>
        <p:spPr>
          <a:xfrm>
            <a:off x="8191500" y="3876675"/>
            <a:ext cx="2619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로그에 raw PII가 없는지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7FC4EE-ECD8-4BFA-90BB-D02E1F4B33F9}"/>
              </a:ext>
            </a:extLst>
          </p:cNvPr>
          <p:cNvSpPr>
            <a:spLocks noGrp="1"/>
          </p:cNvSpPr>
          <p:nvPr/>
        </p:nvSpPr>
        <p:spPr>
          <a:xfrm>
            <a:off x="1562100" y="4905375"/>
            <a:ext cx="90678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DB9ED0-4BE7-4028-9BD3-3BA012A45868}"/>
              </a:ext>
            </a:extLst>
          </p:cNvPr>
          <p:cNvSpPr>
            <a:spLocks noGrp="1"/>
          </p:cNvSpPr>
          <p:nvPr/>
        </p:nvSpPr>
        <p:spPr>
          <a:xfrm>
            <a:off x="1733550" y="5048250"/>
            <a:ext cx="872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8912"/>
                </a:solidFill>
                <a:latin typeface="Malgun Gothic"/>
                <a:ea typeface="Malgun Gothic"/>
                <a:cs typeface="Malgun Gothic"/>
              </a:rPr>
              <a:t>ablation이 보는 것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3F8CB6-E5DD-4B81-97BA-B33FE538D95A}"/>
              </a:ext>
            </a:extLst>
          </p:cNvPr>
          <p:cNvSpPr>
            <a:spLocks noGrp="1"/>
          </p:cNvSpPr>
          <p:nvPr/>
        </p:nvSpPr>
        <p:spPr>
          <a:xfrm>
            <a:off x="1885950" y="5286375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특정 모듈을 켰을 때와 껐을 때를 비교합니다. 예: M3 boundary 있음/없음, M4 context 있음/없음, mock NER vs real NER.</a:t>
            </a:r>
          </a:p>
        </p:txBody>
      </p:sp>
    </p:spTree>
    <p:extLst>
      <p:ext uri="{BB962C8B-B14F-4D97-AF65-F5344CB8AC3E}">
        <p14:creationId xmlns:p14="http://schemas.microsoft.com/office/powerpoint/2010/main" val="1519990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72C61B-82B4-4E5C-9232-9E7B18BFD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7E0734-2EF2-4BB4-9D0C-3BB9FFF60D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3-marker">
            <a:extLst>
              <a:ext uri="{FF2B5EF4-FFF2-40B4-BE49-F238E27FC236}">
                <a16:creationId xmlns:a16="http://schemas.microsoft.com/office/drawing/2014/main" id="{EDCF0F81-23AD-4C0F-A807-4861AC11CEE4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76200" cy="76200"/>
          </a:xfrm>
          <a:prstGeom prst="rect">
            <a:avLst/>
          </a:prstGeom>
          <a:solidFill>
            <a:srgbClr val="D840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13-label">
            <a:extLst>
              <a:ext uri="{FF2B5EF4-FFF2-40B4-BE49-F238E27FC236}">
                <a16:creationId xmlns:a16="http://schemas.microsoft.com/office/drawing/2014/main" id="{8A0D1CDB-1869-4E1C-B8E3-3EB98AF8157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AFTER M10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3DDE54-EBC1-497F-ABED-055D56FA7543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평가 결과를 release 판단과 개선 우선순위로 바꿉니다.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2262D8-A7C3-4C49-A1F9-2EBF09CB1E1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M10은 끝이 아니라, 어떤 문제를 먼저 고칠지 결정하는 근거입니다.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2263EB-BE7B-4FDA-B29F-32FBBDCED366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8177"/>
                </a:solidFill>
                <a:latin typeface="Malgun Gothic"/>
                <a:ea typeface="Malgun Gothic"/>
                <a:cs typeface="Malgun Gothic"/>
              </a:rPr>
              <a:t>Korean PII Guardrail v0.2 | 13/14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3020A6-7205-466E-BF59-DC1505ADC3A2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CA3BA5-AFD2-45A1-954A-D660EF72C802}"/>
              </a:ext>
            </a:extLst>
          </p:cNvPr>
          <p:cNvSpPr>
            <a:spLocks noGrp="1"/>
          </p:cNvSpPr>
          <p:nvPr/>
        </p:nvSpPr>
        <p:spPr>
          <a:xfrm>
            <a:off x="1190625" y="2571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평가 리포트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B255A8-D314-4A7E-9938-A09626680172}"/>
              </a:ext>
            </a:extLst>
          </p:cNvPr>
          <p:cNvSpPr>
            <a:spLocks noGrp="1"/>
          </p:cNvSpPr>
          <p:nvPr/>
        </p:nvSpPr>
        <p:spPr>
          <a:xfrm>
            <a:off x="1171575" y="29337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precision / recall / failure cases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087738-B750-42CB-A886-CE3819D19B28}"/>
              </a:ext>
            </a:extLst>
          </p:cNvPr>
          <p:cNvSpPr>
            <a:spLocks noGrp="1"/>
          </p:cNvSpPr>
          <p:nvPr/>
        </p:nvSpPr>
        <p:spPr>
          <a:xfrm>
            <a:off x="3190875" y="27241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32F01C-5252-432A-B999-5230E0F878B0}"/>
              </a:ext>
            </a:extLst>
          </p:cNvPr>
          <p:cNvSpPr>
            <a:spLocks noGrp="1"/>
          </p:cNvSpPr>
          <p:nvPr/>
        </p:nvSpPr>
        <p:spPr>
          <a:xfrm>
            <a:off x="3714750" y="238125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3B3B49-0616-40A3-8697-EED85F3440F9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실패 분류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B56CE8-4DEE-48DB-9902-310E57FE96A2}"/>
              </a:ext>
            </a:extLst>
          </p:cNvPr>
          <p:cNvSpPr>
            <a:spLocks noGrp="1"/>
          </p:cNvSpPr>
          <p:nvPr/>
        </p:nvSpPr>
        <p:spPr>
          <a:xfrm>
            <a:off x="3886200" y="29337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FP / FN / boundary / audit safety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62142A-4F12-4366-8A2E-14E008976650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1B5263-0A2C-4CCF-B062-7E90A7628A5B}"/>
              </a:ext>
            </a:extLst>
          </p:cNvPr>
          <p:cNvSpPr>
            <a:spLocks noGrp="1"/>
          </p:cNvSpPr>
          <p:nvPr/>
        </p:nvSpPr>
        <p:spPr>
          <a:xfrm>
            <a:off x="6429375" y="2381250"/>
            <a:ext cx="2095500" cy="1066800"/>
          </a:xfrm>
          <a:prstGeom prst="rect">
            <a:avLst/>
          </a:prstGeom>
          <a:solidFill>
            <a:srgbClr val="FDEAEA"/>
          </a:solidFill>
          <a:ln w="9525">
            <a:solidFill>
              <a:srgbClr val="D8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00AF2E-D1FF-4CC0-BDEC-C5F8160CBAFB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BCE692-D828-4D7D-99AD-532FCD219467}"/>
              </a:ext>
            </a:extLst>
          </p:cNvPr>
          <p:cNvSpPr>
            <a:spLocks noGrp="1"/>
          </p:cNvSpPr>
          <p:nvPr/>
        </p:nvSpPr>
        <p:spPr>
          <a:xfrm>
            <a:off x="6600825" y="29337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config / detector / context / policy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5A3DCE-0EB6-4456-A930-B9574CBC86E2}"/>
              </a:ext>
            </a:extLst>
          </p:cNvPr>
          <p:cNvSpPr>
            <a:spLocks noGrp="1"/>
          </p:cNvSpPr>
          <p:nvPr/>
        </p:nvSpPr>
        <p:spPr>
          <a:xfrm>
            <a:off x="8620125" y="27241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2A899B-8461-4562-B168-9B0937A29ED8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2906CDA-84D1-4376-87D9-374F1E1B740F}"/>
              </a:ext>
            </a:extLst>
          </p:cNvPr>
          <p:cNvSpPr>
            <a:spLocks noGrp="1"/>
          </p:cNvSpPr>
          <p:nvPr/>
        </p:nvSpPr>
        <p:spPr>
          <a:xfrm>
            <a:off x="9334500" y="2571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재평가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9F664CF-BA29-4B08-BA5D-82A27334165B}"/>
              </a:ext>
            </a:extLst>
          </p:cNvPr>
          <p:cNvSpPr>
            <a:spLocks noGrp="1"/>
          </p:cNvSpPr>
          <p:nvPr/>
        </p:nvSpPr>
        <p:spPr>
          <a:xfrm>
            <a:off x="9315450" y="29337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3"/>
                </a:solidFill>
                <a:latin typeface="Malgun Gothic"/>
                <a:ea typeface="Malgun Gothic"/>
                <a:cs typeface="Malgun Gothic"/>
              </a:rPr>
              <a:t>release gate 다시 확인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282F7A-0DEE-403E-9469-DB95722EF378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90678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EB4995-B9CF-4B63-9DC7-2B41F2E60989}"/>
              </a:ext>
            </a:extLst>
          </p:cNvPr>
          <p:cNvSpPr>
            <a:spLocks noGrp="1"/>
          </p:cNvSpPr>
          <p:nvPr/>
        </p:nvSpPr>
        <p:spPr>
          <a:xfrm>
            <a:off x="1733550" y="4333875"/>
            <a:ext cx="872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release blocker 예시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66C0A3-1C6C-4E7F-8F51-4539462E297A}"/>
              </a:ext>
            </a:extLst>
          </p:cNvPr>
          <p:cNvSpPr>
            <a:spLocks noGrp="1"/>
          </p:cNvSpPr>
          <p:nvPr/>
        </p:nvSpPr>
        <p:spPr>
          <a:xfrm>
            <a:off x="1885950" y="4619625"/>
            <a:ext cx="8286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고위험 개인정보를 놓침</a:t>
            </a:r>
          </a:p>
          <a:p>
            <a:pPr algn="l">
              <a:def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audit log에 raw PII가 남음</a:t>
            </a:r>
          </a:p>
          <a:p>
            <a:pPr algn="l">
              <a:def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마스킹 결과에 원문 PII가 남음</a:t>
            </a:r>
          </a:p>
          <a:p>
            <a:pPr algn="l">
              <a:def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4040"/>
                </a:solidFill>
                <a:latin typeface="Malgun Gothic"/>
                <a:ea typeface="Malgun Gothic"/>
                <a:cs typeface="Malgun Gothic"/>
              </a:rPr>
              <a:t>• API key 같은 secret 차단 실패</a:t>
            </a:r>
          </a:p>
        </p:txBody>
      </p:sp>
    </p:spTree>
    <p:extLst>
      <p:ext uri="{BB962C8B-B14F-4D97-AF65-F5344CB8AC3E}">
        <p14:creationId xmlns:p14="http://schemas.microsoft.com/office/powerpoint/2010/main" val="113230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B49D9AAB-C4A7-4625-AE67-02755E2294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95ADBD-F121-4E7B-9041-0C0E7649A13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FINAL SUMMARY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249397-DD53-45EB-92D8-360CE220116C}"/>
              </a:ext>
            </a:extLst>
          </p:cNvPr>
          <p:cNvSpPr>
            <a:spLocks noGrp="1"/>
          </p:cNvSpPr>
          <p:nvPr/>
        </p:nvSpPr>
        <p:spPr>
          <a:xfrm>
            <a:off x="590550" y="83820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가드레일은 네 가지 규칙만 지키면 전체 흐름이 보입니다.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F8E2DA-4155-4CD3-B297-9395909139C1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4762500" cy="12382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CC8937-821F-4458-B9D5-E95F4AE742BD}"/>
              </a:ext>
            </a:extLst>
          </p:cNvPr>
          <p:cNvSpPr>
            <a:spLocks noGrp="1"/>
          </p:cNvSpPr>
          <p:nvPr/>
        </p:nvSpPr>
        <p:spPr>
          <a:xfrm>
            <a:off x="1009650" y="24193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4F1108-467C-4A9C-BAC9-DA15C313E5E9}"/>
              </a:ext>
            </a:extLst>
          </p:cNvPr>
          <p:cNvSpPr>
            <a:spLocks noGrp="1"/>
          </p:cNvSpPr>
          <p:nvPr/>
        </p:nvSpPr>
        <p:spPr>
          <a:xfrm>
            <a:off x="1562100" y="24193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원문 위치를 지킨다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60B18A-54BF-497C-9213-D09EFE8CEC74}"/>
              </a:ext>
            </a:extLst>
          </p:cNvPr>
          <p:cNvSpPr>
            <a:spLocks noGrp="1"/>
          </p:cNvSpPr>
          <p:nvPr/>
        </p:nvSpPr>
        <p:spPr>
          <a:xfrm>
            <a:off x="1581150" y="2819400"/>
            <a:ext cx="3524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탐지는 variant에서 해도 최종 span은 raw text 기준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053696-01AF-48C9-8A0D-1536AE5471CE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4762500" cy="12382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96EF01-5DB9-46EF-BAF3-83288BA6D901}"/>
              </a:ext>
            </a:extLst>
          </p:cNvPr>
          <p:cNvSpPr>
            <a:spLocks noGrp="1"/>
          </p:cNvSpPr>
          <p:nvPr/>
        </p:nvSpPr>
        <p:spPr>
          <a:xfrm>
            <a:off x="6515100" y="24193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D92AD9-3B28-4F96-AB88-4B2CC7F3AAE1}"/>
              </a:ext>
            </a:extLst>
          </p:cNvPr>
          <p:cNvSpPr>
            <a:spLocks noGrp="1"/>
          </p:cNvSpPr>
          <p:nvPr/>
        </p:nvSpPr>
        <p:spPr>
          <a:xfrm>
            <a:off x="7067550" y="24193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detector는 후보만 낸다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8B897D-F515-48F5-A096-EC8276ADB853}"/>
              </a:ext>
            </a:extLst>
          </p:cNvPr>
          <p:cNvSpPr>
            <a:spLocks noGrp="1"/>
          </p:cNvSpPr>
          <p:nvPr/>
        </p:nvSpPr>
        <p:spPr>
          <a:xfrm>
            <a:off x="7086600" y="2819400"/>
            <a:ext cx="3524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최종 action은 resolver와 policy가 결정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FB3C5C-1C9F-4AF4-AB30-5A0EB1845708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4762500" cy="12382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9BF9D7-C7FD-4751-8732-DC972A8C63D5}"/>
              </a:ext>
            </a:extLst>
          </p:cNvPr>
          <p:cNvSpPr>
            <a:spLocks noGrp="1"/>
          </p:cNvSpPr>
          <p:nvPr/>
        </p:nvSpPr>
        <p:spPr>
          <a:xfrm>
            <a:off x="1009650" y="43243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B3251A-6B29-4750-AEC1-0BFCD00A6936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suffix를 보존한다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DD63CB-C7E5-4B8F-BB58-1B69B0269E39}"/>
              </a:ext>
            </a:extLst>
          </p:cNvPr>
          <p:cNvSpPr>
            <a:spLocks noGrp="1"/>
          </p:cNvSpPr>
          <p:nvPr/>
        </p:nvSpPr>
        <p:spPr>
          <a:xfrm>
            <a:off x="1581150" y="4724400"/>
            <a:ext cx="3524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홍길동이 -&gt; [PERSON_1]이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0682FB-2D8D-47EB-82A0-4050D0BFCD74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4762500" cy="1238250"/>
          </a:xfrm>
          <a:prstGeom prst="rect">
            <a:avLst/>
          </a:prstGeom>
          <a:solidFill>
            <a:srgbClr val="22303E"/>
          </a:solidFill>
          <a:ln w="9525">
            <a:solidFill>
              <a:srgbClr val="3449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6FE685-5989-442A-A840-05BF7DFD4CD9}"/>
              </a:ext>
            </a:extLst>
          </p:cNvPr>
          <p:cNvSpPr>
            <a:spLocks noGrp="1"/>
          </p:cNvSpPr>
          <p:nvPr/>
        </p:nvSpPr>
        <p:spPr>
          <a:xfrm>
            <a:off x="6515100" y="43243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DB1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0CFBB5-30A0-4037-BED5-507BD3F2770C}"/>
              </a:ext>
            </a:extLst>
          </p:cNvPr>
          <p:cNvSpPr>
            <a:spLocks noGrp="1"/>
          </p:cNvSpPr>
          <p:nvPr/>
        </p:nvSpPr>
        <p:spPr>
          <a:xfrm>
            <a:off x="7067550" y="43243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raw PII를 기록하지 않는다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73C076-3BF2-4D38-9858-B5927365F6F2}"/>
              </a:ext>
            </a:extLst>
          </p:cNvPr>
          <p:cNvSpPr>
            <a:spLocks noGrp="1"/>
          </p:cNvSpPr>
          <p:nvPr/>
        </p:nvSpPr>
        <p:spPr>
          <a:xfrm>
            <a:off x="7086600" y="4724400"/>
            <a:ext cx="3524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DE6F2"/>
                </a:solidFill>
                <a:latin typeface="Malgun Gothic"/>
                <a:ea typeface="Malgun Gothic"/>
                <a:cs typeface="Malgun Gothic"/>
              </a:rPr>
              <a:t>public response와 audit log에는 원문 금지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7B3BCC-6513-4F14-8D18-2CD42200C642}"/>
              </a:ext>
            </a:extLst>
          </p:cNvPr>
          <p:cNvSpPr>
            <a:spLocks noGrp="1"/>
          </p:cNvSpPr>
          <p:nvPr/>
        </p:nvSpPr>
        <p:spPr>
          <a:xfrm>
            <a:off x="1676400" y="5962650"/>
            <a:ext cx="885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M1 준비 -&gt; M2~M6 후보 정리 -&gt; M7 처리 -&gt; M8 기록 -&gt; M9 실행 -&gt; M10 평가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497E11-ED91-49C4-B6A2-7185B98F5E8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1A0B2"/>
                </a:solidFill>
                <a:latin typeface="Malgun Gothic"/>
                <a:ea typeface="Malgun Gothic"/>
                <a:cs typeface="Malgun Gothic"/>
              </a:rPr>
              <a:t>Korean PII Guardrail v0.2 | 14/14</a:t>
            </a:r>
          </a:p>
        </p:txBody>
      </p:sp>
    </p:spTree>
    <p:extLst>
      <p:ext uri="{BB962C8B-B14F-4D97-AF65-F5344CB8AC3E}">
        <p14:creationId xmlns:p14="http://schemas.microsoft.com/office/powerpoint/2010/main" val="9424049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1378</Words>
  <Application>Microsoft Office PowerPoint</Application>
  <DocSecurity>0</DocSecurity>
  <PresentationFormat>와이드스크린</PresentationFormat>
  <Paragraphs>322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양유상</cp:lastModifiedBy>
  <cp:revision>1</cp:revision>
  <dcterms:created xsi:type="dcterms:W3CDTF">2026-05-22T09:44:43Z</dcterms:created>
  <dcterms:modified xsi:type="dcterms:W3CDTF">2026-05-22T09:57:38Z</dcterms:modified>
</cp:coreProperties>
</file>